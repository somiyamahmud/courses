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59" r:id="rId5"/>
    <p:sldMasterId id="2147483660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</p:sldIdLst>
  <p:sldSz cy="6858000" cx="9144000"/>
  <p:notesSz cx="7099300" cy="10234600"/>
  <p:embeddedFontLst>
    <p:embeddedFont>
      <p:font typeface="Corbel"/>
      <p:regular r:id="rId51"/>
      <p:bold r:id="rId52"/>
      <p:italic r:id="rId53"/>
      <p:boldItalic r:id="rId54"/>
    </p:embeddedFont>
    <p:embeddedFont>
      <p:font typeface="Oi"/>
      <p:regular r:id="rId55"/>
    </p:embeddedFont>
    <p:embeddedFont>
      <p:font typeface="Arial Black"/>
      <p:regular r:id="rId5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454AF034-AA6E-494D-B9A6-BFF0BF6C3BB1}">
  <a:tblStyle styleId="{454AF034-AA6E-494D-B9A6-BFF0BF6C3BB1}" styleName="Table_0">
    <a:wholeTbl>
      <a:tcTxStyle b="off" i="off">
        <a:font>
          <a:latin typeface="Arial"/>
          <a:ea typeface="Arial"/>
          <a:cs typeface="Arial"/>
        </a:font>
        <a:srgbClr val="000000"/>
      </a:tcTx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3.xml"/><Relationship Id="rId42" Type="http://schemas.openxmlformats.org/officeDocument/2006/relationships/slide" Target="slides/slide35.xml"/><Relationship Id="rId41" Type="http://schemas.openxmlformats.org/officeDocument/2006/relationships/slide" Target="slides/slide34.xml"/><Relationship Id="rId44" Type="http://schemas.openxmlformats.org/officeDocument/2006/relationships/slide" Target="slides/slide37.xml"/><Relationship Id="rId43" Type="http://schemas.openxmlformats.org/officeDocument/2006/relationships/slide" Target="slides/slide36.xml"/><Relationship Id="rId46" Type="http://schemas.openxmlformats.org/officeDocument/2006/relationships/slide" Target="slides/slide39.xml"/><Relationship Id="rId45" Type="http://schemas.openxmlformats.org/officeDocument/2006/relationships/slide" Target="slides/slide3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2.xml"/><Relationship Id="rId48" Type="http://schemas.openxmlformats.org/officeDocument/2006/relationships/slide" Target="slides/slide41.xml"/><Relationship Id="rId47" Type="http://schemas.openxmlformats.org/officeDocument/2006/relationships/slide" Target="slides/slide40.xml"/><Relationship Id="rId49" Type="http://schemas.openxmlformats.org/officeDocument/2006/relationships/slide" Target="slides/slide42.xml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31" Type="http://schemas.openxmlformats.org/officeDocument/2006/relationships/slide" Target="slides/slide24.xml"/><Relationship Id="rId30" Type="http://schemas.openxmlformats.org/officeDocument/2006/relationships/slide" Target="slides/slide23.xml"/><Relationship Id="rId33" Type="http://schemas.openxmlformats.org/officeDocument/2006/relationships/slide" Target="slides/slide26.xml"/><Relationship Id="rId32" Type="http://schemas.openxmlformats.org/officeDocument/2006/relationships/slide" Target="slides/slide25.xml"/><Relationship Id="rId35" Type="http://schemas.openxmlformats.org/officeDocument/2006/relationships/slide" Target="slides/slide28.xml"/><Relationship Id="rId34" Type="http://schemas.openxmlformats.org/officeDocument/2006/relationships/slide" Target="slides/slide27.xml"/><Relationship Id="rId37" Type="http://schemas.openxmlformats.org/officeDocument/2006/relationships/slide" Target="slides/slide30.xml"/><Relationship Id="rId36" Type="http://schemas.openxmlformats.org/officeDocument/2006/relationships/slide" Target="slides/slide29.xml"/><Relationship Id="rId39" Type="http://schemas.openxmlformats.org/officeDocument/2006/relationships/slide" Target="slides/slide32.xml"/><Relationship Id="rId38" Type="http://schemas.openxmlformats.org/officeDocument/2006/relationships/slide" Target="slides/slide31.xml"/><Relationship Id="rId20" Type="http://schemas.openxmlformats.org/officeDocument/2006/relationships/slide" Target="slides/slide13.xml"/><Relationship Id="rId22" Type="http://schemas.openxmlformats.org/officeDocument/2006/relationships/slide" Target="slides/slide15.xml"/><Relationship Id="rId21" Type="http://schemas.openxmlformats.org/officeDocument/2006/relationships/slide" Target="slides/slide14.xml"/><Relationship Id="rId24" Type="http://schemas.openxmlformats.org/officeDocument/2006/relationships/slide" Target="slides/slide17.xml"/><Relationship Id="rId23" Type="http://schemas.openxmlformats.org/officeDocument/2006/relationships/slide" Target="slides/slide16.xml"/><Relationship Id="rId26" Type="http://schemas.openxmlformats.org/officeDocument/2006/relationships/slide" Target="slides/slide19.xml"/><Relationship Id="rId25" Type="http://schemas.openxmlformats.org/officeDocument/2006/relationships/slide" Target="slides/slide18.xml"/><Relationship Id="rId28" Type="http://schemas.openxmlformats.org/officeDocument/2006/relationships/slide" Target="slides/slide21.xml"/><Relationship Id="rId27" Type="http://schemas.openxmlformats.org/officeDocument/2006/relationships/slide" Target="slides/slide20.xml"/><Relationship Id="rId29" Type="http://schemas.openxmlformats.org/officeDocument/2006/relationships/slide" Target="slides/slide22.xml"/><Relationship Id="rId51" Type="http://schemas.openxmlformats.org/officeDocument/2006/relationships/font" Target="fonts/Corbel-regular.fntdata"/><Relationship Id="rId50" Type="http://schemas.openxmlformats.org/officeDocument/2006/relationships/slide" Target="slides/slide43.xml"/><Relationship Id="rId53" Type="http://schemas.openxmlformats.org/officeDocument/2006/relationships/font" Target="fonts/Corbel-italic.fntdata"/><Relationship Id="rId52" Type="http://schemas.openxmlformats.org/officeDocument/2006/relationships/font" Target="fonts/Corbel-bold.fntdata"/><Relationship Id="rId11" Type="http://schemas.openxmlformats.org/officeDocument/2006/relationships/slide" Target="slides/slide4.xml"/><Relationship Id="rId55" Type="http://schemas.openxmlformats.org/officeDocument/2006/relationships/font" Target="fonts/Oi-regular.fntdata"/><Relationship Id="rId10" Type="http://schemas.openxmlformats.org/officeDocument/2006/relationships/slide" Target="slides/slide3.xml"/><Relationship Id="rId54" Type="http://schemas.openxmlformats.org/officeDocument/2006/relationships/font" Target="fonts/Corbel-boldItalic.fntdata"/><Relationship Id="rId13" Type="http://schemas.openxmlformats.org/officeDocument/2006/relationships/slide" Target="slides/slide6.xml"/><Relationship Id="rId12" Type="http://schemas.openxmlformats.org/officeDocument/2006/relationships/slide" Target="slides/slide5.xml"/><Relationship Id="rId56" Type="http://schemas.openxmlformats.org/officeDocument/2006/relationships/font" Target="fonts/ArialBlack-regular.fntdata"/><Relationship Id="rId15" Type="http://schemas.openxmlformats.org/officeDocument/2006/relationships/slide" Target="slides/slide8.xml"/><Relationship Id="rId14" Type="http://schemas.openxmlformats.org/officeDocument/2006/relationships/slide" Target="slides/slide7.xml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19" Type="http://schemas.openxmlformats.org/officeDocument/2006/relationships/slide" Target="slides/slide12.xml"/><Relationship Id="rId18" Type="http://schemas.openxmlformats.org/officeDocument/2006/relationships/slide" Target="slides/slide1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" name="Google Shape;81;p1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82;p1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4 — The Processor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" name="Google Shape;83;p1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" name="Google Shape;84;p1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5" name="Google Shape;85;p1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p2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p2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4 — The Processor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93;p2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p2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5" name="Google Shape;95;p2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p3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p3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4 — The Processor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p3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3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7" name="Google Shape;107;p3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4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Google Shape;114;p4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" name="Google Shape;115;p4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4 — The Processor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Google Shape;116;p4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p4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8" name="Google Shape;118;p4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5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" name="Google Shape;125;p5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p5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4 — The Processor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" name="Google Shape;127;p5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" name="Google Shape;128;p5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29" name="Google Shape;129;p5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6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" name="Google Shape;146;p6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" name="Google Shape;147;p6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4 — The Processor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" name="Google Shape;148;p6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p6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50" name="Google Shape;150;p6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7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" name="Google Shape;157;p7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" name="Google Shape;158;p7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4 — The Processor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" name="Google Shape;159;p7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" name="Google Shape;160;p7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61" name="Google Shape;161;p7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8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" name="Google Shape;169;p8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" name="Google Shape;170;p8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4 — The Processor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" name="Google Shape;171;p8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" name="Google Shape;172;p8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73" name="Google Shape;173;p8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9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3" name="Google Shape;243;p9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4" name="Google Shape;244;p9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4 — The Processor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5" name="Google Shape;245;p9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6" name="Google Shape;246;p9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47" name="Google Shape;247;p9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10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4" name="Google Shape;294;p10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5" name="Google Shape;295;p10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4 — The Processor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6" name="Google Shape;296;p10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7" name="Google Shape;297;p10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98" name="Google Shape;298;p10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11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3" name="Google Shape;353;p11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4" name="Google Shape;354;p11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4 — The Processor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5" name="Google Shape;355;p11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6" name="Google Shape;356;p11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57" name="Google Shape;357;p11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12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6" name="Google Shape;366;p12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7" name="Google Shape;367;p12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4 — The Processor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8" name="Google Shape;368;p12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9" name="Google Shape;369;p12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70" name="Google Shape;370;p12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p13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8" name="Google Shape;378;p13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9" name="Google Shape;379;p13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4 — The Processor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0" name="Google Shape;380;p13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1" name="Google Shape;381;p13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82" name="Google Shape;382;p13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p14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1" name="Google Shape;391;p14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2" name="Google Shape;392;p14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4 — The Processor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3" name="Google Shape;393;p14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4" name="Google Shape;394;p14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95" name="Google Shape;395;p14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p15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3" name="Google Shape;403;p15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4" name="Google Shape;404;p15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4 — The Processor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5" name="Google Shape;405;p15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6" name="Google Shape;406;p15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07" name="Google Shape;407;p15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3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p16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5" name="Google Shape;415;p16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6" name="Google Shape;416;p16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4 — The Processor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7" name="Google Shape;417;p16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8" name="Google Shape;418;p16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19" name="Google Shape;419;p16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4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p17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6" name="Google Shape;426;p17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7" name="Google Shape;427;p17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4 — The Processor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8" name="Google Shape;428;p17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9" name="Google Shape;429;p17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30" name="Google Shape;430;p17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7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p18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9" name="Google Shape;439;p18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0" name="Google Shape;440;p18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4 — The Processor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1" name="Google Shape;441;p18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2" name="Google Shape;442;p18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43" name="Google Shape;443;p18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8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p19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0" name="Google Shape;450;p19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1" name="Google Shape;451;p19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4 — The Processor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2" name="Google Shape;452;p19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3" name="Google Shape;453;p19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54" name="Google Shape;454;p19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9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p20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1" name="Google Shape;461;p20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2" name="Google Shape;462;p20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4 — The Processor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3" name="Google Shape;463;p20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4" name="Google Shape;464;p20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65" name="Google Shape;465;p20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0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p21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2" name="Google Shape;472;p21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3" name="Google Shape;473;p21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4 — The Processor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4" name="Google Shape;474;p21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5" name="Google Shape;475;p21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76" name="Google Shape;476;p21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3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Google Shape;484;p22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5" name="Google Shape;485;p22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6" name="Google Shape;486;p22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4 — The Processor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7" name="Google Shape;487;p22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8" name="Google Shape;488;p22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89" name="Google Shape;489;p22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5" name="Shape 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" name="Google Shape;496;p24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7" name="Google Shape;497;p24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8" name="Google Shape;498;p24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4 — The Processor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9" name="Google Shape;499;p24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0" name="Google Shape;500;p24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01" name="Google Shape;501;p24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6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Google Shape;507;p25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8" name="Google Shape;508;p25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9" name="Google Shape;509;p25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4 — The Processor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0" name="Google Shape;510;p25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1" name="Google Shape;511;p25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12" name="Google Shape;512;p25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7" name="Shape 5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" name="Google Shape;518;p26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9" name="Google Shape;519;p26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0" name="Google Shape;520;p26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4 — The Processor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1" name="Google Shape;521;p26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2" name="Google Shape;522;p26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23" name="Google Shape;523;p26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8" name="Shape 5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" name="Google Shape;529;p27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0" name="Google Shape;530;p27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1" name="Google Shape;531;p27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4 — The Processor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2" name="Google Shape;532;p27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3" name="Google Shape;533;p27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34" name="Google Shape;534;p27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9" name="Shape 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0" name="Google Shape;540;p28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1" name="Google Shape;541;p28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2" name="Google Shape;542;p28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4 — The Processor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3" name="Google Shape;543;p28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4" name="Google Shape;544;p28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45" name="Google Shape;545;p28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0" name="Shape 5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1" name="Google Shape;551;p29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2" name="Google Shape;552;p29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3" name="Google Shape;553;p29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4 — The Processor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4" name="Google Shape;554;p29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5" name="Google Shape;555;p29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56" name="Google Shape;556;p29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3" name="Shape 5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4" name="Google Shape;564;p30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5" name="Google Shape;565;p30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6" name="Google Shape;566;p30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4 — The Processor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7" name="Google Shape;567;p30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8" name="Google Shape;568;p30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69" name="Google Shape;569;p30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4" name="Shape 5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5" name="Google Shape;575;p31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6" name="Google Shape;576;p31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7" name="Google Shape;577;p31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4 — The Processor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8" name="Google Shape;578;p31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9" name="Google Shape;579;p31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80" name="Google Shape;580;p31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6" name="Shape 5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7" name="Google Shape;587;p32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8" name="Google Shape;588;p32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9" name="Google Shape;589;p32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4 — The Processor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0" name="Google Shape;590;p32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1" name="Google Shape;591;p32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92" name="Google Shape;592;p32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9" name="Shape 5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0" name="Google Shape;600;p34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1" name="Google Shape;601;p34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2" name="Google Shape;602;p34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4 — The Processor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3" name="Google Shape;603;p34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4" name="Google Shape;604;p34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05" name="Google Shape;605;p34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0" name="Shape 6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1" name="Google Shape;611;p35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2" name="Google Shape;612;p35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3" name="Google Shape;613;p35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4 — The Processor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4" name="Google Shape;614;p35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5" name="Google Shape;615;p35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16" name="Google Shape;616;p35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1" name="Shape 6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2" name="Google Shape;622;p36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3" name="Google Shape;623;p36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4" name="Google Shape;624;p36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4 — The Processor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5" name="Google Shape;625;p36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6" name="Google Shape;626;p36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27" name="Google Shape;627;p36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2" name="Shape 6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3" name="Google Shape;633;p37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4" name="Google Shape;634;p37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5" name="Google Shape;635;p37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4 — The Processor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6" name="Google Shape;636;p37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7" name="Google Shape;637;p37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38" name="Google Shape;638;p37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4" name="Shape 6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" name="Google Shape;645;p38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6" name="Google Shape;646;p38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7" name="Google Shape;647;p38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4 — The Processor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8" name="Google Shape;648;p38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9" name="Google Shape;649;p38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50" name="Google Shape;650;p38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6" name="Shape 6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7" name="Google Shape;657;p39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8" name="Google Shape;658;p39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9" name="Google Shape;659;p39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4 — The Processor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0" name="Google Shape;660;p39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1" name="Google Shape;661;p39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62" name="Google Shape;662;p39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8" name="Shape 6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9" name="Google Shape;669;p40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0" name="Google Shape;670;p40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1" name="Google Shape;671;p40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4 — The Processor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2" name="Google Shape;672;p40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3" name="Google Shape;673;p40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74" name="Google Shape;674;p40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8" name="Shape 6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9" name="Google Shape;699;p42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0" name="Google Shape;700;p42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1" name="Google Shape;701;p42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4 — The Processor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2" name="Google Shape;702;p42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3" name="Google Shape;703;p42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04" name="Google Shape;704;p42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0" name="Shape 7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1" name="Google Shape;711;p46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2" name="Google Shape;712;p46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3" name="Google Shape;713;p46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4 — The Processor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4" name="Google Shape;714;p46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5" name="Google Shape;715;p46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16" name="Google Shape;716;p46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5" name="Shape 7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6" name="Google Shape;726;p47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7" name="Google Shape;727;p47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8" name="Google Shape;728;p47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4 — The Processor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9" name="Google Shape;729;p47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0" name="Google Shape;730;p47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31" name="Google Shape;731;p47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7" name="Shape 7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8" name="Google Shape;738;p48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9" name="Google Shape;739;p48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0" name="Google Shape;740;p48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4 — The Processor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1" name="Google Shape;741;p48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2" name="Google Shape;742;p48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43" name="Google Shape;743;p48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8" name="Shape 7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9" name="Google Shape;749;g3009725044c_1_0:notes"/>
          <p:cNvSpPr txBox="1"/>
          <p:nvPr/>
        </p:nvSpPr>
        <p:spPr>
          <a:xfrm>
            <a:off x="0" y="0"/>
            <a:ext cx="3076500" cy="51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0" name="Google Shape;750;g3009725044c_1_0:notes"/>
          <p:cNvSpPr txBox="1"/>
          <p:nvPr/>
        </p:nvSpPr>
        <p:spPr>
          <a:xfrm>
            <a:off x="4022725" y="0"/>
            <a:ext cx="3076500" cy="51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1" name="Google Shape;751;g3009725044c_1_0:notes"/>
          <p:cNvSpPr txBox="1"/>
          <p:nvPr/>
        </p:nvSpPr>
        <p:spPr>
          <a:xfrm>
            <a:off x="0" y="9723437"/>
            <a:ext cx="3076500" cy="511200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4 — The Processor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2" name="Google Shape;752;g3009725044c_1_0:notes"/>
          <p:cNvSpPr txBox="1"/>
          <p:nvPr/>
        </p:nvSpPr>
        <p:spPr>
          <a:xfrm>
            <a:off x="4022725" y="9723437"/>
            <a:ext cx="3076500" cy="511200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3" name="Google Shape;753;g3009725044c_1_0:notes"/>
          <p:cNvSpPr/>
          <p:nvPr>
            <p:ph idx="2" type="sldImg"/>
          </p:nvPr>
        </p:nvSpPr>
        <p:spPr>
          <a:xfrm>
            <a:off x="990600" y="768350"/>
            <a:ext cx="5118000" cy="3838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54" name="Google Shape;754;g3009725044c_1_0:notes"/>
          <p:cNvSpPr txBox="1"/>
          <p:nvPr>
            <p:ph idx="1" type="body"/>
          </p:nvPr>
        </p:nvSpPr>
        <p:spPr>
          <a:xfrm>
            <a:off x="946150" y="4862512"/>
            <a:ext cx="5207100" cy="460380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2"/>
          <p:cNvSpPr txBox="1"/>
          <p:nvPr>
            <p:ph type="ctrTitle"/>
          </p:nvPr>
        </p:nvSpPr>
        <p:spPr>
          <a:xfrm>
            <a:off x="2409825" y="1844675"/>
            <a:ext cx="5832475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Arial Black"/>
                <a:ea typeface="Arial Black"/>
                <a:cs typeface="Arial Black"/>
                <a:sym typeface="Arial Black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2"/>
          <p:cNvSpPr txBox="1"/>
          <p:nvPr>
            <p:ph idx="1" type="subTitle"/>
          </p:nvPr>
        </p:nvSpPr>
        <p:spPr>
          <a:xfrm>
            <a:off x="2409825" y="2924175"/>
            <a:ext cx="5832475" cy="5794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>
            <a:lvl1pPr lv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1920"/>
              <a:buFont typeface="Noto Sans Symbols"/>
              <a:buNone/>
              <a:defRPr>
                <a:latin typeface="Arial Black"/>
                <a:ea typeface="Arial Black"/>
                <a:cs typeface="Arial Black"/>
                <a:sym typeface="Arial Black"/>
              </a:defRPr>
            </a:lvl1pPr>
            <a:lvl2pPr lvl="1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90"/>
              <a:buChar char="■"/>
              <a:defRPr/>
            </a:lvl2pPr>
            <a:lvl3pPr lvl="2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3pPr>
            <a:lvl4pPr lvl="3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90"/>
              <a:buChar char="■"/>
              <a:defRPr/>
            </a:lvl4pPr>
            <a:lvl5pPr lvl="4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5pPr>
            <a:lvl6pPr lvl="5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6pPr>
            <a:lvl7pPr lvl="6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7pPr>
            <a:lvl8pPr lvl="7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8pPr>
            <a:lvl9pPr lvl="8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4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4"/>
          <p:cNvSpPr txBox="1"/>
          <p:nvPr>
            <p:ph idx="1" type="body"/>
          </p:nvPr>
        </p:nvSpPr>
        <p:spPr>
          <a:xfrm>
            <a:off x="684212" y="1125537"/>
            <a:ext cx="8270875" cy="5111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9718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1pPr>
            <a:lvl2pPr indent="-291465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90"/>
              <a:buChar char="■"/>
              <a:defRPr/>
            </a:lvl2pPr>
            <a:lvl3pPr indent="-28575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3pPr>
            <a:lvl4pPr indent="-291464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90"/>
              <a:buChar char="■"/>
              <a:defRPr/>
            </a:lvl4pPr>
            <a:lvl5pPr indent="-28575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5pPr>
            <a:lvl6pPr indent="-28575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7pPr>
            <a:lvl8pPr indent="-28575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8pPr>
            <a:lvl9pPr indent="-28575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39" name="Google Shape;39;p4"/>
          <p:cNvSpPr txBox="1"/>
          <p:nvPr>
            <p:ph idx="11" type="ftr"/>
          </p:nvPr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5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idx="11" type="ftr"/>
          </p:nvPr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6"/>
          <p:cNvSpPr txBox="1"/>
          <p:nvPr>
            <p:ph type="title"/>
          </p:nvPr>
        </p:nvSpPr>
        <p:spPr>
          <a:xfrm rot="5400000">
            <a:off x="4876007" y="2158206"/>
            <a:ext cx="6091238" cy="20669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6"/>
          <p:cNvSpPr txBox="1"/>
          <p:nvPr>
            <p:ph idx="1" type="body"/>
          </p:nvPr>
        </p:nvSpPr>
        <p:spPr>
          <a:xfrm rot="5400000">
            <a:off x="664369" y="165894"/>
            <a:ext cx="6091238" cy="6051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9718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1pPr>
            <a:lvl2pPr indent="-291465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90"/>
              <a:buChar char="■"/>
              <a:defRPr/>
            </a:lvl2pPr>
            <a:lvl3pPr indent="-28575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3pPr>
            <a:lvl4pPr indent="-291464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90"/>
              <a:buChar char="■"/>
              <a:defRPr/>
            </a:lvl4pPr>
            <a:lvl5pPr indent="-28575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5pPr>
            <a:lvl6pPr indent="-28575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7pPr>
            <a:lvl8pPr indent="-28575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8pPr>
            <a:lvl9pPr indent="-28575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46" name="Google Shape;46;p6"/>
          <p:cNvSpPr txBox="1"/>
          <p:nvPr>
            <p:ph idx="11" type="ftr"/>
          </p:nvPr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7"/>
          <p:cNvSpPr txBox="1"/>
          <p:nvPr>
            <p:ph idx="1" type="body"/>
          </p:nvPr>
        </p:nvSpPr>
        <p:spPr>
          <a:xfrm rot="5400000">
            <a:off x="2263774" y="-454025"/>
            <a:ext cx="5111750" cy="8270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9718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1pPr>
            <a:lvl2pPr indent="-291465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90"/>
              <a:buChar char="■"/>
              <a:defRPr/>
            </a:lvl2pPr>
            <a:lvl3pPr indent="-28575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3pPr>
            <a:lvl4pPr indent="-291464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90"/>
              <a:buChar char="■"/>
              <a:defRPr/>
            </a:lvl4pPr>
            <a:lvl5pPr indent="-28575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5pPr>
            <a:lvl6pPr indent="-28575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7pPr>
            <a:lvl8pPr indent="-28575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8pPr>
            <a:lvl9pPr indent="-28575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50" name="Google Shape;50;p7"/>
          <p:cNvSpPr txBox="1"/>
          <p:nvPr>
            <p:ph idx="11" type="ftr"/>
          </p:nvPr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8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54" name="Google Shape;54;p8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84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SzPts val="66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5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495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45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45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45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45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450"/>
              <a:buNone/>
              <a:defRPr sz="900"/>
            </a:lvl9pPr>
          </a:lstStyle>
          <a:p/>
        </p:txBody>
      </p:sp>
      <p:sp>
        <p:nvSpPr>
          <p:cNvPr id="55" name="Google Shape;55;p8"/>
          <p:cNvSpPr txBox="1"/>
          <p:nvPr>
            <p:ph idx="11" type="ftr"/>
          </p:nvPr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5052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1920"/>
              <a:buChar char="■"/>
              <a:defRPr sz="3200"/>
            </a:lvl1pPr>
            <a:lvl2pPr indent="-32639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1540"/>
              <a:buChar char="■"/>
              <a:defRPr sz="2800"/>
            </a:lvl2pPr>
            <a:lvl3pPr indent="-3048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200"/>
              <a:buChar char="■"/>
              <a:defRPr sz="2400"/>
            </a:lvl3pPr>
            <a:lvl4pPr indent="-29845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100"/>
              <a:buChar char="■"/>
              <a:defRPr sz="2000"/>
            </a:lvl4pPr>
            <a:lvl5pPr indent="-2921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000"/>
              <a:buChar char="■"/>
              <a:defRPr sz="2000"/>
            </a:lvl5pPr>
            <a:lvl6pPr indent="-2921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000"/>
              <a:buChar char="■"/>
              <a:defRPr sz="2000"/>
            </a:lvl6pPr>
            <a:lvl7pPr indent="-2921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000"/>
              <a:buChar char="■"/>
              <a:defRPr sz="2000"/>
            </a:lvl7pPr>
            <a:lvl8pPr indent="-2921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000"/>
              <a:buChar char="■"/>
              <a:defRPr sz="2000"/>
            </a:lvl8pPr>
            <a:lvl9pPr indent="-2921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000"/>
              <a:buChar char="■"/>
              <a:defRPr sz="2000"/>
            </a:lvl9pPr>
          </a:lstStyle>
          <a:p/>
        </p:txBody>
      </p:sp>
      <p:sp>
        <p:nvSpPr>
          <p:cNvPr id="59" name="Google Shape;59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84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SzPts val="66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5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495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45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45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45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45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450"/>
              <a:buNone/>
              <a:defRPr sz="900"/>
            </a:lvl9pPr>
          </a:lstStyle>
          <a:p/>
        </p:txBody>
      </p:sp>
      <p:sp>
        <p:nvSpPr>
          <p:cNvPr id="60" name="Google Shape;60;p9"/>
          <p:cNvSpPr txBox="1"/>
          <p:nvPr>
            <p:ph idx="11" type="ftr"/>
          </p:nvPr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idx="11" type="ftr"/>
          </p:nvPr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11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44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1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88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8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8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8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8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800"/>
              <a:buNone/>
              <a:defRPr b="1" sz="1600"/>
            </a:lvl9pPr>
          </a:lstStyle>
          <a:p/>
        </p:txBody>
      </p:sp>
      <p:sp>
        <p:nvSpPr>
          <p:cNvPr id="66" name="Google Shape;66;p11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2004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440"/>
              <a:buChar char="■"/>
              <a:defRPr sz="2400"/>
            </a:lvl1pPr>
            <a:lvl2pPr indent="-29845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100"/>
              <a:buChar char="■"/>
              <a:defRPr sz="2000"/>
            </a:lvl2pPr>
            <a:lvl3pPr indent="-28575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 sz="1800"/>
            </a:lvl3pPr>
            <a:lvl4pPr indent="-28448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880"/>
              <a:buChar char="■"/>
              <a:defRPr sz="1600"/>
            </a:lvl4pPr>
            <a:lvl5pPr indent="-2794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800"/>
              <a:buChar char="■"/>
              <a:defRPr sz="1600"/>
            </a:lvl5pPr>
            <a:lvl6pPr indent="-2794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800"/>
              <a:buChar char="■"/>
              <a:defRPr sz="1600"/>
            </a:lvl6pPr>
            <a:lvl7pPr indent="-2794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800"/>
              <a:buChar char="■"/>
              <a:defRPr sz="1600"/>
            </a:lvl7pPr>
            <a:lvl8pPr indent="-2794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800"/>
              <a:buChar char="■"/>
              <a:defRPr sz="1600"/>
            </a:lvl8pPr>
            <a:lvl9pPr indent="-2794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800"/>
              <a:buChar char="■"/>
              <a:defRPr sz="1600"/>
            </a:lvl9pPr>
          </a:lstStyle>
          <a:p/>
        </p:txBody>
      </p:sp>
      <p:sp>
        <p:nvSpPr>
          <p:cNvPr id="67" name="Google Shape;67;p11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44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1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88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8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8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8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8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800"/>
              <a:buNone/>
              <a:defRPr b="1" sz="1600"/>
            </a:lvl9pPr>
          </a:lstStyle>
          <a:p/>
        </p:txBody>
      </p:sp>
      <p:sp>
        <p:nvSpPr>
          <p:cNvPr id="68" name="Google Shape;68;p11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2004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440"/>
              <a:buChar char="■"/>
              <a:defRPr sz="2400"/>
            </a:lvl1pPr>
            <a:lvl2pPr indent="-29845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100"/>
              <a:buChar char="■"/>
              <a:defRPr sz="2000"/>
            </a:lvl2pPr>
            <a:lvl3pPr indent="-28575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 sz="1800"/>
            </a:lvl3pPr>
            <a:lvl4pPr indent="-28448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880"/>
              <a:buChar char="■"/>
              <a:defRPr sz="1600"/>
            </a:lvl4pPr>
            <a:lvl5pPr indent="-2794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800"/>
              <a:buChar char="■"/>
              <a:defRPr sz="1600"/>
            </a:lvl5pPr>
            <a:lvl6pPr indent="-2794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800"/>
              <a:buChar char="■"/>
              <a:defRPr sz="1600"/>
            </a:lvl6pPr>
            <a:lvl7pPr indent="-2794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800"/>
              <a:buChar char="■"/>
              <a:defRPr sz="1600"/>
            </a:lvl7pPr>
            <a:lvl8pPr indent="-2794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800"/>
              <a:buChar char="■"/>
              <a:defRPr sz="1600"/>
            </a:lvl8pPr>
            <a:lvl9pPr indent="-2794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800"/>
              <a:buChar char="■"/>
              <a:defRPr sz="1600"/>
            </a:lvl9pPr>
          </a:lstStyle>
          <a:p/>
        </p:txBody>
      </p:sp>
      <p:sp>
        <p:nvSpPr>
          <p:cNvPr id="69" name="Google Shape;69;p11"/>
          <p:cNvSpPr txBox="1"/>
          <p:nvPr>
            <p:ph idx="11" type="ftr"/>
          </p:nvPr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2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1" type="body"/>
          </p:nvPr>
        </p:nvSpPr>
        <p:spPr>
          <a:xfrm>
            <a:off x="684213" y="1125538"/>
            <a:ext cx="4059237" cy="5111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3528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1680"/>
              <a:buChar char="■"/>
              <a:defRPr sz="2800"/>
            </a:lvl1pPr>
            <a:lvl2pPr indent="-312419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320"/>
              <a:buChar char="■"/>
              <a:defRPr sz="2400"/>
            </a:lvl2pPr>
            <a:lvl3pPr indent="-2921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000"/>
              <a:buChar char="■"/>
              <a:defRPr sz="2000"/>
            </a:lvl3pPr>
            <a:lvl4pPr indent="-291464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90"/>
              <a:buChar char="■"/>
              <a:defRPr sz="1800"/>
            </a:lvl4pPr>
            <a:lvl5pPr indent="-28575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 sz="1800"/>
            </a:lvl5pPr>
            <a:lvl6pPr indent="-28575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 sz="1800"/>
            </a:lvl6pPr>
            <a:lvl7pPr indent="-28575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 sz="1800"/>
            </a:lvl7pPr>
            <a:lvl8pPr indent="-28575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 sz="1800"/>
            </a:lvl8pPr>
            <a:lvl9pPr indent="-28575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 sz="1800"/>
            </a:lvl9pPr>
          </a:lstStyle>
          <a:p/>
        </p:txBody>
      </p:sp>
      <p:sp>
        <p:nvSpPr>
          <p:cNvPr id="73" name="Google Shape;73;p12"/>
          <p:cNvSpPr txBox="1"/>
          <p:nvPr>
            <p:ph idx="2" type="body"/>
          </p:nvPr>
        </p:nvSpPr>
        <p:spPr>
          <a:xfrm>
            <a:off x="4895850" y="1125538"/>
            <a:ext cx="4059238" cy="5111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3528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1680"/>
              <a:buChar char="■"/>
              <a:defRPr sz="2800"/>
            </a:lvl1pPr>
            <a:lvl2pPr indent="-312419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320"/>
              <a:buChar char="■"/>
              <a:defRPr sz="2400"/>
            </a:lvl2pPr>
            <a:lvl3pPr indent="-2921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000"/>
              <a:buChar char="■"/>
              <a:defRPr sz="2000"/>
            </a:lvl3pPr>
            <a:lvl4pPr indent="-291464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90"/>
              <a:buChar char="■"/>
              <a:defRPr sz="1800"/>
            </a:lvl4pPr>
            <a:lvl5pPr indent="-28575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 sz="1800"/>
            </a:lvl5pPr>
            <a:lvl6pPr indent="-28575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 sz="1800"/>
            </a:lvl6pPr>
            <a:lvl7pPr indent="-28575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 sz="1800"/>
            </a:lvl7pPr>
            <a:lvl8pPr indent="-28575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 sz="1800"/>
            </a:lvl8pPr>
            <a:lvl9pPr indent="-28575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 sz="1800"/>
            </a:lvl9pPr>
          </a:lstStyle>
          <a:p/>
        </p:txBody>
      </p:sp>
      <p:sp>
        <p:nvSpPr>
          <p:cNvPr id="74" name="Google Shape;74;p12"/>
          <p:cNvSpPr txBox="1"/>
          <p:nvPr>
            <p:ph idx="11" type="ftr"/>
          </p:nvPr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3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4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2000"/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90"/>
              <a:buNone/>
              <a:defRPr sz="1800"/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800"/>
              <a:buNone/>
              <a:defRPr sz="1600"/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770"/>
              <a:buNone/>
              <a:defRPr sz="1400"/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700"/>
              <a:buNone/>
              <a:defRPr sz="1400"/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700"/>
              <a:buNone/>
              <a:defRPr sz="1400"/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700"/>
              <a:buNone/>
              <a:defRPr sz="1400"/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700"/>
              <a:buNone/>
              <a:defRPr sz="1400"/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700"/>
              <a:buNone/>
              <a:defRPr sz="1400"/>
            </a:lvl9pPr>
          </a:lstStyle>
          <a:p/>
        </p:txBody>
      </p:sp>
      <p:sp>
        <p:nvSpPr>
          <p:cNvPr id="78" name="Google Shape;78;p13"/>
          <p:cNvSpPr txBox="1"/>
          <p:nvPr>
            <p:ph idx="11" type="ftr"/>
          </p:nvPr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.xml"/><Relationship Id="rId3" Type="http://schemas.openxmlformats.org/officeDocument/2006/relationships/theme" Target="../theme/theme2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image" Target="../media/image1.jpg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/>
        </p:nvSpPr>
        <p:spPr>
          <a:xfrm>
            <a:off x="1619250" y="1125537"/>
            <a:ext cx="28575" cy="5732462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" name="Google Shape;11;p1"/>
          <p:cNvSpPr txBox="1"/>
          <p:nvPr/>
        </p:nvSpPr>
        <p:spPr>
          <a:xfrm>
            <a:off x="1981200" y="1987550"/>
            <a:ext cx="36512" cy="3816350"/>
          </a:xfrm>
          <a:prstGeom prst="rect">
            <a:avLst/>
          </a:prstGeom>
          <a:gradFill>
            <a:gsLst>
              <a:gs pos="0">
                <a:schemeClr val="dk2"/>
              </a:gs>
              <a:gs pos="100000">
                <a:srgbClr val="FFFFFF"/>
              </a:gs>
            </a:gsLst>
            <a:lin ang="54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" name="Google Shape;12;p1"/>
          <p:cNvSpPr txBox="1"/>
          <p:nvPr/>
        </p:nvSpPr>
        <p:spPr>
          <a:xfrm>
            <a:off x="1763712" y="2708275"/>
            <a:ext cx="7380287" cy="73025"/>
          </a:xfrm>
          <a:prstGeom prst="rect">
            <a:avLst/>
          </a:prstGeom>
          <a:gradFill>
            <a:gsLst>
              <a:gs pos="0">
                <a:schemeClr val="dk2"/>
              </a:gs>
              <a:gs pos="100000">
                <a:srgbClr val="FFFFFF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" name="Google Shape;13;p1"/>
          <p:cNvSpPr txBox="1"/>
          <p:nvPr/>
        </p:nvSpPr>
        <p:spPr>
          <a:xfrm>
            <a:off x="0" y="0"/>
            <a:ext cx="9144000" cy="1125537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" name="Google Shape;14;p1"/>
          <p:cNvSpPr txBox="1"/>
          <p:nvPr/>
        </p:nvSpPr>
        <p:spPr>
          <a:xfrm>
            <a:off x="0" y="1125537"/>
            <a:ext cx="9144000" cy="1746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" name="Google Shape;15;p1"/>
          <p:cNvSpPr txBox="1"/>
          <p:nvPr/>
        </p:nvSpPr>
        <p:spPr>
          <a:xfrm>
            <a:off x="1619250" y="549275"/>
            <a:ext cx="28575" cy="576262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MK Logo (2).png" id="16" name="Google Shape;16;p1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250825" y="261937"/>
            <a:ext cx="1155700" cy="6477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7" name="Google Shape;17;p1"/>
          <p:cNvGrpSpPr/>
          <p:nvPr/>
        </p:nvGrpSpPr>
        <p:grpSpPr>
          <a:xfrm>
            <a:off x="1774825" y="104775"/>
            <a:ext cx="6084887" cy="868362"/>
            <a:chOff x="1774113" y="104757"/>
            <a:chExt cx="6084936" cy="868541"/>
          </a:xfrm>
        </p:grpSpPr>
        <p:sp>
          <p:nvSpPr>
            <p:cNvPr id="18" name="Google Shape;18;p1"/>
            <p:cNvSpPr txBox="1"/>
            <p:nvPr/>
          </p:nvSpPr>
          <p:spPr>
            <a:xfrm>
              <a:off x="1774113" y="104757"/>
              <a:ext cx="6084936" cy="55415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3000"/>
                <a:buFont typeface="Corbel"/>
                <a:buNone/>
              </a:pPr>
              <a:r>
                <a:rPr b="1" i="0" lang="en-US" sz="3000" u="none" cap="none" strike="noStrike">
                  <a:solidFill>
                    <a:schemeClr val="lt1"/>
                  </a:solidFill>
                  <a:latin typeface="Corbel"/>
                  <a:ea typeface="Corbel"/>
                  <a:cs typeface="Corbel"/>
                  <a:sym typeface="Corbel"/>
                </a:rPr>
                <a:t>COMPUTER ORGANIZATION AND DESIGN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" name="Google Shape;19;p1"/>
            <p:cNvSpPr txBox="1"/>
            <p:nvPr/>
          </p:nvSpPr>
          <p:spPr>
            <a:xfrm>
              <a:off x="2844096" y="573166"/>
              <a:ext cx="3957669" cy="4001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The Hardware/Software Interface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0" name="Google Shape;20;p1"/>
          <p:cNvGrpSpPr/>
          <p:nvPr/>
        </p:nvGrpSpPr>
        <p:grpSpPr>
          <a:xfrm>
            <a:off x="8004175" y="82550"/>
            <a:ext cx="935037" cy="935037"/>
            <a:chOff x="8004175" y="82550"/>
            <a:chExt cx="935038" cy="935038"/>
          </a:xfrm>
        </p:grpSpPr>
        <p:sp>
          <p:nvSpPr>
            <p:cNvPr id="21" name="Google Shape;21;p1"/>
            <p:cNvSpPr/>
            <p:nvPr/>
          </p:nvSpPr>
          <p:spPr>
            <a:xfrm>
              <a:off x="8004175" y="82550"/>
              <a:ext cx="935038" cy="935038"/>
            </a:xfrm>
            <a:prstGeom prst="star32">
              <a:avLst>
                <a:gd fmla="val 37500" name="adj"/>
              </a:avLst>
            </a:prstGeom>
            <a:solidFill>
              <a:srgbClr val="C00000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t/>
              </a:r>
              <a:endPara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" name="Google Shape;22;p1"/>
            <p:cNvSpPr txBox="1"/>
            <p:nvPr/>
          </p:nvSpPr>
          <p:spPr>
            <a:xfrm>
              <a:off x="8016875" y="293688"/>
              <a:ext cx="912813" cy="61436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Arial Black"/>
                <a:buNone/>
              </a:pPr>
              <a:r>
                <a:rPr b="0" i="0" lang="en-US" sz="1400" u="none" cap="none" strike="noStrike">
                  <a:solidFill>
                    <a:schemeClr val="lt1"/>
                  </a:solidFill>
                  <a:latin typeface="Arial Black"/>
                  <a:ea typeface="Arial Black"/>
                  <a:cs typeface="Arial Black"/>
                  <a:sym typeface="Arial Black"/>
                </a:rPr>
                <a:t>RISC-V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endParaRPr>
            </a:p>
          </p:txBody>
        </p:sp>
        <p:sp>
          <p:nvSpPr>
            <p:cNvPr id="23" name="Google Shape;23;p1"/>
            <p:cNvSpPr txBox="1"/>
            <p:nvPr/>
          </p:nvSpPr>
          <p:spPr>
            <a:xfrm>
              <a:off x="8112125" y="482600"/>
              <a:ext cx="731838" cy="3079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r>
                <a:rPr b="0" baseline="30000" i="0" lang="en-US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nd</a:t>
              </a:r>
              <a:r>
                <a:rPr b="0" i="0" lang="en-US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 ed.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4" name="Google Shape;24;p1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5" name="Google Shape;25;p1"/>
          <p:cNvSpPr txBox="1"/>
          <p:nvPr>
            <p:ph idx="1" type="body"/>
          </p:nvPr>
        </p:nvSpPr>
        <p:spPr>
          <a:xfrm>
            <a:off x="684212" y="1125537"/>
            <a:ext cx="8270875" cy="5111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5052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2639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048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1200"/>
              <a:buFont typeface="Noto Sans Symbols"/>
              <a:buChar char="■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21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21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21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21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21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3"/>
          <p:cNvSpPr txBox="1"/>
          <p:nvPr/>
        </p:nvSpPr>
        <p:spPr>
          <a:xfrm>
            <a:off x="468312" y="260350"/>
            <a:ext cx="36512" cy="3816350"/>
          </a:xfrm>
          <a:prstGeom prst="rect">
            <a:avLst/>
          </a:prstGeom>
          <a:gradFill>
            <a:gsLst>
              <a:gs pos="0">
                <a:schemeClr val="dk2"/>
              </a:gs>
              <a:gs pos="100000">
                <a:srgbClr val="FFFFFF"/>
              </a:gs>
            </a:gsLst>
            <a:lin ang="54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3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2" name="Google Shape;32;p3"/>
          <p:cNvSpPr txBox="1"/>
          <p:nvPr>
            <p:ph idx="1" type="body"/>
          </p:nvPr>
        </p:nvSpPr>
        <p:spPr>
          <a:xfrm>
            <a:off x="684212" y="1125537"/>
            <a:ext cx="8270875" cy="5111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5052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2639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048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1200"/>
              <a:buFont typeface="Noto Sans Symbols"/>
              <a:buChar char="■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21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21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21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21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21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3" name="Google Shape;33;p3"/>
          <p:cNvSpPr txBox="1"/>
          <p:nvPr>
            <p:ph idx="11" type="ftr"/>
          </p:nvPr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4" name="Google Shape;34;p3"/>
          <p:cNvSpPr txBox="1"/>
          <p:nvPr/>
        </p:nvSpPr>
        <p:spPr>
          <a:xfrm>
            <a:off x="250825" y="981075"/>
            <a:ext cx="8569325" cy="71437"/>
          </a:xfrm>
          <a:prstGeom prst="rect">
            <a:avLst/>
          </a:prstGeom>
          <a:gradFill>
            <a:gsLst>
              <a:gs pos="0">
                <a:schemeClr val="dk2"/>
              </a:gs>
              <a:gs pos="100000">
                <a:srgbClr val="FFFFFF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MK Logo.jpg" id="35" name="Google Shape;35;p3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0" y="6270625"/>
            <a:ext cx="1619250" cy="590550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0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0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9.png"/><Relationship Id="rId4" Type="http://schemas.openxmlformats.org/officeDocument/2006/relationships/image" Target="../media/image2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8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1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6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4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3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2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3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5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5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4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6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14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18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7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25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17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10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21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4"/>
          <p:cNvSpPr txBox="1"/>
          <p:nvPr>
            <p:ph type="ctrTitle"/>
          </p:nvPr>
        </p:nvSpPr>
        <p:spPr>
          <a:xfrm>
            <a:off x="2409825" y="1844675"/>
            <a:ext cx="5832475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 Black"/>
              <a:buNone/>
            </a:pPr>
            <a:r>
              <a:rPr b="1" i="0" lang="en-US" sz="4400" u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Chapter 4</a:t>
            </a:r>
            <a:endParaRPr/>
          </a:p>
        </p:txBody>
      </p:sp>
      <p:sp>
        <p:nvSpPr>
          <p:cNvPr id="88" name="Google Shape;88;p14"/>
          <p:cNvSpPr txBox="1"/>
          <p:nvPr>
            <p:ph idx="1" type="subTitle"/>
          </p:nvPr>
        </p:nvSpPr>
        <p:spPr>
          <a:xfrm>
            <a:off x="2409825" y="2924175"/>
            <a:ext cx="5832475" cy="5794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20"/>
              <a:buNone/>
            </a:pPr>
            <a:r>
              <a:rPr b="0" i="0" lang="en-US" sz="3200" u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The Processor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5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4 — The Processor — </a:t>
            </a:r>
            <a:fld id="{00000000-1234-1234-1234-123412341234}" type="slidenum"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" name="Google Shape;98;p15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Introduction</a:t>
            </a:r>
            <a:endParaRPr/>
          </a:p>
        </p:txBody>
      </p:sp>
      <p:sp>
        <p:nvSpPr>
          <p:cNvPr id="99" name="Google Shape;99;p15"/>
          <p:cNvSpPr txBox="1"/>
          <p:nvPr>
            <p:ph idx="1" type="body"/>
          </p:nvPr>
        </p:nvSpPr>
        <p:spPr>
          <a:xfrm>
            <a:off x="684212" y="1125537"/>
            <a:ext cx="8270875" cy="5111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CPU performance factors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Instruction count</a:t>
            </a:r>
            <a:endParaRPr/>
          </a:p>
          <a:p>
            <a:pPr indent="-228600" lvl="2" marL="11430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000"/>
              <a:buFont typeface="Noto Sans Symbols"/>
              <a:buChar char="■"/>
            </a:pP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Determined by ISA and compiler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CPI and Cycle time</a:t>
            </a:r>
            <a:endParaRPr/>
          </a:p>
          <a:p>
            <a:pPr indent="-228600" lvl="2" marL="11430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000"/>
              <a:buFont typeface="Noto Sans Symbols"/>
              <a:buChar char="■"/>
            </a:pP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Determined by CPU hardware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We will examine two RISC-V implementations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simplified version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more realistic pipelined version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Simple subset, shows most aspects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Memory reference: </a:t>
            </a:r>
            <a:r>
              <a:rPr i="0" lang="en-US" sz="2400" u="none">
                <a:solidFill>
                  <a:schemeClr val="dk1"/>
                </a:solidFill>
              </a:rPr>
              <a:t>ld, sd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Arithmetic/logical:</a:t>
            </a:r>
            <a:r>
              <a:rPr i="0" lang="en-US" sz="2400" u="none">
                <a:solidFill>
                  <a:schemeClr val="dk1"/>
                </a:solidFill>
              </a:rPr>
              <a:t> add, sub, and, or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Control transfer: </a:t>
            </a:r>
            <a:r>
              <a:rPr i="0" lang="en-US" sz="2400" u="none">
                <a:solidFill>
                  <a:schemeClr val="dk1"/>
                </a:solidFill>
              </a:rPr>
              <a:t>beq</a:t>
            </a:r>
            <a:endParaRPr/>
          </a:p>
        </p:txBody>
      </p:sp>
      <p:sp>
        <p:nvSpPr>
          <p:cNvPr id="100" name="Google Shape;100;p15"/>
          <p:cNvSpPr txBox="1"/>
          <p:nvPr/>
        </p:nvSpPr>
        <p:spPr>
          <a:xfrm rot="5400000">
            <a:off x="8017668" y="759618"/>
            <a:ext cx="1885950" cy="36671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folHlink"/>
                </a:solidFill>
                <a:latin typeface="Arial"/>
                <a:ea typeface="Arial"/>
                <a:cs typeface="Arial"/>
                <a:sym typeface="Arial"/>
              </a:rPr>
              <a:t>§4.1 Introduction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6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4 — The Processor — </a:t>
            </a:r>
            <a:fld id="{00000000-1234-1234-1234-123412341234}" type="slidenum"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" name="Google Shape;110;p16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Instruction Execution</a:t>
            </a:r>
            <a:endParaRPr/>
          </a:p>
        </p:txBody>
      </p:sp>
      <p:sp>
        <p:nvSpPr>
          <p:cNvPr id="111" name="Google Shape;111;p16"/>
          <p:cNvSpPr txBox="1"/>
          <p:nvPr>
            <p:ph idx="1" type="body"/>
          </p:nvPr>
        </p:nvSpPr>
        <p:spPr>
          <a:xfrm>
            <a:off x="684212" y="1125537"/>
            <a:ext cx="8270875" cy="5111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PC → instruction memory, fetch instruction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Register numbers → register file, read registers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Depending on instruction class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Use ALU to calculate</a:t>
            </a:r>
            <a:endParaRPr/>
          </a:p>
          <a:p>
            <a:pPr indent="-228600" lvl="2" marL="11430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000"/>
              <a:buFont typeface="Noto Sans Symbols"/>
              <a:buChar char="■"/>
            </a:pP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Arithmetic result</a:t>
            </a:r>
            <a:endParaRPr/>
          </a:p>
          <a:p>
            <a:pPr indent="-228600" lvl="2" marL="11430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000"/>
              <a:buFont typeface="Noto Sans Symbols"/>
              <a:buChar char="■"/>
            </a:pP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Memory address for load/store</a:t>
            </a:r>
            <a:endParaRPr/>
          </a:p>
          <a:p>
            <a:pPr indent="-228600" lvl="2" marL="11430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000"/>
              <a:buFont typeface="Noto Sans Symbols"/>
              <a:buChar char="■"/>
            </a:pP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Branch comparison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Access data memory for load/store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PC ← target address or PC + 4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7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4 — The Processor — </a:t>
            </a:r>
            <a:fld id="{00000000-1234-1234-1234-123412341234}" type="slidenum"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p17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CPU Overview</a:t>
            </a:r>
            <a:endParaRPr/>
          </a:p>
        </p:txBody>
      </p:sp>
      <p:pic>
        <p:nvPicPr>
          <p:cNvPr id="122" name="Google Shape;122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4212" y="1525587"/>
            <a:ext cx="8027987" cy="43513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8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4 — The Processor — </a:t>
            </a:r>
            <a:fld id="{00000000-1234-1234-1234-123412341234}" type="slidenum"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" name="Google Shape;132;p18"/>
          <p:cNvSpPr/>
          <p:nvPr/>
        </p:nvSpPr>
        <p:spPr>
          <a:xfrm>
            <a:off x="6191250" y="2995612"/>
            <a:ext cx="936625" cy="865187"/>
          </a:xfrm>
          <a:prstGeom prst="ellipse">
            <a:avLst/>
          </a:prstGeom>
          <a:noFill/>
          <a:ln cap="flat" cmpd="sng" w="1905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" name="Google Shape;133;p18"/>
          <p:cNvSpPr/>
          <p:nvPr/>
        </p:nvSpPr>
        <p:spPr>
          <a:xfrm>
            <a:off x="3122612" y="1195387"/>
            <a:ext cx="936625" cy="865187"/>
          </a:xfrm>
          <a:prstGeom prst="ellipse">
            <a:avLst/>
          </a:prstGeom>
          <a:noFill/>
          <a:ln cap="flat" cmpd="sng" w="1905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" name="Google Shape;134;p18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Multiplexers</a:t>
            </a:r>
            <a:endParaRPr/>
          </a:p>
        </p:txBody>
      </p:sp>
      <p:cxnSp>
        <p:nvCxnSpPr>
          <p:cNvPr id="135" name="Google Shape;135;p18"/>
          <p:cNvCxnSpPr/>
          <p:nvPr/>
        </p:nvCxnSpPr>
        <p:spPr>
          <a:xfrm rot="10800000">
            <a:off x="3338512" y="1484312"/>
            <a:ext cx="576262" cy="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36" name="Google Shape;136;p18"/>
          <p:cNvSpPr/>
          <p:nvPr/>
        </p:nvSpPr>
        <p:spPr>
          <a:xfrm>
            <a:off x="3338512" y="1700212"/>
            <a:ext cx="287337" cy="215900"/>
          </a:xfrm>
          <a:custGeom>
            <a:rect b="b" l="l" r="r" t="t"/>
            <a:pathLst>
              <a:path extrusionOk="0" fill="none" h="21600" w="2160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</a:path>
              <a:path extrusionOk="0" h="21600" w="2160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lnTo>
                  <a:pt x="0" y="21600"/>
                </a:lnTo>
                <a:lnTo>
                  <a:pt x="-1" y="0"/>
                </a:lnTo>
                <a:close/>
              </a:path>
            </a:pathLst>
          </a:cu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37" name="Google Shape;137;p18"/>
          <p:cNvCxnSpPr/>
          <p:nvPr/>
        </p:nvCxnSpPr>
        <p:spPr>
          <a:xfrm rot="10800000">
            <a:off x="6372225" y="3284537"/>
            <a:ext cx="576262" cy="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38" name="Google Shape;138;p18"/>
          <p:cNvSpPr/>
          <p:nvPr/>
        </p:nvSpPr>
        <p:spPr>
          <a:xfrm>
            <a:off x="6372225" y="3500437"/>
            <a:ext cx="287337" cy="215900"/>
          </a:xfrm>
          <a:custGeom>
            <a:rect b="b" l="l" r="r" t="t"/>
            <a:pathLst>
              <a:path extrusionOk="0" fill="none" h="21600" w="2160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</a:path>
              <a:path extrusionOk="0" h="21600" w="2160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lnTo>
                  <a:pt x="0" y="21600"/>
                </a:lnTo>
                <a:lnTo>
                  <a:pt x="-1" y="0"/>
                </a:lnTo>
                <a:close/>
              </a:path>
            </a:pathLst>
          </a:cu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" name="Google Shape;139;p18"/>
          <p:cNvSpPr/>
          <p:nvPr/>
        </p:nvSpPr>
        <p:spPr>
          <a:xfrm>
            <a:off x="5362575" y="4651375"/>
            <a:ext cx="936625" cy="865187"/>
          </a:xfrm>
          <a:prstGeom prst="ellipse">
            <a:avLst/>
          </a:prstGeom>
          <a:noFill/>
          <a:ln cap="flat" cmpd="sng" w="1905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40" name="Google Shape;140;p18"/>
          <p:cNvCxnSpPr/>
          <p:nvPr/>
        </p:nvCxnSpPr>
        <p:spPr>
          <a:xfrm>
            <a:off x="5651500" y="4867275"/>
            <a:ext cx="358775" cy="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41" name="Google Shape;141;p18"/>
          <p:cNvSpPr/>
          <p:nvPr/>
        </p:nvSpPr>
        <p:spPr>
          <a:xfrm flipH="1">
            <a:off x="5899150" y="5083175"/>
            <a:ext cx="144462" cy="288925"/>
          </a:xfrm>
          <a:custGeom>
            <a:rect b="b" l="l" r="r" t="t"/>
            <a:pathLst>
              <a:path extrusionOk="0" fill="none" h="21600" w="2160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</a:path>
              <a:path extrusionOk="0" h="21600" w="2160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lnTo>
                  <a:pt x="0" y="21600"/>
                </a:lnTo>
                <a:lnTo>
                  <a:pt x="-1" y="0"/>
                </a:lnTo>
                <a:close/>
              </a:path>
            </a:pathLst>
          </a:cu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p18"/>
          <p:cNvSpPr txBox="1"/>
          <p:nvPr/>
        </p:nvSpPr>
        <p:spPr>
          <a:xfrm>
            <a:off x="5508625" y="1196975"/>
            <a:ext cx="3527425" cy="1439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Noto Sans Symbols"/>
              <a:buChar char="■"/>
            </a:pP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Can’t just join wires together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1" marL="74295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Use multiplexers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3" name="Google Shape;143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4212" y="1525587"/>
            <a:ext cx="8027987" cy="43513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9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4 — The Processor — </a:t>
            </a:r>
            <a:fld id="{00000000-1234-1234-1234-123412341234}" type="slidenum"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" name="Google Shape;153;p19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Control</a:t>
            </a:r>
            <a:endParaRPr/>
          </a:p>
        </p:txBody>
      </p:sp>
      <p:pic>
        <p:nvPicPr>
          <p:cNvPr id="154" name="Google Shape;154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27087" y="1177925"/>
            <a:ext cx="6916737" cy="5203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20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4 — The Processor — </a:t>
            </a:r>
            <a:fld id="{00000000-1234-1234-1234-123412341234}" type="slidenum"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" name="Google Shape;164;p20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Logic Design Basics</a:t>
            </a:r>
            <a:endParaRPr/>
          </a:p>
        </p:txBody>
      </p:sp>
      <p:sp>
        <p:nvSpPr>
          <p:cNvPr id="165" name="Google Shape;165;p20"/>
          <p:cNvSpPr txBox="1"/>
          <p:nvPr/>
        </p:nvSpPr>
        <p:spPr>
          <a:xfrm rot="5400000">
            <a:off x="7287418" y="1489868"/>
            <a:ext cx="3346450" cy="36671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folHlink"/>
                </a:solidFill>
                <a:latin typeface="Arial"/>
                <a:ea typeface="Arial"/>
                <a:cs typeface="Arial"/>
                <a:sym typeface="Arial"/>
              </a:rPr>
              <a:t>§4.2 Logic Design Conventions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" name="Google Shape;166;p20"/>
          <p:cNvSpPr txBox="1"/>
          <p:nvPr>
            <p:ph idx="1" type="body"/>
          </p:nvPr>
        </p:nvSpPr>
        <p:spPr>
          <a:xfrm>
            <a:off x="684212" y="1125537"/>
            <a:ext cx="8270875" cy="5111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Information encoded in binary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Low voltage = 0, High voltage = 1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One wire per bit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Multi-bit data encoded on multi-wire buses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Combinational element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Operate on data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Output is a function of input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State (sequential) elements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Store information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21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4 — The Processor — </a:t>
            </a:r>
            <a:fld id="{00000000-1234-1234-1234-123412341234}" type="slidenum"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" name="Google Shape;176;p21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Combinational Elements</a:t>
            </a:r>
            <a:endParaRPr/>
          </a:p>
        </p:txBody>
      </p:sp>
      <p:sp>
        <p:nvSpPr>
          <p:cNvPr id="177" name="Google Shape;177;p21"/>
          <p:cNvSpPr txBox="1"/>
          <p:nvPr>
            <p:ph idx="1" type="body"/>
          </p:nvPr>
        </p:nvSpPr>
        <p:spPr>
          <a:xfrm>
            <a:off x="684212" y="1412875"/>
            <a:ext cx="3101975" cy="129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AND-gate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 = A &amp; B</a:t>
            </a:r>
            <a:endParaRPr/>
          </a:p>
        </p:txBody>
      </p:sp>
      <p:grpSp>
        <p:nvGrpSpPr>
          <p:cNvPr id="178" name="Google Shape;178;p21"/>
          <p:cNvGrpSpPr/>
          <p:nvPr/>
        </p:nvGrpSpPr>
        <p:grpSpPr>
          <a:xfrm>
            <a:off x="1258887" y="2641600"/>
            <a:ext cx="1560512" cy="655637"/>
            <a:chOff x="249" y="2299"/>
            <a:chExt cx="983" cy="413"/>
          </a:xfrm>
        </p:grpSpPr>
        <p:grpSp>
          <p:nvGrpSpPr>
            <p:cNvPr id="179" name="Google Shape;179;p21"/>
            <p:cNvGrpSpPr/>
            <p:nvPr/>
          </p:nvGrpSpPr>
          <p:grpSpPr>
            <a:xfrm>
              <a:off x="476" y="2387"/>
              <a:ext cx="544" cy="273"/>
              <a:chOff x="431" y="1888"/>
              <a:chExt cx="544" cy="273"/>
            </a:xfrm>
          </p:grpSpPr>
          <p:sp>
            <p:nvSpPr>
              <p:cNvPr id="180" name="Google Shape;180;p21"/>
              <p:cNvSpPr/>
              <p:nvPr/>
            </p:nvSpPr>
            <p:spPr>
              <a:xfrm>
                <a:off x="701" y="1889"/>
                <a:ext cx="139" cy="272"/>
              </a:xfrm>
              <a:custGeom>
                <a:rect b="b" l="l" r="r" t="t"/>
                <a:pathLst>
                  <a:path extrusionOk="0" fill="none" h="43200" w="22080">
                    <a:moveTo>
                      <a:pt x="479" y="0"/>
                    </a:moveTo>
                    <a:cubicBezTo>
                      <a:pt x="12409" y="0"/>
                      <a:pt x="22080" y="9670"/>
                      <a:pt x="22080" y="21600"/>
                    </a:cubicBezTo>
                    <a:cubicBezTo>
                      <a:pt x="22080" y="33529"/>
                      <a:pt x="12409" y="43200"/>
                      <a:pt x="480" y="43200"/>
                    </a:cubicBezTo>
                    <a:cubicBezTo>
                      <a:pt x="319" y="43200"/>
                      <a:pt x="159" y="43198"/>
                      <a:pt x="0" y="43194"/>
                    </a:cubicBezTo>
                  </a:path>
                  <a:path extrusionOk="0" h="43200" w="22080">
                    <a:moveTo>
                      <a:pt x="479" y="0"/>
                    </a:moveTo>
                    <a:cubicBezTo>
                      <a:pt x="12409" y="0"/>
                      <a:pt x="22080" y="9670"/>
                      <a:pt x="22080" y="21600"/>
                    </a:cubicBezTo>
                    <a:cubicBezTo>
                      <a:pt x="22080" y="33529"/>
                      <a:pt x="12409" y="43200"/>
                      <a:pt x="480" y="43200"/>
                    </a:cubicBezTo>
                    <a:cubicBezTo>
                      <a:pt x="319" y="43200"/>
                      <a:pt x="159" y="43198"/>
                      <a:pt x="0" y="43194"/>
                    </a:cubicBezTo>
                    <a:lnTo>
                      <a:pt x="480" y="21600"/>
                    </a:lnTo>
                    <a:lnTo>
                      <a:pt x="479" y="0"/>
                    </a:lnTo>
                    <a:close/>
                  </a:path>
                </a:pathLst>
              </a:cu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Arial"/>
                  <a:buNone/>
                </a:pPr>
                <a:r>
                  <a:t/>
                </a:r>
                <a:endParaRPr b="0" i="0" sz="16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181" name="Google Shape;181;p21"/>
              <p:cNvCxnSpPr/>
              <p:nvPr/>
            </p:nvCxnSpPr>
            <p:spPr>
              <a:xfrm>
                <a:off x="567" y="1888"/>
                <a:ext cx="136" cy="0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82" name="Google Shape;182;p21"/>
              <p:cNvCxnSpPr/>
              <p:nvPr/>
            </p:nvCxnSpPr>
            <p:spPr>
              <a:xfrm>
                <a:off x="567" y="1888"/>
                <a:ext cx="0" cy="272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83" name="Google Shape;183;p21"/>
              <p:cNvCxnSpPr/>
              <p:nvPr/>
            </p:nvCxnSpPr>
            <p:spPr>
              <a:xfrm>
                <a:off x="567" y="2160"/>
                <a:ext cx="136" cy="0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84" name="Google Shape;184;p21"/>
              <p:cNvCxnSpPr/>
              <p:nvPr/>
            </p:nvCxnSpPr>
            <p:spPr>
              <a:xfrm>
                <a:off x="431" y="1933"/>
                <a:ext cx="136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85" name="Google Shape;185;p21"/>
              <p:cNvCxnSpPr/>
              <p:nvPr/>
            </p:nvCxnSpPr>
            <p:spPr>
              <a:xfrm>
                <a:off x="431" y="2115"/>
                <a:ext cx="136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86" name="Google Shape;186;p21"/>
              <p:cNvCxnSpPr/>
              <p:nvPr/>
            </p:nvCxnSpPr>
            <p:spPr>
              <a:xfrm>
                <a:off x="839" y="2024"/>
                <a:ext cx="136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  <p:sp>
          <p:nvSpPr>
            <p:cNvPr id="187" name="Google Shape;187;p21"/>
            <p:cNvSpPr txBox="1"/>
            <p:nvPr/>
          </p:nvSpPr>
          <p:spPr>
            <a:xfrm>
              <a:off x="249" y="2299"/>
              <a:ext cx="212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A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8" name="Google Shape;188;p21"/>
            <p:cNvSpPr txBox="1"/>
            <p:nvPr/>
          </p:nvSpPr>
          <p:spPr>
            <a:xfrm>
              <a:off x="249" y="2481"/>
              <a:ext cx="212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B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9" name="Google Shape;189;p21"/>
            <p:cNvSpPr txBox="1"/>
            <p:nvPr/>
          </p:nvSpPr>
          <p:spPr>
            <a:xfrm>
              <a:off x="1020" y="2390"/>
              <a:ext cx="212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Y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90" name="Google Shape;190;p21"/>
          <p:cNvGrpSpPr/>
          <p:nvPr/>
        </p:nvGrpSpPr>
        <p:grpSpPr>
          <a:xfrm>
            <a:off x="1547812" y="4868862"/>
            <a:ext cx="1416050" cy="1308100"/>
            <a:chOff x="113" y="2840"/>
            <a:chExt cx="892" cy="824"/>
          </a:xfrm>
        </p:grpSpPr>
        <p:cxnSp>
          <p:nvCxnSpPr>
            <p:cNvPr id="191" name="Google Shape;191;p21"/>
            <p:cNvCxnSpPr/>
            <p:nvPr/>
          </p:nvCxnSpPr>
          <p:spPr>
            <a:xfrm>
              <a:off x="340" y="2976"/>
              <a:ext cx="136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cxnSp>
          <p:nvCxnSpPr>
            <p:cNvPr id="192" name="Google Shape;192;p21"/>
            <p:cNvCxnSpPr/>
            <p:nvPr/>
          </p:nvCxnSpPr>
          <p:spPr>
            <a:xfrm>
              <a:off x="340" y="3158"/>
              <a:ext cx="136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cxnSp>
          <p:nvCxnSpPr>
            <p:cNvPr id="193" name="Google Shape;193;p21"/>
            <p:cNvCxnSpPr/>
            <p:nvPr/>
          </p:nvCxnSpPr>
          <p:spPr>
            <a:xfrm>
              <a:off x="657" y="3067"/>
              <a:ext cx="136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sp>
          <p:nvSpPr>
            <p:cNvPr id="194" name="Google Shape;194;p21"/>
            <p:cNvSpPr txBox="1"/>
            <p:nvPr/>
          </p:nvSpPr>
          <p:spPr>
            <a:xfrm>
              <a:off x="113" y="2843"/>
              <a:ext cx="236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I0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5" name="Google Shape;195;p21"/>
            <p:cNvSpPr txBox="1"/>
            <p:nvPr/>
          </p:nvSpPr>
          <p:spPr>
            <a:xfrm>
              <a:off x="113" y="3025"/>
              <a:ext cx="236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I1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6" name="Google Shape;196;p21"/>
            <p:cNvSpPr txBox="1"/>
            <p:nvPr/>
          </p:nvSpPr>
          <p:spPr>
            <a:xfrm>
              <a:off x="793" y="2934"/>
              <a:ext cx="212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Y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97" name="Google Shape;197;p21"/>
            <p:cNvCxnSpPr/>
            <p:nvPr/>
          </p:nvCxnSpPr>
          <p:spPr>
            <a:xfrm>
              <a:off x="476" y="2931"/>
              <a:ext cx="0" cy="272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198" name="Google Shape;198;p21"/>
            <p:cNvSpPr/>
            <p:nvPr/>
          </p:nvSpPr>
          <p:spPr>
            <a:xfrm>
              <a:off x="567" y="2840"/>
              <a:ext cx="90" cy="90"/>
            </a:xfrm>
            <a:custGeom>
              <a:rect b="b" l="l" r="r" t="t"/>
              <a:pathLst>
                <a:path extrusionOk="0" fill="none" h="21600" w="2160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extrusionOk="0" h="21600" w="2160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t/>
              </a:r>
              <a:endPara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9" name="Google Shape;199;p21"/>
            <p:cNvSpPr/>
            <p:nvPr/>
          </p:nvSpPr>
          <p:spPr>
            <a:xfrm flipH="1">
              <a:off x="476" y="2840"/>
              <a:ext cx="90" cy="90"/>
            </a:xfrm>
            <a:custGeom>
              <a:rect b="b" l="l" r="r" t="t"/>
              <a:pathLst>
                <a:path extrusionOk="0" fill="none" h="21600" w="2160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extrusionOk="0" h="21600" w="2160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t/>
              </a:r>
              <a:endPara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0" name="Google Shape;200;p21"/>
            <p:cNvSpPr/>
            <p:nvPr/>
          </p:nvSpPr>
          <p:spPr>
            <a:xfrm flipH="1" rot="10800000">
              <a:off x="567" y="3203"/>
              <a:ext cx="90" cy="90"/>
            </a:xfrm>
            <a:custGeom>
              <a:rect b="b" l="l" r="r" t="t"/>
              <a:pathLst>
                <a:path extrusionOk="0" fill="none" h="21600" w="2160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extrusionOk="0" h="21600" w="2160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t/>
              </a:r>
              <a:endPara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1" name="Google Shape;201;p21"/>
            <p:cNvSpPr/>
            <p:nvPr/>
          </p:nvSpPr>
          <p:spPr>
            <a:xfrm rot="10800000">
              <a:off x="476" y="3203"/>
              <a:ext cx="90" cy="90"/>
            </a:xfrm>
            <a:custGeom>
              <a:rect b="b" l="l" r="r" t="t"/>
              <a:pathLst>
                <a:path extrusionOk="0" fill="none" h="21600" w="2160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extrusionOk="0" h="21600" w="2160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t/>
              </a:r>
              <a:endPara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02" name="Google Shape;202;p21"/>
            <p:cNvCxnSpPr/>
            <p:nvPr/>
          </p:nvCxnSpPr>
          <p:spPr>
            <a:xfrm>
              <a:off x="657" y="2931"/>
              <a:ext cx="0" cy="272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203" name="Google Shape;203;p21"/>
            <p:cNvSpPr txBox="1"/>
            <p:nvPr/>
          </p:nvSpPr>
          <p:spPr>
            <a:xfrm>
              <a:off x="476" y="2840"/>
              <a:ext cx="181" cy="4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360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M</a:t>
              </a:r>
              <a:br>
                <a:rPr b="0" i="0" lang="en-US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</a:br>
              <a:r>
                <a:rPr b="0" i="0" lang="en-US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u</a:t>
              </a:r>
              <a:br>
                <a:rPr b="0" i="0" lang="en-US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</a:br>
              <a:r>
                <a:rPr b="0" i="0" lang="en-US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x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04" name="Google Shape;204;p21"/>
            <p:cNvCxnSpPr/>
            <p:nvPr/>
          </p:nvCxnSpPr>
          <p:spPr>
            <a:xfrm rot="10800000">
              <a:off x="567" y="3294"/>
              <a:ext cx="0" cy="136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205" name="Google Shape;205;p21"/>
            <p:cNvSpPr txBox="1"/>
            <p:nvPr/>
          </p:nvSpPr>
          <p:spPr>
            <a:xfrm>
              <a:off x="461" y="3433"/>
              <a:ext cx="212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S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06" name="Google Shape;206;p21"/>
          <p:cNvSpPr txBox="1"/>
          <p:nvPr/>
        </p:nvSpPr>
        <p:spPr>
          <a:xfrm>
            <a:off x="684212" y="3644900"/>
            <a:ext cx="3240087" cy="129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Multiplexer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1" marL="74295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 = S ? I1 : I0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07" name="Google Shape;207;p21"/>
          <p:cNvGrpSpPr/>
          <p:nvPr/>
        </p:nvGrpSpPr>
        <p:grpSpPr>
          <a:xfrm>
            <a:off x="7092950" y="1484312"/>
            <a:ext cx="1604962" cy="1012825"/>
            <a:chOff x="1111" y="2659"/>
            <a:chExt cx="1011" cy="638"/>
          </a:xfrm>
        </p:grpSpPr>
        <p:cxnSp>
          <p:nvCxnSpPr>
            <p:cNvPr id="208" name="Google Shape;208;p21"/>
            <p:cNvCxnSpPr/>
            <p:nvPr/>
          </p:nvCxnSpPr>
          <p:spPr>
            <a:xfrm>
              <a:off x="1338" y="2795"/>
              <a:ext cx="136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cxnSp>
          <p:nvCxnSpPr>
            <p:cNvPr id="209" name="Google Shape;209;p21"/>
            <p:cNvCxnSpPr/>
            <p:nvPr/>
          </p:nvCxnSpPr>
          <p:spPr>
            <a:xfrm>
              <a:off x="1338" y="3158"/>
              <a:ext cx="136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cxnSp>
          <p:nvCxnSpPr>
            <p:cNvPr id="210" name="Google Shape;210;p21"/>
            <p:cNvCxnSpPr/>
            <p:nvPr/>
          </p:nvCxnSpPr>
          <p:spPr>
            <a:xfrm>
              <a:off x="1791" y="2976"/>
              <a:ext cx="136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sp>
          <p:nvSpPr>
            <p:cNvPr id="211" name="Google Shape;211;p21"/>
            <p:cNvSpPr txBox="1"/>
            <p:nvPr/>
          </p:nvSpPr>
          <p:spPr>
            <a:xfrm>
              <a:off x="1111" y="2662"/>
              <a:ext cx="212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A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2" name="Google Shape;212;p21"/>
            <p:cNvSpPr txBox="1"/>
            <p:nvPr/>
          </p:nvSpPr>
          <p:spPr>
            <a:xfrm>
              <a:off x="1111" y="3066"/>
              <a:ext cx="212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B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3" name="Google Shape;213;p21"/>
            <p:cNvSpPr txBox="1"/>
            <p:nvPr/>
          </p:nvSpPr>
          <p:spPr>
            <a:xfrm>
              <a:off x="1910" y="2843"/>
              <a:ext cx="212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Y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14" name="Google Shape;214;p21"/>
            <p:cNvCxnSpPr/>
            <p:nvPr/>
          </p:nvCxnSpPr>
          <p:spPr>
            <a:xfrm>
              <a:off x="1474" y="2659"/>
              <a:ext cx="0" cy="227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15" name="Google Shape;215;p21"/>
            <p:cNvCxnSpPr/>
            <p:nvPr/>
          </p:nvCxnSpPr>
          <p:spPr>
            <a:xfrm>
              <a:off x="1474" y="3067"/>
              <a:ext cx="0" cy="227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16" name="Google Shape;216;p21"/>
            <p:cNvCxnSpPr/>
            <p:nvPr/>
          </p:nvCxnSpPr>
          <p:spPr>
            <a:xfrm>
              <a:off x="1474" y="2886"/>
              <a:ext cx="91" cy="9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17" name="Google Shape;217;p21"/>
            <p:cNvCxnSpPr/>
            <p:nvPr/>
          </p:nvCxnSpPr>
          <p:spPr>
            <a:xfrm flipH="1">
              <a:off x="1474" y="2976"/>
              <a:ext cx="91" cy="92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18" name="Google Shape;218;p21"/>
            <p:cNvCxnSpPr/>
            <p:nvPr/>
          </p:nvCxnSpPr>
          <p:spPr>
            <a:xfrm>
              <a:off x="1474" y="2659"/>
              <a:ext cx="317" cy="181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19" name="Google Shape;219;p21"/>
            <p:cNvCxnSpPr/>
            <p:nvPr/>
          </p:nvCxnSpPr>
          <p:spPr>
            <a:xfrm flipH="1" rot="10800000">
              <a:off x="1474" y="3113"/>
              <a:ext cx="317" cy="181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20" name="Google Shape;220;p21"/>
            <p:cNvCxnSpPr/>
            <p:nvPr/>
          </p:nvCxnSpPr>
          <p:spPr>
            <a:xfrm>
              <a:off x="1791" y="2840"/>
              <a:ext cx="0" cy="273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221" name="Google Shape;221;p21"/>
            <p:cNvSpPr txBox="1"/>
            <p:nvPr/>
          </p:nvSpPr>
          <p:spPr>
            <a:xfrm>
              <a:off x="1620" y="2889"/>
              <a:ext cx="84" cy="17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+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22" name="Google Shape;222;p21"/>
          <p:cNvGrpSpPr/>
          <p:nvPr/>
        </p:nvGrpSpPr>
        <p:grpSpPr>
          <a:xfrm>
            <a:off x="5580062" y="4575175"/>
            <a:ext cx="1676400" cy="1595437"/>
            <a:chOff x="2699" y="2750"/>
            <a:chExt cx="1056" cy="1005"/>
          </a:xfrm>
        </p:grpSpPr>
        <p:cxnSp>
          <p:nvCxnSpPr>
            <p:cNvPr id="223" name="Google Shape;223;p21"/>
            <p:cNvCxnSpPr/>
            <p:nvPr/>
          </p:nvCxnSpPr>
          <p:spPr>
            <a:xfrm>
              <a:off x="2926" y="2886"/>
              <a:ext cx="136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cxnSp>
          <p:nvCxnSpPr>
            <p:cNvPr id="224" name="Google Shape;224;p21"/>
            <p:cNvCxnSpPr/>
            <p:nvPr/>
          </p:nvCxnSpPr>
          <p:spPr>
            <a:xfrm>
              <a:off x="2926" y="3339"/>
              <a:ext cx="136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cxnSp>
          <p:nvCxnSpPr>
            <p:cNvPr id="225" name="Google Shape;225;p21"/>
            <p:cNvCxnSpPr/>
            <p:nvPr/>
          </p:nvCxnSpPr>
          <p:spPr>
            <a:xfrm>
              <a:off x="3424" y="3113"/>
              <a:ext cx="136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sp>
          <p:nvSpPr>
            <p:cNvPr id="226" name="Google Shape;226;p21"/>
            <p:cNvSpPr txBox="1"/>
            <p:nvPr/>
          </p:nvSpPr>
          <p:spPr>
            <a:xfrm>
              <a:off x="2699" y="2753"/>
              <a:ext cx="212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A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7" name="Google Shape;227;p21"/>
            <p:cNvSpPr txBox="1"/>
            <p:nvPr/>
          </p:nvSpPr>
          <p:spPr>
            <a:xfrm>
              <a:off x="2699" y="3247"/>
              <a:ext cx="212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B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8" name="Google Shape;228;p21"/>
            <p:cNvSpPr txBox="1"/>
            <p:nvPr/>
          </p:nvSpPr>
          <p:spPr>
            <a:xfrm>
              <a:off x="3543" y="2979"/>
              <a:ext cx="212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Y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29" name="Google Shape;229;p21"/>
            <p:cNvCxnSpPr/>
            <p:nvPr/>
          </p:nvCxnSpPr>
          <p:spPr>
            <a:xfrm>
              <a:off x="3061" y="2750"/>
              <a:ext cx="1" cy="272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30" name="Google Shape;230;p21"/>
            <p:cNvCxnSpPr/>
            <p:nvPr/>
          </p:nvCxnSpPr>
          <p:spPr>
            <a:xfrm flipH="1">
              <a:off x="3061" y="3203"/>
              <a:ext cx="1" cy="272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31" name="Google Shape;231;p21"/>
            <p:cNvCxnSpPr/>
            <p:nvPr/>
          </p:nvCxnSpPr>
          <p:spPr>
            <a:xfrm>
              <a:off x="3062" y="3022"/>
              <a:ext cx="91" cy="9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32" name="Google Shape;232;p21"/>
            <p:cNvCxnSpPr/>
            <p:nvPr/>
          </p:nvCxnSpPr>
          <p:spPr>
            <a:xfrm flipH="1">
              <a:off x="3062" y="3112"/>
              <a:ext cx="91" cy="92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33" name="Google Shape;233;p21"/>
            <p:cNvCxnSpPr/>
            <p:nvPr/>
          </p:nvCxnSpPr>
          <p:spPr>
            <a:xfrm>
              <a:off x="3061" y="2750"/>
              <a:ext cx="363" cy="181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34" name="Google Shape;234;p21"/>
            <p:cNvCxnSpPr/>
            <p:nvPr/>
          </p:nvCxnSpPr>
          <p:spPr>
            <a:xfrm flipH="1" rot="10800000">
              <a:off x="3061" y="3294"/>
              <a:ext cx="363" cy="181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35" name="Google Shape;235;p21"/>
            <p:cNvCxnSpPr/>
            <p:nvPr/>
          </p:nvCxnSpPr>
          <p:spPr>
            <a:xfrm>
              <a:off x="3424" y="2931"/>
              <a:ext cx="0" cy="363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236" name="Google Shape;236;p21"/>
            <p:cNvSpPr txBox="1"/>
            <p:nvPr/>
          </p:nvSpPr>
          <p:spPr>
            <a:xfrm>
              <a:off x="3152" y="3025"/>
              <a:ext cx="280" cy="17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ALU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37" name="Google Shape;237;p21"/>
            <p:cNvCxnSpPr/>
            <p:nvPr/>
          </p:nvCxnSpPr>
          <p:spPr>
            <a:xfrm>
              <a:off x="3243" y="3385"/>
              <a:ext cx="0" cy="136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238" name="Google Shape;238;p21"/>
            <p:cNvSpPr txBox="1"/>
            <p:nvPr/>
          </p:nvSpPr>
          <p:spPr>
            <a:xfrm>
              <a:off x="3152" y="3524"/>
              <a:ext cx="204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F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39" name="Google Shape;239;p21"/>
          <p:cNvSpPr txBox="1"/>
          <p:nvPr/>
        </p:nvSpPr>
        <p:spPr>
          <a:xfrm>
            <a:off x="4211637" y="1412875"/>
            <a:ext cx="3101975" cy="129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Adder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1" marL="74295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 = A + B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0" name="Google Shape;240;p21"/>
          <p:cNvSpPr txBox="1"/>
          <p:nvPr/>
        </p:nvSpPr>
        <p:spPr>
          <a:xfrm>
            <a:off x="4211637" y="3284537"/>
            <a:ext cx="4319587" cy="129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Arithmetic/Logic Unit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1" marL="74295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 = F(A, B)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22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4 — The Processor — </a:t>
            </a:r>
            <a:fld id="{00000000-1234-1234-1234-123412341234}" type="slidenum"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0" name="Google Shape;250;p22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Sequential Elements</a:t>
            </a:r>
            <a:endParaRPr/>
          </a:p>
        </p:txBody>
      </p:sp>
      <p:sp>
        <p:nvSpPr>
          <p:cNvPr id="251" name="Google Shape;251;p22"/>
          <p:cNvSpPr txBox="1"/>
          <p:nvPr>
            <p:ph idx="1" type="body"/>
          </p:nvPr>
        </p:nvSpPr>
        <p:spPr>
          <a:xfrm>
            <a:off x="684212" y="1125537"/>
            <a:ext cx="8270875" cy="27654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Register: stores data in a circuit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Uses a clock signal to determine when to update the stored value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Edge-triggered: update when Clk changes from 0 to 1</a:t>
            </a:r>
            <a:endParaRPr/>
          </a:p>
        </p:txBody>
      </p:sp>
      <p:grpSp>
        <p:nvGrpSpPr>
          <p:cNvPr id="252" name="Google Shape;252;p22"/>
          <p:cNvGrpSpPr/>
          <p:nvPr/>
        </p:nvGrpSpPr>
        <p:grpSpPr>
          <a:xfrm>
            <a:off x="755650" y="4365625"/>
            <a:ext cx="2090737" cy="1223962"/>
            <a:chOff x="657" y="2296"/>
            <a:chExt cx="1317" cy="771"/>
          </a:xfrm>
        </p:grpSpPr>
        <p:sp>
          <p:nvSpPr>
            <p:cNvPr id="253" name="Google Shape;253;p22"/>
            <p:cNvSpPr txBox="1"/>
            <p:nvPr/>
          </p:nvSpPr>
          <p:spPr>
            <a:xfrm>
              <a:off x="1111" y="2296"/>
              <a:ext cx="499" cy="771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t/>
              </a:r>
              <a:endPara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54" name="Google Shape;254;p22"/>
            <p:cNvCxnSpPr/>
            <p:nvPr/>
          </p:nvCxnSpPr>
          <p:spPr>
            <a:xfrm>
              <a:off x="975" y="2478"/>
              <a:ext cx="136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cxnSp>
          <p:nvCxnSpPr>
            <p:cNvPr id="255" name="Google Shape;255;p22"/>
            <p:cNvCxnSpPr/>
            <p:nvPr/>
          </p:nvCxnSpPr>
          <p:spPr>
            <a:xfrm>
              <a:off x="975" y="2886"/>
              <a:ext cx="136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56" name="Google Shape;256;p22"/>
            <p:cNvCxnSpPr/>
            <p:nvPr/>
          </p:nvCxnSpPr>
          <p:spPr>
            <a:xfrm>
              <a:off x="1610" y="2478"/>
              <a:ext cx="136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sp>
          <p:nvSpPr>
            <p:cNvPr id="257" name="Google Shape;257;p22"/>
            <p:cNvSpPr txBox="1"/>
            <p:nvPr/>
          </p:nvSpPr>
          <p:spPr>
            <a:xfrm>
              <a:off x="748" y="2345"/>
              <a:ext cx="220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D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8" name="Google Shape;258;p22"/>
            <p:cNvSpPr txBox="1"/>
            <p:nvPr/>
          </p:nvSpPr>
          <p:spPr>
            <a:xfrm>
              <a:off x="657" y="2753"/>
              <a:ext cx="324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Clk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9" name="Google Shape;259;p22"/>
            <p:cNvSpPr txBox="1"/>
            <p:nvPr/>
          </p:nvSpPr>
          <p:spPr>
            <a:xfrm>
              <a:off x="1746" y="2345"/>
              <a:ext cx="228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Q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60" name="Google Shape;260;p22"/>
            <p:cNvCxnSpPr/>
            <p:nvPr/>
          </p:nvCxnSpPr>
          <p:spPr>
            <a:xfrm>
              <a:off x="1111" y="2840"/>
              <a:ext cx="91" cy="46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61" name="Google Shape;261;p22"/>
            <p:cNvCxnSpPr/>
            <p:nvPr/>
          </p:nvCxnSpPr>
          <p:spPr>
            <a:xfrm flipH="1" rot="10800000">
              <a:off x="1111" y="2886"/>
              <a:ext cx="91" cy="45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grpSp>
        <p:nvGrpSpPr>
          <p:cNvPr id="262" name="Google Shape;262;p22"/>
          <p:cNvGrpSpPr/>
          <p:nvPr/>
        </p:nvGrpSpPr>
        <p:grpSpPr>
          <a:xfrm>
            <a:off x="3419475" y="4005262"/>
            <a:ext cx="4775200" cy="1800225"/>
            <a:chOff x="2154" y="2523"/>
            <a:chExt cx="3008" cy="1134"/>
          </a:xfrm>
        </p:grpSpPr>
        <p:cxnSp>
          <p:nvCxnSpPr>
            <p:cNvPr id="263" name="Google Shape;263;p22"/>
            <p:cNvCxnSpPr/>
            <p:nvPr/>
          </p:nvCxnSpPr>
          <p:spPr>
            <a:xfrm>
              <a:off x="2712" y="2614"/>
              <a:ext cx="544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64" name="Google Shape;264;p22"/>
            <p:cNvCxnSpPr/>
            <p:nvPr/>
          </p:nvCxnSpPr>
          <p:spPr>
            <a:xfrm>
              <a:off x="2712" y="2614"/>
              <a:ext cx="0" cy="181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65" name="Google Shape;265;p22"/>
            <p:cNvCxnSpPr/>
            <p:nvPr/>
          </p:nvCxnSpPr>
          <p:spPr>
            <a:xfrm>
              <a:off x="3256" y="2614"/>
              <a:ext cx="0" cy="181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66" name="Google Shape;266;p22"/>
            <p:cNvCxnSpPr/>
            <p:nvPr/>
          </p:nvCxnSpPr>
          <p:spPr>
            <a:xfrm>
              <a:off x="3256" y="2795"/>
              <a:ext cx="544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67" name="Google Shape;267;p22"/>
            <p:cNvCxnSpPr/>
            <p:nvPr/>
          </p:nvCxnSpPr>
          <p:spPr>
            <a:xfrm>
              <a:off x="2531" y="2795"/>
              <a:ext cx="181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68" name="Google Shape;268;p22"/>
            <p:cNvCxnSpPr/>
            <p:nvPr/>
          </p:nvCxnSpPr>
          <p:spPr>
            <a:xfrm>
              <a:off x="3801" y="2614"/>
              <a:ext cx="544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69" name="Google Shape;269;p22"/>
            <p:cNvCxnSpPr/>
            <p:nvPr/>
          </p:nvCxnSpPr>
          <p:spPr>
            <a:xfrm>
              <a:off x="3801" y="2614"/>
              <a:ext cx="0" cy="181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70" name="Google Shape;270;p22"/>
            <p:cNvCxnSpPr/>
            <p:nvPr/>
          </p:nvCxnSpPr>
          <p:spPr>
            <a:xfrm>
              <a:off x="4345" y="2614"/>
              <a:ext cx="0" cy="181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71" name="Google Shape;271;p22"/>
            <p:cNvCxnSpPr/>
            <p:nvPr/>
          </p:nvCxnSpPr>
          <p:spPr>
            <a:xfrm>
              <a:off x="4345" y="2795"/>
              <a:ext cx="544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72" name="Google Shape;272;p22"/>
            <p:cNvCxnSpPr/>
            <p:nvPr/>
          </p:nvCxnSpPr>
          <p:spPr>
            <a:xfrm>
              <a:off x="4889" y="2614"/>
              <a:ext cx="0" cy="181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73" name="Google Shape;273;p22"/>
            <p:cNvCxnSpPr/>
            <p:nvPr/>
          </p:nvCxnSpPr>
          <p:spPr>
            <a:xfrm flipH="1" rot="10800000">
              <a:off x="4890" y="2613"/>
              <a:ext cx="227" cy="1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74" name="Google Shape;274;p22"/>
            <p:cNvCxnSpPr/>
            <p:nvPr/>
          </p:nvCxnSpPr>
          <p:spPr>
            <a:xfrm>
              <a:off x="2531" y="3657"/>
              <a:ext cx="2631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cxnSp>
          <p:nvCxnSpPr>
            <p:cNvPr id="275" name="Google Shape;275;p22"/>
            <p:cNvCxnSpPr/>
            <p:nvPr/>
          </p:nvCxnSpPr>
          <p:spPr>
            <a:xfrm rot="10800000">
              <a:off x="2531" y="2523"/>
              <a:ext cx="0" cy="113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276" name="Google Shape;276;p22"/>
            <p:cNvSpPr txBox="1"/>
            <p:nvPr/>
          </p:nvSpPr>
          <p:spPr>
            <a:xfrm>
              <a:off x="2154" y="2617"/>
              <a:ext cx="300" cy="2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Clk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7" name="Google Shape;277;p22"/>
            <p:cNvSpPr txBox="1"/>
            <p:nvPr/>
          </p:nvSpPr>
          <p:spPr>
            <a:xfrm>
              <a:off x="2154" y="2949"/>
              <a:ext cx="208" cy="2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D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8" name="Google Shape;278;p22"/>
            <p:cNvSpPr txBox="1"/>
            <p:nvPr/>
          </p:nvSpPr>
          <p:spPr>
            <a:xfrm>
              <a:off x="2154" y="3297"/>
              <a:ext cx="216" cy="2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Q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9" name="Google Shape;279;p22"/>
            <p:cNvSpPr/>
            <p:nvPr/>
          </p:nvSpPr>
          <p:spPr>
            <a:xfrm>
              <a:off x="2531" y="2976"/>
              <a:ext cx="635" cy="182"/>
            </a:xfrm>
            <a:custGeom>
              <a:rect b="b" l="l" r="r" t="t"/>
              <a:pathLst>
                <a:path extrusionOk="0" h="182" w="635">
                  <a:moveTo>
                    <a:pt x="0" y="0"/>
                  </a:moveTo>
                  <a:lnTo>
                    <a:pt x="590" y="0"/>
                  </a:lnTo>
                  <a:lnTo>
                    <a:pt x="635" y="91"/>
                  </a:lnTo>
                  <a:lnTo>
                    <a:pt x="590" y="182"/>
                  </a:lnTo>
                  <a:lnTo>
                    <a:pt x="0" y="182"/>
                  </a:lnTo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t/>
              </a:r>
              <a:endPara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0" name="Google Shape;280;p22"/>
            <p:cNvSpPr/>
            <p:nvPr/>
          </p:nvSpPr>
          <p:spPr>
            <a:xfrm>
              <a:off x="3166" y="2976"/>
              <a:ext cx="1089" cy="182"/>
            </a:xfrm>
            <a:custGeom>
              <a:rect b="b" l="l" r="r" t="t"/>
              <a:pathLst>
                <a:path extrusionOk="0" h="182" w="1089">
                  <a:moveTo>
                    <a:pt x="0" y="91"/>
                  </a:moveTo>
                  <a:lnTo>
                    <a:pt x="45" y="0"/>
                  </a:lnTo>
                  <a:lnTo>
                    <a:pt x="1043" y="0"/>
                  </a:lnTo>
                  <a:lnTo>
                    <a:pt x="1089" y="91"/>
                  </a:lnTo>
                  <a:lnTo>
                    <a:pt x="1043" y="182"/>
                  </a:lnTo>
                  <a:lnTo>
                    <a:pt x="45" y="182"/>
                  </a:lnTo>
                  <a:lnTo>
                    <a:pt x="0" y="91"/>
                  </a:ln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t/>
              </a:r>
              <a:endPara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1" name="Google Shape;281;p22"/>
            <p:cNvSpPr/>
            <p:nvPr/>
          </p:nvSpPr>
          <p:spPr>
            <a:xfrm>
              <a:off x="3892" y="3339"/>
              <a:ext cx="1089" cy="182"/>
            </a:xfrm>
            <a:custGeom>
              <a:rect b="b" l="l" r="r" t="t"/>
              <a:pathLst>
                <a:path extrusionOk="0" h="182" w="1089">
                  <a:moveTo>
                    <a:pt x="0" y="91"/>
                  </a:moveTo>
                  <a:lnTo>
                    <a:pt x="45" y="0"/>
                  </a:lnTo>
                  <a:lnTo>
                    <a:pt x="1043" y="0"/>
                  </a:lnTo>
                  <a:lnTo>
                    <a:pt x="1089" y="91"/>
                  </a:lnTo>
                  <a:lnTo>
                    <a:pt x="1043" y="182"/>
                  </a:lnTo>
                  <a:lnTo>
                    <a:pt x="45" y="182"/>
                  </a:lnTo>
                  <a:lnTo>
                    <a:pt x="0" y="91"/>
                  </a:lnTo>
                  <a:close/>
                </a:path>
              </a:pathLst>
            </a:custGeom>
            <a:solidFill>
              <a:schemeClr val="hlink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t/>
              </a:r>
              <a:endPara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2" name="Google Shape;282;p22"/>
            <p:cNvSpPr/>
            <p:nvPr/>
          </p:nvSpPr>
          <p:spPr>
            <a:xfrm>
              <a:off x="2803" y="3339"/>
              <a:ext cx="1089" cy="182"/>
            </a:xfrm>
            <a:custGeom>
              <a:rect b="b" l="l" r="r" t="t"/>
              <a:pathLst>
                <a:path extrusionOk="0" h="182" w="1089">
                  <a:moveTo>
                    <a:pt x="0" y="91"/>
                  </a:moveTo>
                  <a:lnTo>
                    <a:pt x="45" y="0"/>
                  </a:lnTo>
                  <a:lnTo>
                    <a:pt x="1043" y="0"/>
                  </a:lnTo>
                  <a:lnTo>
                    <a:pt x="1089" y="91"/>
                  </a:lnTo>
                  <a:lnTo>
                    <a:pt x="1043" y="182"/>
                  </a:lnTo>
                  <a:lnTo>
                    <a:pt x="45" y="182"/>
                  </a:lnTo>
                  <a:lnTo>
                    <a:pt x="0" y="91"/>
                  </a:lnTo>
                  <a:close/>
                </a:path>
              </a:pathLst>
            </a:custGeom>
            <a:solidFill>
              <a:schemeClr val="hlink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t/>
              </a:r>
              <a:endPara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3" name="Google Shape;283;p22"/>
            <p:cNvSpPr/>
            <p:nvPr/>
          </p:nvSpPr>
          <p:spPr>
            <a:xfrm>
              <a:off x="2531" y="3340"/>
              <a:ext cx="272" cy="181"/>
            </a:xfrm>
            <a:custGeom>
              <a:rect b="b" l="l" r="r" t="t"/>
              <a:pathLst>
                <a:path extrusionOk="0" h="181" w="272">
                  <a:moveTo>
                    <a:pt x="0" y="0"/>
                  </a:moveTo>
                  <a:lnTo>
                    <a:pt x="227" y="0"/>
                  </a:lnTo>
                  <a:lnTo>
                    <a:pt x="272" y="90"/>
                  </a:lnTo>
                  <a:lnTo>
                    <a:pt x="227" y="181"/>
                  </a:lnTo>
                  <a:lnTo>
                    <a:pt x="0" y="181"/>
                  </a:lnTo>
                </a:path>
              </a:pathLst>
            </a:custGeom>
            <a:solidFill>
              <a:schemeClr val="hlink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t/>
              </a:r>
              <a:endPara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4" name="Google Shape;284;p22"/>
            <p:cNvSpPr/>
            <p:nvPr/>
          </p:nvSpPr>
          <p:spPr>
            <a:xfrm>
              <a:off x="2712" y="3067"/>
              <a:ext cx="169" cy="270"/>
            </a:xfrm>
            <a:custGeom>
              <a:rect b="b" l="l" r="r" t="t"/>
              <a:pathLst>
                <a:path extrusionOk="0" h="270" w="169">
                  <a:moveTo>
                    <a:pt x="0" y="0"/>
                  </a:moveTo>
                  <a:cubicBezTo>
                    <a:pt x="7" y="32"/>
                    <a:pt x="22" y="164"/>
                    <a:pt x="45" y="190"/>
                  </a:cubicBezTo>
                  <a:cubicBezTo>
                    <a:pt x="68" y="216"/>
                    <a:pt x="116" y="145"/>
                    <a:pt x="137" y="158"/>
                  </a:cubicBezTo>
                  <a:cubicBezTo>
                    <a:pt x="158" y="171"/>
                    <a:pt x="162" y="247"/>
                    <a:pt x="169" y="270"/>
                  </a:cubicBezTo>
                </a:path>
              </a:pathLst>
            </a:custGeom>
            <a:noFill/>
            <a:ln cap="flat" cmpd="sng" w="952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t/>
              </a:r>
              <a:endPara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5" name="Google Shape;285;p22"/>
            <p:cNvSpPr/>
            <p:nvPr/>
          </p:nvSpPr>
          <p:spPr>
            <a:xfrm>
              <a:off x="3801" y="3067"/>
              <a:ext cx="169" cy="270"/>
            </a:xfrm>
            <a:custGeom>
              <a:rect b="b" l="l" r="r" t="t"/>
              <a:pathLst>
                <a:path extrusionOk="0" h="270" w="169">
                  <a:moveTo>
                    <a:pt x="0" y="0"/>
                  </a:moveTo>
                  <a:cubicBezTo>
                    <a:pt x="7" y="32"/>
                    <a:pt x="22" y="164"/>
                    <a:pt x="45" y="190"/>
                  </a:cubicBezTo>
                  <a:cubicBezTo>
                    <a:pt x="68" y="216"/>
                    <a:pt x="116" y="145"/>
                    <a:pt x="137" y="158"/>
                  </a:cubicBezTo>
                  <a:cubicBezTo>
                    <a:pt x="158" y="171"/>
                    <a:pt x="162" y="247"/>
                    <a:pt x="169" y="270"/>
                  </a:cubicBezTo>
                </a:path>
              </a:pathLst>
            </a:custGeom>
            <a:noFill/>
            <a:ln cap="flat" cmpd="sng" w="952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t/>
              </a:r>
              <a:endPara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6" name="Google Shape;286;p22"/>
            <p:cNvSpPr/>
            <p:nvPr/>
          </p:nvSpPr>
          <p:spPr>
            <a:xfrm>
              <a:off x="4980" y="3339"/>
              <a:ext cx="136" cy="182"/>
            </a:xfrm>
            <a:custGeom>
              <a:rect b="b" l="l" r="r" t="t"/>
              <a:pathLst>
                <a:path extrusionOk="0" h="182" w="136">
                  <a:moveTo>
                    <a:pt x="136" y="0"/>
                  </a:moveTo>
                  <a:lnTo>
                    <a:pt x="45" y="0"/>
                  </a:lnTo>
                  <a:lnTo>
                    <a:pt x="0" y="91"/>
                  </a:lnTo>
                  <a:lnTo>
                    <a:pt x="45" y="182"/>
                  </a:lnTo>
                  <a:lnTo>
                    <a:pt x="136" y="182"/>
                  </a:lnTo>
                </a:path>
              </a:pathLst>
            </a:custGeom>
            <a:solidFill>
              <a:schemeClr val="hlink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t/>
              </a:r>
              <a:endPara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7" name="Google Shape;287;p22"/>
            <p:cNvSpPr/>
            <p:nvPr/>
          </p:nvSpPr>
          <p:spPr>
            <a:xfrm>
              <a:off x="4255" y="2976"/>
              <a:ext cx="862" cy="182"/>
            </a:xfrm>
            <a:custGeom>
              <a:rect b="b" l="l" r="r" t="t"/>
              <a:pathLst>
                <a:path extrusionOk="0" h="182" w="862">
                  <a:moveTo>
                    <a:pt x="862" y="0"/>
                  </a:moveTo>
                  <a:lnTo>
                    <a:pt x="46" y="0"/>
                  </a:lnTo>
                  <a:lnTo>
                    <a:pt x="0" y="91"/>
                  </a:lnTo>
                  <a:lnTo>
                    <a:pt x="46" y="182"/>
                  </a:lnTo>
                  <a:lnTo>
                    <a:pt x="862" y="182"/>
                  </a:lnTo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t/>
              </a:r>
              <a:endPara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8" name="Google Shape;288;p22"/>
            <p:cNvSpPr/>
            <p:nvPr/>
          </p:nvSpPr>
          <p:spPr>
            <a:xfrm>
              <a:off x="4890" y="3067"/>
              <a:ext cx="169" cy="270"/>
            </a:xfrm>
            <a:custGeom>
              <a:rect b="b" l="l" r="r" t="t"/>
              <a:pathLst>
                <a:path extrusionOk="0" h="270" w="169">
                  <a:moveTo>
                    <a:pt x="0" y="0"/>
                  </a:moveTo>
                  <a:cubicBezTo>
                    <a:pt x="7" y="32"/>
                    <a:pt x="22" y="164"/>
                    <a:pt x="45" y="190"/>
                  </a:cubicBezTo>
                  <a:cubicBezTo>
                    <a:pt x="68" y="216"/>
                    <a:pt x="116" y="145"/>
                    <a:pt x="137" y="158"/>
                  </a:cubicBezTo>
                  <a:cubicBezTo>
                    <a:pt x="158" y="171"/>
                    <a:pt x="162" y="247"/>
                    <a:pt x="169" y="270"/>
                  </a:cubicBezTo>
                </a:path>
              </a:pathLst>
            </a:custGeom>
            <a:noFill/>
            <a:ln cap="flat" cmpd="sng" w="952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t/>
              </a:r>
              <a:endPara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89" name="Google Shape;289;p22"/>
            <p:cNvCxnSpPr/>
            <p:nvPr/>
          </p:nvCxnSpPr>
          <p:spPr>
            <a:xfrm>
              <a:off x="2712" y="2523"/>
              <a:ext cx="0" cy="113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90" name="Google Shape;290;p22"/>
            <p:cNvCxnSpPr/>
            <p:nvPr/>
          </p:nvCxnSpPr>
          <p:spPr>
            <a:xfrm>
              <a:off x="3801" y="2523"/>
              <a:ext cx="0" cy="113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91" name="Google Shape;291;p22"/>
            <p:cNvCxnSpPr/>
            <p:nvPr/>
          </p:nvCxnSpPr>
          <p:spPr>
            <a:xfrm>
              <a:off x="4889" y="2523"/>
              <a:ext cx="1" cy="113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23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4 — The Processor — </a:t>
            </a:r>
            <a:fld id="{00000000-1234-1234-1234-123412341234}" type="slidenum"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1" name="Google Shape;301;p23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Sequential Elements</a:t>
            </a:r>
            <a:endParaRPr/>
          </a:p>
        </p:txBody>
      </p:sp>
      <p:sp>
        <p:nvSpPr>
          <p:cNvPr id="302" name="Google Shape;302;p23"/>
          <p:cNvSpPr txBox="1"/>
          <p:nvPr>
            <p:ph idx="1" type="body"/>
          </p:nvPr>
        </p:nvSpPr>
        <p:spPr>
          <a:xfrm>
            <a:off x="684212" y="1125537"/>
            <a:ext cx="8270875" cy="23034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Register with write control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Only updates on clock edge when write control input is 1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Used when stored value is required later</a:t>
            </a:r>
            <a:endParaRPr/>
          </a:p>
        </p:txBody>
      </p:sp>
      <p:grpSp>
        <p:nvGrpSpPr>
          <p:cNvPr id="303" name="Google Shape;303;p23"/>
          <p:cNvGrpSpPr/>
          <p:nvPr/>
        </p:nvGrpSpPr>
        <p:grpSpPr>
          <a:xfrm>
            <a:off x="539750" y="4365625"/>
            <a:ext cx="2306637" cy="1223962"/>
            <a:chOff x="340" y="2750"/>
            <a:chExt cx="1453" cy="771"/>
          </a:xfrm>
        </p:grpSpPr>
        <p:sp>
          <p:nvSpPr>
            <p:cNvPr id="304" name="Google Shape;304;p23"/>
            <p:cNvSpPr txBox="1"/>
            <p:nvPr/>
          </p:nvSpPr>
          <p:spPr>
            <a:xfrm>
              <a:off x="930" y="2750"/>
              <a:ext cx="499" cy="771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t/>
              </a:r>
              <a:endPara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305" name="Google Shape;305;p23"/>
            <p:cNvCxnSpPr/>
            <p:nvPr/>
          </p:nvCxnSpPr>
          <p:spPr>
            <a:xfrm>
              <a:off x="794" y="2932"/>
              <a:ext cx="136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cxnSp>
          <p:nvCxnSpPr>
            <p:cNvPr id="306" name="Google Shape;306;p23"/>
            <p:cNvCxnSpPr/>
            <p:nvPr/>
          </p:nvCxnSpPr>
          <p:spPr>
            <a:xfrm>
              <a:off x="794" y="3340"/>
              <a:ext cx="136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07" name="Google Shape;307;p23"/>
            <p:cNvCxnSpPr/>
            <p:nvPr/>
          </p:nvCxnSpPr>
          <p:spPr>
            <a:xfrm>
              <a:off x="1429" y="2932"/>
              <a:ext cx="136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sp>
          <p:nvSpPr>
            <p:cNvPr id="308" name="Google Shape;308;p23"/>
            <p:cNvSpPr txBox="1"/>
            <p:nvPr/>
          </p:nvSpPr>
          <p:spPr>
            <a:xfrm>
              <a:off x="567" y="2799"/>
              <a:ext cx="220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D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9" name="Google Shape;309;p23"/>
            <p:cNvSpPr txBox="1"/>
            <p:nvPr/>
          </p:nvSpPr>
          <p:spPr>
            <a:xfrm>
              <a:off x="476" y="3207"/>
              <a:ext cx="324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Clk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0" name="Google Shape;310;p23"/>
            <p:cNvSpPr txBox="1"/>
            <p:nvPr/>
          </p:nvSpPr>
          <p:spPr>
            <a:xfrm>
              <a:off x="1565" y="2799"/>
              <a:ext cx="228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Q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311" name="Google Shape;311;p23"/>
            <p:cNvCxnSpPr/>
            <p:nvPr/>
          </p:nvCxnSpPr>
          <p:spPr>
            <a:xfrm>
              <a:off x="930" y="3294"/>
              <a:ext cx="91" cy="46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12" name="Google Shape;312;p23"/>
            <p:cNvCxnSpPr/>
            <p:nvPr/>
          </p:nvCxnSpPr>
          <p:spPr>
            <a:xfrm flipH="1" rot="10800000">
              <a:off x="930" y="3340"/>
              <a:ext cx="91" cy="45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13" name="Google Shape;313;p23"/>
            <p:cNvCxnSpPr/>
            <p:nvPr/>
          </p:nvCxnSpPr>
          <p:spPr>
            <a:xfrm>
              <a:off x="793" y="3154"/>
              <a:ext cx="136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sp>
          <p:nvSpPr>
            <p:cNvPr id="314" name="Google Shape;314;p23"/>
            <p:cNvSpPr txBox="1"/>
            <p:nvPr/>
          </p:nvSpPr>
          <p:spPr>
            <a:xfrm>
              <a:off x="340" y="3021"/>
              <a:ext cx="452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Write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15" name="Google Shape;315;p23"/>
          <p:cNvGrpSpPr/>
          <p:nvPr/>
        </p:nvGrpSpPr>
        <p:grpSpPr>
          <a:xfrm>
            <a:off x="3203575" y="3644900"/>
            <a:ext cx="4991100" cy="2376487"/>
            <a:chOff x="2004" y="2387"/>
            <a:chExt cx="3144" cy="1497"/>
          </a:xfrm>
        </p:grpSpPr>
        <p:cxnSp>
          <p:nvCxnSpPr>
            <p:cNvPr id="316" name="Google Shape;316;p23"/>
            <p:cNvCxnSpPr/>
            <p:nvPr/>
          </p:nvCxnSpPr>
          <p:spPr>
            <a:xfrm>
              <a:off x="2517" y="2840"/>
              <a:ext cx="817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17" name="Google Shape;317;p23"/>
            <p:cNvCxnSpPr/>
            <p:nvPr/>
          </p:nvCxnSpPr>
          <p:spPr>
            <a:xfrm>
              <a:off x="3334" y="2840"/>
              <a:ext cx="0" cy="181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18" name="Google Shape;318;p23"/>
            <p:cNvCxnSpPr/>
            <p:nvPr/>
          </p:nvCxnSpPr>
          <p:spPr>
            <a:xfrm>
              <a:off x="3334" y="3022"/>
              <a:ext cx="1224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19" name="Google Shape;319;p23"/>
            <p:cNvCxnSpPr/>
            <p:nvPr/>
          </p:nvCxnSpPr>
          <p:spPr>
            <a:xfrm>
              <a:off x="4558" y="2840"/>
              <a:ext cx="0" cy="181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20" name="Google Shape;320;p23"/>
            <p:cNvCxnSpPr/>
            <p:nvPr/>
          </p:nvCxnSpPr>
          <p:spPr>
            <a:xfrm>
              <a:off x="4558" y="2840"/>
              <a:ext cx="545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21" name="Google Shape;321;p23"/>
            <p:cNvCxnSpPr/>
            <p:nvPr/>
          </p:nvCxnSpPr>
          <p:spPr>
            <a:xfrm>
              <a:off x="2517" y="3884"/>
              <a:ext cx="2631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cxnSp>
          <p:nvCxnSpPr>
            <p:cNvPr id="322" name="Google Shape;322;p23"/>
            <p:cNvCxnSpPr/>
            <p:nvPr/>
          </p:nvCxnSpPr>
          <p:spPr>
            <a:xfrm rot="10800000">
              <a:off x="2503" y="2387"/>
              <a:ext cx="14" cy="1497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323" name="Google Shape;323;p23"/>
            <p:cNvSpPr txBox="1"/>
            <p:nvPr/>
          </p:nvSpPr>
          <p:spPr>
            <a:xfrm>
              <a:off x="2004" y="2844"/>
              <a:ext cx="415" cy="2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Write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4" name="Google Shape;324;p23"/>
            <p:cNvSpPr txBox="1"/>
            <p:nvPr/>
          </p:nvSpPr>
          <p:spPr>
            <a:xfrm>
              <a:off x="2140" y="3176"/>
              <a:ext cx="208" cy="2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D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5" name="Google Shape;325;p23"/>
            <p:cNvSpPr txBox="1"/>
            <p:nvPr/>
          </p:nvSpPr>
          <p:spPr>
            <a:xfrm>
              <a:off x="2140" y="3524"/>
              <a:ext cx="216" cy="2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Q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6" name="Google Shape;326;p23"/>
            <p:cNvSpPr/>
            <p:nvPr/>
          </p:nvSpPr>
          <p:spPr>
            <a:xfrm>
              <a:off x="2517" y="3203"/>
              <a:ext cx="635" cy="182"/>
            </a:xfrm>
            <a:custGeom>
              <a:rect b="b" l="l" r="r" t="t"/>
              <a:pathLst>
                <a:path extrusionOk="0" h="182" w="635">
                  <a:moveTo>
                    <a:pt x="0" y="0"/>
                  </a:moveTo>
                  <a:lnTo>
                    <a:pt x="590" y="0"/>
                  </a:lnTo>
                  <a:lnTo>
                    <a:pt x="635" y="91"/>
                  </a:lnTo>
                  <a:lnTo>
                    <a:pt x="590" y="182"/>
                  </a:lnTo>
                  <a:lnTo>
                    <a:pt x="0" y="182"/>
                  </a:lnTo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t/>
              </a:r>
              <a:endPara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7" name="Google Shape;327;p23"/>
            <p:cNvSpPr/>
            <p:nvPr/>
          </p:nvSpPr>
          <p:spPr>
            <a:xfrm>
              <a:off x="3152" y="3203"/>
              <a:ext cx="1089" cy="182"/>
            </a:xfrm>
            <a:custGeom>
              <a:rect b="b" l="l" r="r" t="t"/>
              <a:pathLst>
                <a:path extrusionOk="0" h="182" w="1089">
                  <a:moveTo>
                    <a:pt x="0" y="91"/>
                  </a:moveTo>
                  <a:lnTo>
                    <a:pt x="45" y="0"/>
                  </a:lnTo>
                  <a:lnTo>
                    <a:pt x="1043" y="0"/>
                  </a:lnTo>
                  <a:lnTo>
                    <a:pt x="1089" y="91"/>
                  </a:lnTo>
                  <a:lnTo>
                    <a:pt x="1043" y="182"/>
                  </a:lnTo>
                  <a:lnTo>
                    <a:pt x="45" y="182"/>
                  </a:lnTo>
                  <a:lnTo>
                    <a:pt x="0" y="91"/>
                  </a:ln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t/>
              </a:r>
              <a:endPara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8" name="Google Shape;328;p23"/>
            <p:cNvSpPr/>
            <p:nvPr/>
          </p:nvSpPr>
          <p:spPr>
            <a:xfrm>
              <a:off x="2517" y="3567"/>
              <a:ext cx="272" cy="181"/>
            </a:xfrm>
            <a:custGeom>
              <a:rect b="b" l="l" r="r" t="t"/>
              <a:pathLst>
                <a:path extrusionOk="0" h="181" w="272">
                  <a:moveTo>
                    <a:pt x="0" y="0"/>
                  </a:moveTo>
                  <a:lnTo>
                    <a:pt x="227" y="0"/>
                  </a:lnTo>
                  <a:lnTo>
                    <a:pt x="272" y="90"/>
                  </a:lnTo>
                  <a:lnTo>
                    <a:pt x="227" y="181"/>
                  </a:lnTo>
                  <a:lnTo>
                    <a:pt x="0" y="181"/>
                  </a:lnTo>
                </a:path>
              </a:pathLst>
            </a:custGeom>
            <a:solidFill>
              <a:schemeClr val="hlink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t/>
              </a:r>
              <a:endPara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9" name="Google Shape;329;p23"/>
            <p:cNvSpPr/>
            <p:nvPr/>
          </p:nvSpPr>
          <p:spPr>
            <a:xfrm>
              <a:off x="2698" y="3294"/>
              <a:ext cx="169" cy="270"/>
            </a:xfrm>
            <a:custGeom>
              <a:rect b="b" l="l" r="r" t="t"/>
              <a:pathLst>
                <a:path extrusionOk="0" h="270" w="169">
                  <a:moveTo>
                    <a:pt x="0" y="0"/>
                  </a:moveTo>
                  <a:cubicBezTo>
                    <a:pt x="7" y="32"/>
                    <a:pt x="22" y="164"/>
                    <a:pt x="45" y="190"/>
                  </a:cubicBezTo>
                  <a:cubicBezTo>
                    <a:pt x="68" y="216"/>
                    <a:pt x="116" y="145"/>
                    <a:pt x="137" y="158"/>
                  </a:cubicBezTo>
                  <a:cubicBezTo>
                    <a:pt x="158" y="171"/>
                    <a:pt x="162" y="247"/>
                    <a:pt x="169" y="270"/>
                  </a:cubicBezTo>
                </a:path>
              </a:pathLst>
            </a:custGeom>
            <a:noFill/>
            <a:ln cap="flat" cmpd="sng" w="1270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t/>
              </a:r>
              <a:endPara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0" name="Google Shape;330;p23"/>
            <p:cNvSpPr/>
            <p:nvPr/>
          </p:nvSpPr>
          <p:spPr>
            <a:xfrm>
              <a:off x="2699" y="2840"/>
              <a:ext cx="157" cy="688"/>
            </a:xfrm>
            <a:custGeom>
              <a:rect b="b" l="l" r="r" t="t"/>
              <a:pathLst>
                <a:path extrusionOk="0" h="688" w="157">
                  <a:moveTo>
                    <a:pt x="0" y="0"/>
                  </a:moveTo>
                  <a:cubicBezTo>
                    <a:pt x="7" y="32"/>
                    <a:pt x="22" y="164"/>
                    <a:pt x="45" y="190"/>
                  </a:cubicBezTo>
                  <a:cubicBezTo>
                    <a:pt x="68" y="216"/>
                    <a:pt x="118" y="75"/>
                    <a:pt x="137" y="158"/>
                  </a:cubicBezTo>
                  <a:cubicBezTo>
                    <a:pt x="156" y="241"/>
                    <a:pt x="153" y="578"/>
                    <a:pt x="157" y="688"/>
                  </a:cubicBezTo>
                </a:path>
              </a:pathLst>
            </a:custGeom>
            <a:noFill/>
            <a:ln cap="flat" cmpd="sng" w="1270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t/>
              </a:r>
              <a:endPara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1" name="Google Shape;331;p23"/>
            <p:cNvSpPr/>
            <p:nvPr/>
          </p:nvSpPr>
          <p:spPr>
            <a:xfrm>
              <a:off x="4966" y="3566"/>
              <a:ext cx="136" cy="182"/>
            </a:xfrm>
            <a:custGeom>
              <a:rect b="b" l="l" r="r" t="t"/>
              <a:pathLst>
                <a:path extrusionOk="0" h="182" w="136">
                  <a:moveTo>
                    <a:pt x="136" y="0"/>
                  </a:moveTo>
                  <a:lnTo>
                    <a:pt x="45" y="0"/>
                  </a:lnTo>
                  <a:lnTo>
                    <a:pt x="0" y="91"/>
                  </a:lnTo>
                  <a:lnTo>
                    <a:pt x="45" y="182"/>
                  </a:lnTo>
                  <a:lnTo>
                    <a:pt x="136" y="182"/>
                  </a:lnTo>
                </a:path>
              </a:pathLst>
            </a:custGeom>
            <a:solidFill>
              <a:schemeClr val="hlink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t/>
              </a:r>
              <a:endPara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2" name="Google Shape;332;p23"/>
            <p:cNvSpPr/>
            <p:nvPr/>
          </p:nvSpPr>
          <p:spPr>
            <a:xfrm>
              <a:off x="4241" y="3203"/>
              <a:ext cx="862" cy="182"/>
            </a:xfrm>
            <a:custGeom>
              <a:rect b="b" l="l" r="r" t="t"/>
              <a:pathLst>
                <a:path extrusionOk="0" h="182" w="862">
                  <a:moveTo>
                    <a:pt x="862" y="0"/>
                  </a:moveTo>
                  <a:lnTo>
                    <a:pt x="46" y="0"/>
                  </a:lnTo>
                  <a:lnTo>
                    <a:pt x="0" y="91"/>
                  </a:lnTo>
                  <a:lnTo>
                    <a:pt x="46" y="182"/>
                  </a:lnTo>
                  <a:lnTo>
                    <a:pt x="862" y="182"/>
                  </a:lnTo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t/>
              </a:r>
              <a:endPara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333" name="Google Shape;333;p23"/>
            <p:cNvCxnSpPr/>
            <p:nvPr/>
          </p:nvCxnSpPr>
          <p:spPr>
            <a:xfrm>
              <a:off x="2698" y="2478"/>
              <a:ext cx="544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34" name="Google Shape;334;p23"/>
            <p:cNvCxnSpPr/>
            <p:nvPr/>
          </p:nvCxnSpPr>
          <p:spPr>
            <a:xfrm>
              <a:off x="2698" y="2478"/>
              <a:ext cx="0" cy="181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35" name="Google Shape;335;p23"/>
            <p:cNvCxnSpPr/>
            <p:nvPr/>
          </p:nvCxnSpPr>
          <p:spPr>
            <a:xfrm>
              <a:off x="3242" y="2478"/>
              <a:ext cx="0" cy="181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36" name="Google Shape;336;p23"/>
            <p:cNvCxnSpPr/>
            <p:nvPr/>
          </p:nvCxnSpPr>
          <p:spPr>
            <a:xfrm>
              <a:off x="3242" y="2659"/>
              <a:ext cx="544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37" name="Google Shape;337;p23"/>
            <p:cNvCxnSpPr/>
            <p:nvPr/>
          </p:nvCxnSpPr>
          <p:spPr>
            <a:xfrm>
              <a:off x="2517" y="2659"/>
              <a:ext cx="181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38" name="Google Shape;338;p23"/>
            <p:cNvCxnSpPr/>
            <p:nvPr/>
          </p:nvCxnSpPr>
          <p:spPr>
            <a:xfrm>
              <a:off x="3787" y="2478"/>
              <a:ext cx="544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39" name="Google Shape;339;p23"/>
            <p:cNvCxnSpPr/>
            <p:nvPr/>
          </p:nvCxnSpPr>
          <p:spPr>
            <a:xfrm>
              <a:off x="3787" y="2478"/>
              <a:ext cx="0" cy="181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40" name="Google Shape;340;p23"/>
            <p:cNvCxnSpPr/>
            <p:nvPr/>
          </p:nvCxnSpPr>
          <p:spPr>
            <a:xfrm>
              <a:off x="4331" y="2478"/>
              <a:ext cx="0" cy="181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41" name="Google Shape;341;p23"/>
            <p:cNvCxnSpPr/>
            <p:nvPr/>
          </p:nvCxnSpPr>
          <p:spPr>
            <a:xfrm>
              <a:off x="4331" y="2659"/>
              <a:ext cx="544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42" name="Google Shape;342;p23"/>
            <p:cNvCxnSpPr/>
            <p:nvPr/>
          </p:nvCxnSpPr>
          <p:spPr>
            <a:xfrm>
              <a:off x="4875" y="2478"/>
              <a:ext cx="0" cy="181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43" name="Google Shape;343;p23"/>
            <p:cNvCxnSpPr/>
            <p:nvPr/>
          </p:nvCxnSpPr>
          <p:spPr>
            <a:xfrm flipH="1" rot="10800000">
              <a:off x="4876" y="2477"/>
              <a:ext cx="227" cy="1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344" name="Google Shape;344;p23"/>
            <p:cNvSpPr txBox="1"/>
            <p:nvPr/>
          </p:nvSpPr>
          <p:spPr>
            <a:xfrm>
              <a:off x="2140" y="2481"/>
              <a:ext cx="300" cy="2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Clk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5" name="Google Shape;345;p23"/>
            <p:cNvSpPr/>
            <p:nvPr/>
          </p:nvSpPr>
          <p:spPr>
            <a:xfrm>
              <a:off x="2789" y="3566"/>
              <a:ext cx="2178" cy="182"/>
            </a:xfrm>
            <a:custGeom>
              <a:rect b="b" l="l" r="r" t="t"/>
              <a:pathLst>
                <a:path extrusionOk="0" h="182" w="2178">
                  <a:moveTo>
                    <a:pt x="0" y="91"/>
                  </a:moveTo>
                  <a:lnTo>
                    <a:pt x="46" y="0"/>
                  </a:lnTo>
                  <a:lnTo>
                    <a:pt x="2132" y="0"/>
                  </a:lnTo>
                  <a:lnTo>
                    <a:pt x="2178" y="91"/>
                  </a:lnTo>
                  <a:lnTo>
                    <a:pt x="2132" y="182"/>
                  </a:lnTo>
                  <a:lnTo>
                    <a:pt x="46" y="182"/>
                  </a:lnTo>
                  <a:lnTo>
                    <a:pt x="0" y="91"/>
                  </a:lnTo>
                  <a:close/>
                </a:path>
              </a:pathLst>
            </a:custGeom>
            <a:solidFill>
              <a:schemeClr val="hlink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t/>
              </a:r>
              <a:endPara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6" name="Google Shape;346;p23"/>
            <p:cNvSpPr/>
            <p:nvPr/>
          </p:nvSpPr>
          <p:spPr>
            <a:xfrm>
              <a:off x="4875" y="3294"/>
              <a:ext cx="169" cy="270"/>
            </a:xfrm>
            <a:custGeom>
              <a:rect b="b" l="l" r="r" t="t"/>
              <a:pathLst>
                <a:path extrusionOk="0" h="270" w="169">
                  <a:moveTo>
                    <a:pt x="0" y="0"/>
                  </a:moveTo>
                  <a:cubicBezTo>
                    <a:pt x="7" y="32"/>
                    <a:pt x="22" y="164"/>
                    <a:pt x="45" y="190"/>
                  </a:cubicBezTo>
                  <a:cubicBezTo>
                    <a:pt x="68" y="216"/>
                    <a:pt x="116" y="145"/>
                    <a:pt x="137" y="158"/>
                  </a:cubicBezTo>
                  <a:cubicBezTo>
                    <a:pt x="158" y="171"/>
                    <a:pt x="162" y="247"/>
                    <a:pt x="169" y="270"/>
                  </a:cubicBezTo>
                </a:path>
              </a:pathLst>
            </a:custGeom>
            <a:noFill/>
            <a:ln cap="flat" cmpd="sng" w="1270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t/>
              </a:r>
              <a:endPara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7" name="Google Shape;347;p23"/>
            <p:cNvSpPr/>
            <p:nvPr/>
          </p:nvSpPr>
          <p:spPr>
            <a:xfrm>
              <a:off x="4876" y="2840"/>
              <a:ext cx="157" cy="688"/>
            </a:xfrm>
            <a:custGeom>
              <a:rect b="b" l="l" r="r" t="t"/>
              <a:pathLst>
                <a:path extrusionOk="0" h="688" w="157">
                  <a:moveTo>
                    <a:pt x="0" y="0"/>
                  </a:moveTo>
                  <a:cubicBezTo>
                    <a:pt x="7" y="32"/>
                    <a:pt x="22" y="164"/>
                    <a:pt x="45" y="190"/>
                  </a:cubicBezTo>
                  <a:cubicBezTo>
                    <a:pt x="68" y="216"/>
                    <a:pt x="118" y="75"/>
                    <a:pt x="137" y="158"/>
                  </a:cubicBezTo>
                  <a:cubicBezTo>
                    <a:pt x="156" y="241"/>
                    <a:pt x="153" y="578"/>
                    <a:pt x="157" y="688"/>
                  </a:cubicBezTo>
                </a:path>
              </a:pathLst>
            </a:custGeom>
            <a:noFill/>
            <a:ln cap="flat" cmpd="sng" w="1270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t/>
              </a:r>
              <a:endPara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348" name="Google Shape;348;p23"/>
            <p:cNvCxnSpPr/>
            <p:nvPr/>
          </p:nvCxnSpPr>
          <p:spPr>
            <a:xfrm>
              <a:off x="2698" y="2387"/>
              <a:ext cx="0" cy="1497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49" name="Google Shape;349;p23"/>
            <p:cNvCxnSpPr/>
            <p:nvPr/>
          </p:nvCxnSpPr>
          <p:spPr>
            <a:xfrm>
              <a:off x="3787" y="2387"/>
              <a:ext cx="0" cy="1497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50" name="Google Shape;350;p23"/>
            <p:cNvCxnSpPr/>
            <p:nvPr/>
          </p:nvCxnSpPr>
          <p:spPr>
            <a:xfrm>
              <a:off x="4875" y="2387"/>
              <a:ext cx="1" cy="1497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24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4 — The Processor — </a:t>
            </a:r>
            <a:fld id="{00000000-1234-1234-1234-123412341234}" type="slidenum"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0" name="Google Shape;360;p24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Clocking Methodology</a:t>
            </a:r>
            <a:endParaRPr/>
          </a:p>
        </p:txBody>
      </p:sp>
      <p:sp>
        <p:nvSpPr>
          <p:cNvPr id="361" name="Google Shape;361;p24"/>
          <p:cNvSpPr txBox="1"/>
          <p:nvPr>
            <p:ph idx="1" type="body"/>
          </p:nvPr>
        </p:nvSpPr>
        <p:spPr>
          <a:xfrm>
            <a:off x="684212" y="1125537"/>
            <a:ext cx="8270875" cy="2841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Combinational logic transforms data during clock cycles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Between clock edges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Input from state elements, output to state element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Longest delay determines clock period</a:t>
            </a:r>
            <a:endParaRPr/>
          </a:p>
        </p:txBody>
      </p:sp>
      <p:pic>
        <p:nvPicPr>
          <p:cNvPr descr="f04-04-P374493" id="362" name="Google Shape;362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508625" y="4581525"/>
            <a:ext cx="2865437" cy="6699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f04-03-P374493" id="363" name="Google Shape;363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55650" y="4437062"/>
            <a:ext cx="3851275" cy="1136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p25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4 — The Processor — </a:t>
            </a:r>
            <a:fld id="{00000000-1234-1234-1234-123412341234}" type="slidenum"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3" name="Google Shape;373;p25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Building a Datapath</a:t>
            </a:r>
            <a:endParaRPr/>
          </a:p>
        </p:txBody>
      </p:sp>
      <p:sp>
        <p:nvSpPr>
          <p:cNvPr id="374" name="Google Shape;374;p25"/>
          <p:cNvSpPr txBox="1"/>
          <p:nvPr>
            <p:ph idx="1" type="body"/>
          </p:nvPr>
        </p:nvSpPr>
        <p:spPr>
          <a:xfrm>
            <a:off x="684212" y="1125537"/>
            <a:ext cx="8270875" cy="5111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Datapath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Elements that process data and addresses</a:t>
            </a:r>
            <a:b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 the CPU</a:t>
            </a:r>
            <a:endParaRPr/>
          </a:p>
          <a:p>
            <a:pPr indent="-228600" lvl="2" marL="11430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120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Registers, ALUs, mux’s, memories, …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We will build a RISC-V datapath incrementally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Refining the overview design</a:t>
            </a:r>
            <a:endParaRPr/>
          </a:p>
        </p:txBody>
      </p:sp>
      <p:sp>
        <p:nvSpPr>
          <p:cNvPr id="375" name="Google Shape;375;p25"/>
          <p:cNvSpPr txBox="1"/>
          <p:nvPr/>
        </p:nvSpPr>
        <p:spPr>
          <a:xfrm rot="5400000">
            <a:off x="7617618" y="1159668"/>
            <a:ext cx="2686050" cy="36671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folHlink"/>
                </a:solidFill>
                <a:latin typeface="Arial"/>
                <a:ea typeface="Arial"/>
                <a:cs typeface="Arial"/>
                <a:sym typeface="Arial"/>
              </a:rPr>
              <a:t>§4.3 Building a Datapath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p26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4 — The Processor — </a:t>
            </a:r>
            <a:fld id="{00000000-1234-1234-1234-123412341234}" type="slidenum"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5" name="Google Shape;385;p26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Instruction Fetch</a:t>
            </a:r>
            <a:endParaRPr/>
          </a:p>
        </p:txBody>
      </p:sp>
      <p:sp>
        <p:nvSpPr>
          <p:cNvPr id="386" name="Google Shape;386;p26"/>
          <p:cNvSpPr/>
          <p:nvPr/>
        </p:nvSpPr>
        <p:spPr>
          <a:xfrm>
            <a:off x="611187" y="4437062"/>
            <a:ext cx="914400" cy="609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4320" y="44416"/>
                </a:moveTo>
                <a:lnTo>
                  <a:pt x="-46000" y="28080"/>
                </a:lnTo>
              </a:path>
            </a:pathLst>
          </a:cu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64-bit register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7" name="Google Shape;387;p26"/>
          <p:cNvSpPr/>
          <p:nvPr/>
        </p:nvSpPr>
        <p:spPr>
          <a:xfrm>
            <a:off x="7308850" y="3860800"/>
            <a:ext cx="1439862" cy="863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864" y="-14375"/>
                </a:moveTo>
                <a:lnTo>
                  <a:pt x="3431" y="-1372"/>
                </a:lnTo>
              </a:path>
            </a:pathLst>
          </a:cu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Increment by 4 for next instruction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f04-06-P374493" id="388" name="Google Shape;388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124075" y="1628775"/>
            <a:ext cx="5143500" cy="4010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p27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4 — The Processor — </a:t>
            </a:r>
            <a:fld id="{00000000-1234-1234-1234-123412341234}" type="slidenum"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f04-07-P374493" id="398" name="Google Shape;398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31912" y="3284537"/>
            <a:ext cx="6316662" cy="2573337"/>
          </a:xfrm>
          <a:prstGeom prst="rect">
            <a:avLst/>
          </a:prstGeom>
          <a:noFill/>
          <a:ln>
            <a:noFill/>
          </a:ln>
        </p:spPr>
      </p:pic>
      <p:sp>
        <p:nvSpPr>
          <p:cNvPr id="399" name="Google Shape;399;p27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R-Format Instructions</a:t>
            </a:r>
            <a:endParaRPr/>
          </a:p>
        </p:txBody>
      </p:sp>
      <p:sp>
        <p:nvSpPr>
          <p:cNvPr id="400" name="Google Shape;400;p27"/>
          <p:cNvSpPr txBox="1"/>
          <p:nvPr>
            <p:ph idx="1" type="body"/>
          </p:nvPr>
        </p:nvSpPr>
        <p:spPr>
          <a:xfrm>
            <a:off x="684212" y="1125537"/>
            <a:ext cx="8270875" cy="1920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Read two register operands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Perform arithmetic/logical operation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Write register result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8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p28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4 — The Processor — </a:t>
            </a:r>
            <a:fld id="{00000000-1234-1234-1234-123412341234}" type="slidenum"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0" name="Google Shape;410;p28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Load/Store Instructions</a:t>
            </a:r>
            <a:endParaRPr/>
          </a:p>
        </p:txBody>
      </p:sp>
      <p:sp>
        <p:nvSpPr>
          <p:cNvPr id="411" name="Google Shape;411;p28"/>
          <p:cNvSpPr txBox="1"/>
          <p:nvPr>
            <p:ph idx="1" type="body"/>
          </p:nvPr>
        </p:nvSpPr>
        <p:spPr>
          <a:xfrm>
            <a:off x="684212" y="1125537"/>
            <a:ext cx="8204200" cy="26114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Read register operands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Calculate address using 12-bit offset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Use ALU, but sign-extend offset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Load: Read memory and update register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Store: Write register value to memory</a:t>
            </a:r>
            <a:endParaRPr/>
          </a:p>
        </p:txBody>
      </p:sp>
      <p:pic>
        <p:nvPicPr>
          <p:cNvPr id="412" name="Google Shape;412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195512" y="3563937"/>
            <a:ext cx="5113337" cy="2663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0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p29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4 — The Processor — </a:t>
            </a:r>
            <a:fld id="{00000000-1234-1234-1234-123412341234}" type="slidenum"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2" name="Google Shape;422;p29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Branch Instructions</a:t>
            </a:r>
            <a:endParaRPr/>
          </a:p>
        </p:txBody>
      </p:sp>
      <p:sp>
        <p:nvSpPr>
          <p:cNvPr id="423" name="Google Shape;423;p29"/>
          <p:cNvSpPr txBox="1"/>
          <p:nvPr>
            <p:ph idx="1" type="body"/>
          </p:nvPr>
        </p:nvSpPr>
        <p:spPr>
          <a:xfrm>
            <a:off x="684212" y="1125537"/>
            <a:ext cx="8270875" cy="5111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Read register operands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Compare operands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Use ALU, subtract and check Zero output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Calculate target address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Sign-extend displacement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Shift left 1 place (halfword displacement)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Add to PC value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p30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4 — The Processor — </a:t>
            </a:r>
            <a:fld id="{00000000-1234-1234-1234-123412341234}" type="slidenum"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3" name="Google Shape;433;p30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Branch Instructions</a:t>
            </a:r>
            <a:endParaRPr/>
          </a:p>
        </p:txBody>
      </p:sp>
      <p:sp>
        <p:nvSpPr>
          <p:cNvPr id="434" name="Google Shape;434;p30"/>
          <p:cNvSpPr/>
          <p:nvPr/>
        </p:nvSpPr>
        <p:spPr>
          <a:xfrm>
            <a:off x="1187450" y="1557337"/>
            <a:ext cx="1079500" cy="8651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17170" y="92093"/>
                </a:moveTo>
                <a:lnTo>
                  <a:pt x="3425" y="27750"/>
                </a:lnTo>
              </a:path>
            </a:pathLst>
          </a:cu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Just</a:t>
            </a:r>
            <a:br>
              <a:rPr b="0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re-routes wires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5" name="Google Shape;435;p30"/>
          <p:cNvSpPr/>
          <p:nvPr/>
        </p:nvSpPr>
        <p:spPr>
          <a:xfrm>
            <a:off x="5364162" y="5661025"/>
            <a:ext cx="1368425" cy="647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2224" y="-15456"/>
                </a:moveTo>
                <a:lnTo>
                  <a:pt x="4574" y="-1444"/>
                </a:lnTo>
              </a:path>
            </a:pathLst>
          </a:cu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Sign-bit wire replicated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36" name="Google Shape;436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38262" y="1174750"/>
            <a:ext cx="6951662" cy="50625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4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p31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4 — The Processor — </a:t>
            </a:r>
            <a:fld id="{00000000-1234-1234-1234-123412341234}" type="slidenum"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6" name="Google Shape;446;p31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Composing the Elements</a:t>
            </a:r>
            <a:endParaRPr/>
          </a:p>
        </p:txBody>
      </p:sp>
      <p:sp>
        <p:nvSpPr>
          <p:cNvPr id="447" name="Google Shape;447;p31"/>
          <p:cNvSpPr txBox="1"/>
          <p:nvPr>
            <p:ph idx="1" type="body"/>
          </p:nvPr>
        </p:nvSpPr>
        <p:spPr>
          <a:xfrm>
            <a:off x="684212" y="1125537"/>
            <a:ext cx="8270875" cy="5111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First-cut data path does an instruction in one clock cycle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Each datapath element can only do one function at a time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Hence, we need separate instruction and data memories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Use multiplexers where alternate data sources are used for different instructions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5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p32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4 — The Processor — </a:t>
            </a:r>
            <a:fld id="{00000000-1234-1234-1234-123412341234}" type="slidenum"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7" name="Google Shape;457;p32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R-Type/Load/Store Datapath</a:t>
            </a:r>
            <a:endParaRPr/>
          </a:p>
        </p:txBody>
      </p:sp>
      <p:pic>
        <p:nvPicPr>
          <p:cNvPr id="458" name="Google Shape;458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61987" y="1557337"/>
            <a:ext cx="8121650" cy="3959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6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p33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4 — The Processor — </a:t>
            </a:r>
            <a:fld id="{00000000-1234-1234-1234-123412341234}" type="slidenum"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8" name="Google Shape;468;p33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Full Datapath</a:t>
            </a:r>
            <a:endParaRPr/>
          </a:p>
        </p:txBody>
      </p:sp>
      <p:pic>
        <p:nvPicPr>
          <p:cNvPr id="469" name="Google Shape;469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27087" y="1268412"/>
            <a:ext cx="7632700" cy="50752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7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Google Shape;478;p34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4 — The Processor — </a:t>
            </a:r>
            <a:fld id="{00000000-1234-1234-1234-123412341234}" type="slidenum"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9" name="Google Shape;479;p34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ALU Control</a:t>
            </a:r>
            <a:endParaRPr/>
          </a:p>
        </p:txBody>
      </p:sp>
      <p:sp>
        <p:nvSpPr>
          <p:cNvPr id="480" name="Google Shape;480;p34"/>
          <p:cNvSpPr txBox="1"/>
          <p:nvPr>
            <p:ph idx="1" type="body"/>
          </p:nvPr>
        </p:nvSpPr>
        <p:spPr>
          <a:xfrm>
            <a:off x="684212" y="1125537"/>
            <a:ext cx="8270875" cy="2381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ALU used for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Load/Store: F = add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Branch: F = subtract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R-type: F depends on opcode</a:t>
            </a:r>
            <a:endParaRPr/>
          </a:p>
        </p:txBody>
      </p:sp>
      <p:sp>
        <p:nvSpPr>
          <p:cNvPr id="481" name="Google Shape;481;p34"/>
          <p:cNvSpPr txBox="1"/>
          <p:nvPr/>
        </p:nvSpPr>
        <p:spPr>
          <a:xfrm rot="5400000">
            <a:off x="6893718" y="1883568"/>
            <a:ext cx="4133850" cy="36671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folHlink"/>
                </a:solidFill>
                <a:latin typeface="Arial"/>
                <a:ea typeface="Arial"/>
                <a:cs typeface="Arial"/>
                <a:sym typeface="Arial"/>
              </a:rPr>
              <a:t>§4.4 A Simple Implementation Scheme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482" name="Google Shape;482;p34"/>
          <p:cNvGraphicFramePr/>
          <p:nvPr/>
        </p:nvGraphicFramePr>
        <p:xfrm>
          <a:off x="1187450" y="350043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{454AF034-AA6E-494D-B9A6-BFF0BF6C3BB1}</a:tableStyleId>
              </a:tblPr>
              <a:tblGrid>
                <a:gridCol w="3048000"/>
                <a:gridCol w="3048000"/>
              </a:tblGrid>
              <a:tr h="3651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ALU control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Function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67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0000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AND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51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0001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OR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67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0010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add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51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0110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subtract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0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p35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4 — The Processor — </a:t>
            </a:r>
            <a:fld id="{00000000-1234-1234-1234-123412341234}" type="slidenum"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2" name="Google Shape;492;p35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ALU Control</a:t>
            </a:r>
            <a:endParaRPr/>
          </a:p>
        </p:txBody>
      </p:sp>
      <p:sp>
        <p:nvSpPr>
          <p:cNvPr id="493" name="Google Shape;493;p35"/>
          <p:cNvSpPr txBox="1"/>
          <p:nvPr>
            <p:ph idx="1" type="body"/>
          </p:nvPr>
        </p:nvSpPr>
        <p:spPr>
          <a:xfrm>
            <a:off x="317512" y="1089062"/>
            <a:ext cx="8271000" cy="511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Assume 2-bit ALUOp derived from opcode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Combinational logic derives ALU control</a:t>
            </a:r>
            <a:endParaRPr/>
          </a:p>
        </p:txBody>
      </p:sp>
      <p:graphicFrame>
        <p:nvGraphicFramePr>
          <p:cNvPr id="494" name="Google Shape;494;p35"/>
          <p:cNvGraphicFramePr/>
          <p:nvPr/>
        </p:nvGraphicFramePr>
        <p:xfrm>
          <a:off x="1139850" y="257333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{454AF034-AA6E-494D-B9A6-BFF0BF6C3BB1}</a:tableStyleId>
              </a:tblPr>
              <a:tblGrid>
                <a:gridCol w="1208075"/>
                <a:gridCol w="906450"/>
                <a:gridCol w="1733550"/>
                <a:gridCol w="1733550"/>
                <a:gridCol w="1282700"/>
              </a:tblGrid>
              <a:tr h="5794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b="1" i="0" lang="en-US" sz="16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opcode</a:t>
                      </a:r>
                      <a:endParaRPr sz="1400" u="none" cap="none" strike="noStrike"/>
                    </a:p>
                  </a:txBody>
                  <a:tcPr marT="45700" marB="45700" marR="91450" marL="91450" anchor="b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b="1" i="0" lang="en-US" sz="16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ALUOp</a:t>
                      </a:r>
                      <a:endParaRPr sz="1400" u="none" cap="none" strike="noStrike"/>
                    </a:p>
                  </a:txBody>
                  <a:tcPr marT="45700" marB="45700" marR="91450" marL="91450" anchor="b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b="1" i="0" lang="en-US" sz="16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Operation</a:t>
                      </a:r>
                      <a:endParaRPr sz="1400" u="none" cap="none" strike="noStrike"/>
                    </a:p>
                  </a:txBody>
                  <a:tcPr marT="45700" marB="45700" marR="91450" marL="91450" anchor="b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b="1" i="0" lang="en-US" sz="16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ALU function</a:t>
                      </a:r>
                      <a:endParaRPr sz="1400" u="none" cap="none" strike="noStrike"/>
                    </a:p>
                  </a:txBody>
                  <a:tcPr marT="45700" marB="45700" marR="91450" marL="91450" anchor="b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b="1" i="0" lang="en-US" sz="16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ALU control</a:t>
                      </a:r>
                      <a:endParaRPr sz="1400" u="none" cap="none" strike="noStrike"/>
                    </a:p>
                  </a:txBody>
                  <a:tcPr marT="45700" marB="45700" marR="91450" marL="91450" anchor="b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81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ld</a:t>
                      </a:r>
                      <a:endParaRPr sz="1400" u="none" cap="none" strike="noStrike"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00</a:t>
                      </a:r>
                      <a:endParaRPr sz="1400" u="none" cap="none" strike="noStrike"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load register</a:t>
                      </a:r>
                      <a:endParaRPr sz="1400" u="none" cap="none" strike="noStrike"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add</a:t>
                      </a:r>
                      <a:endParaRPr sz="1400" u="none" cap="none" strike="noStrike"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0010</a:t>
                      </a:r>
                      <a:endParaRPr sz="1400" u="none" cap="none" strike="noStrike"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49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sd</a:t>
                      </a:r>
                      <a:endParaRPr sz="1400" u="none" cap="none" strike="noStrike"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00</a:t>
                      </a:r>
                      <a:endParaRPr sz="1400" u="none" cap="none" strike="noStrike"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store register</a:t>
                      </a:r>
                      <a:endParaRPr sz="1400" u="none" cap="none" strike="noStrike"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add</a:t>
                      </a:r>
                      <a:endParaRPr sz="1400" u="none" cap="none" strike="noStrike"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0010</a:t>
                      </a:r>
                      <a:endParaRPr sz="1400" u="none" cap="none" strike="noStrike"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794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beq</a:t>
                      </a:r>
                      <a:endParaRPr sz="1400" u="none" cap="none" strike="noStrike"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01</a:t>
                      </a:r>
                      <a:endParaRPr sz="1400" u="none" cap="none" strike="noStrike"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branch on equal</a:t>
                      </a:r>
                      <a:endParaRPr sz="1400" u="none" cap="none" strike="noStrike"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subtract</a:t>
                      </a:r>
                      <a:endParaRPr sz="1400" u="none" cap="none" strike="noStrike"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0110</a:t>
                      </a:r>
                      <a:endParaRPr sz="1400" u="none" cap="none" strike="noStrike"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4950">
                <a:tc rowSpan="4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R-type</a:t>
                      </a:r>
                      <a:endParaRPr sz="1400" u="none" cap="none" strike="noStrike"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rowSpan="4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10</a:t>
                      </a:r>
                      <a:endParaRPr sz="1400" u="none" cap="none" strike="noStrike"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add</a:t>
                      </a:r>
                      <a:endParaRPr sz="1400" u="none" cap="none" strike="noStrike"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add</a:t>
                      </a:r>
                      <a:endParaRPr sz="1400" u="none" cap="none" strike="noStrike"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0010</a:t>
                      </a:r>
                      <a:endParaRPr sz="1400" u="none" cap="none" strike="noStrike"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6550">
                <a:tc vMerge="1"/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subtract</a:t>
                      </a:r>
                      <a:endParaRPr sz="1400" u="none" cap="none" strike="noStrike"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subtract</a:t>
                      </a:r>
                      <a:endParaRPr sz="1400" u="none" cap="none" strike="noStrike"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0110</a:t>
                      </a:r>
                      <a:endParaRPr sz="1400" u="none" cap="none" strike="noStrike"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4950">
                <a:tc vMerge="1"/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AND</a:t>
                      </a:r>
                      <a:endParaRPr sz="1400" u="none" cap="none" strike="noStrike"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AND</a:t>
                      </a:r>
                      <a:endParaRPr sz="1400" u="none" cap="none" strike="noStrike"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0000</a:t>
                      </a:r>
                      <a:endParaRPr sz="1400" u="none" cap="none" strike="noStrike"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8125">
                <a:tc vMerge="1"/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OR</a:t>
                      </a:r>
                      <a:endParaRPr sz="1400" u="none" cap="none" strike="noStrike"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OR</a:t>
                      </a:r>
                      <a:endParaRPr sz="1400" u="none" cap="none" strike="noStrike"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0001</a:t>
                      </a:r>
                      <a:endParaRPr sz="1400" u="none" cap="none" strike="noStrike"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2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Google Shape;503;p36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4 — The Processor — </a:t>
            </a:r>
            <a:fld id="{00000000-1234-1234-1234-123412341234}" type="slidenum"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4" name="Google Shape;504;p36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Datapath With Control</a:t>
            </a:r>
            <a:endParaRPr/>
          </a:p>
        </p:txBody>
      </p:sp>
      <p:pic>
        <p:nvPicPr>
          <p:cNvPr id="505" name="Google Shape;505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54137" y="1260475"/>
            <a:ext cx="6435725" cy="50117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3" name="Shape 5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4" name="Google Shape;514;p37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4 — The Processor — </a:t>
            </a:r>
            <a:fld id="{00000000-1234-1234-1234-123412341234}" type="slidenum"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5" name="Google Shape;515;p37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R-Type Instruction</a:t>
            </a:r>
            <a:endParaRPr/>
          </a:p>
        </p:txBody>
      </p:sp>
      <p:pic>
        <p:nvPicPr>
          <p:cNvPr id="516" name="Google Shape;516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54137" y="1260475"/>
            <a:ext cx="6435725" cy="50085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4" name="Shape 5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5" name="Google Shape;525;p38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4 — The Processor — </a:t>
            </a:r>
            <a:fld id="{00000000-1234-1234-1234-123412341234}" type="slidenum"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6" name="Google Shape;526;p38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Load Instruction</a:t>
            </a:r>
            <a:endParaRPr/>
          </a:p>
        </p:txBody>
      </p:sp>
      <p:pic>
        <p:nvPicPr>
          <p:cNvPr id="527" name="Google Shape;527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54137" y="1260475"/>
            <a:ext cx="6435725" cy="50117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5" name="Shape 5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6" name="Google Shape;536;p39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4 — The Processor — </a:t>
            </a:r>
            <a:fld id="{00000000-1234-1234-1234-123412341234}" type="slidenum"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7" name="Google Shape;537;p39"/>
          <p:cNvSpPr txBox="1"/>
          <p:nvPr>
            <p:ph type="title"/>
          </p:nvPr>
        </p:nvSpPr>
        <p:spPr>
          <a:xfrm>
            <a:off x="684212" y="138112"/>
            <a:ext cx="8259762" cy="7699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Branch-on-Equal Instruction</a:t>
            </a:r>
            <a:endParaRPr/>
          </a:p>
        </p:txBody>
      </p:sp>
      <p:pic>
        <p:nvPicPr>
          <p:cNvPr id="538" name="Google Shape;538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54137" y="1260475"/>
            <a:ext cx="6435725" cy="50117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6" name="Shape 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7" name="Google Shape;547;p40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4 — The Processor — </a:t>
            </a:r>
            <a:fld id="{00000000-1234-1234-1234-123412341234}" type="slidenum"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8" name="Google Shape;548;p40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Performance Issues</a:t>
            </a:r>
            <a:endParaRPr/>
          </a:p>
        </p:txBody>
      </p:sp>
      <p:sp>
        <p:nvSpPr>
          <p:cNvPr id="549" name="Google Shape;549;p40"/>
          <p:cNvSpPr txBox="1"/>
          <p:nvPr>
            <p:ph idx="1" type="body"/>
          </p:nvPr>
        </p:nvSpPr>
        <p:spPr>
          <a:xfrm>
            <a:off x="684212" y="1125537"/>
            <a:ext cx="8270875" cy="5111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Longest delay determines clock period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Critical path: load instruction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Instruction memory → register file → ALU → data memory → register file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Not feasible to vary period for different instructions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Violates design principle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Making the common case fast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We will improve performance by pipelining</a:t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7" name="Shape 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" name="Google Shape;558;p41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4 — The Processor — </a:t>
            </a:r>
            <a:fld id="{00000000-1234-1234-1234-123412341234}" type="slidenum"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f04-25-P374493" id="559" name="Google Shape;559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1187" y="2420937"/>
            <a:ext cx="4484687" cy="3579812"/>
          </a:xfrm>
          <a:prstGeom prst="rect">
            <a:avLst/>
          </a:prstGeom>
          <a:noFill/>
          <a:ln>
            <a:noFill/>
          </a:ln>
        </p:spPr>
      </p:pic>
      <p:sp>
        <p:nvSpPr>
          <p:cNvPr id="560" name="Google Shape;560;p41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Pipelining Analogy</a:t>
            </a:r>
            <a:endParaRPr/>
          </a:p>
        </p:txBody>
      </p:sp>
      <p:sp>
        <p:nvSpPr>
          <p:cNvPr id="561" name="Google Shape;561;p41"/>
          <p:cNvSpPr txBox="1"/>
          <p:nvPr>
            <p:ph idx="1" type="body"/>
          </p:nvPr>
        </p:nvSpPr>
        <p:spPr>
          <a:xfrm>
            <a:off x="684212" y="1125537"/>
            <a:ext cx="8270875" cy="1228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Pipelined laundry: overlapping execution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Parallelism improves performance</a:t>
            </a:r>
            <a:endParaRPr/>
          </a:p>
        </p:txBody>
      </p:sp>
      <p:sp>
        <p:nvSpPr>
          <p:cNvPr id="562" name="Google Shape;562;p41"/>
          <p:cNvSpPr txBox="1"/>
          <p:nvPr/>
        </p:nvSpPr>
        <p:spPr>
          <a:xfrm rot="5400000">
            <a:off x="7312818" y="1464468"/>
            <a:ext cx="3295650" cy="36671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folHlink"/>
                </a:solidFill>
                <a:latin typeface="Arial"/>
                <a:ea typeface="Arial"/>
                <a:cs typeface="Arial"/>
                <a:sym typeface="Arial"/>
              </a:rPr>
              <a:t>§4.6 An Overview of Pipelining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0" name="Shape 5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1" name="Google Shape;571;p42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4 — The Processor — </a:t>
            </a:r>
            <a:fld id="{00000000-1234-1234-1234-123412341234}" type="slidenum"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2" name="Google Shape;572;p42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RISC-V Pipeline</a:t>
            </a:r>
            <a:endParaRPr/>
          </a:p>
        </p:txBody>
      </p:sp>
      <p:sp>
        <p:nvSpPr>
          <p:cNvPr id="573" name="Google Shape;573;p42"/>
          <p:cNvSpPr txBox="1"/>
          <p:nvPr>
            <p:ph idx="1" type="body"/>
          </p:nvPr>
        </p:nvSpPr>
        <p:spPr>
          <a:xfrm>
            <a:off x="684212" y="1125537"/>
            <a:ext cx="8270875" cy="5111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609600" lvl="0" marL="609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Five stages, one step per stage</a:t>
            </a:r>
            <a:endParaRPr/>
          </a:p>
          <a:p>
            <a:pPr indent="-533400" lvl="1" marL="9906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AutoNum type="arabicPeriod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IF: Instruction fetch from memory</a:t>
            </a:r>
            <a:endParaRPr/>
          </a:p>
          <a:p>
            <a:pPr indent="-533400" lvl="1" marL="9906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AutoNum type="arabicPeriod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ID: Instruction decode &amp; register read</a:t>
            </a:r>
            <a:endParaRPr/>
          </a:p>
          <a:p>
            <a:pPr indent="-533400" lvl="1" marL="9906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AutoNum type="arabicPeriod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EX: Execute operation or calculate address</a:t>
            </a:r>
            <a:endParaRPr/>
          </a:p>
          <a:p>
            <a:pPr indent="-533400" lvl="1" marL="9906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AutoNum type="arabicPeriod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MEM: Access memory operand</a:t>
            </a:r>
            <a:endParaRPr/>
          </a:p>
          <a:p>
            <a:pPr indent="-533400" lvl="1" marL="9906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AutoNum type="arabicPeriod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WB: Write result back to register</a:t>
            </a:r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1" name="Shape 5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2" name="Google Shape;582;p43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4 — The Processor — </a:t>
            </a:r>
            <a:fld id="{00000000-1234-1234-1234-123412341234}" type="slidenum"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3" name="Google Shape;583;p43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Pipeline Performance</a:t>
            </a:r>
            <a:endParaRPr/>
          </a:p>
        </p:txBody>
      </p:sp>
      <p:sp>
        <p:nvSpPr>
          <p:cNvPr id="584" name="Google Shape;584;p43"/>
          <p:cNvSpPr txBox="1"/>
          <p:nvPr>
            <p:ph idx="1" type="body"/>
          </p:nvPr>
        </p:nvSpPr>
        <p:spPr>
          <a:xfrm>
            <a:off x="684212" y="1125537"/>
            <a:ext cx="8270875" cy="25336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Assume time for stages is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100ps for register read or write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200ps for other stages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Compare pipelined datapath with single-cycle datapath</a:t>
            </a:r>
            <a:endParaRPr/>
          </a:p>
        </p:txBody>
      </p:sp>
      <p:graphicFrame>
        <p:nvGraphicFramePr>
          <p:cNvPr id="585" name="Google Shape;585;p43"/>
          <p:cNvGraphicFramePr/>
          <p:nvPr/>
        </p:nvGraphicFramePr>
        <p:xfrm>
          <a:off x="395287" y="384651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{454AF034-AA6E-494D-B9A6-BFF0BF6C3BB1}</a:tableStyleId>
              </a:tblPr>
              <a:tblGrid>
                <a:gridCol w="1193800"/>
                <a:gridCol w="1192200"/>
                <a:gridCol w="1195375"/>
                <a:gridCol w="1190625"/>
                <a:gridCol w="1195375"/>
                <a:gridCol w="1192200"/>
                <a:gridCol w="1193800"/>
              </a:tblGrid>
              <a:tr h="6397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Instr</a:t>
                      </a:r>
                      <a:endParaRPr sz="1400" u="none" cap="none" strike="noStrike"/>
                    </a:p>
                  </a:txBody>
                  <a:tcPr marT="45700" marB="45700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Instr fetch</a:t>
                      </a:r>
                      <a:endParaRPr sz="1400" u="none" cap="none" strike="noStrike"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Register read</a:t>
                      </a:r>
                      <a:endParaRPr sz="1400" u="none" cap="none" strike="noStrike"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ALU op</a:t>
                      </a:r>
                      <a:endParaRPr sz="1400" u="none" cap="none" strike="noStrike"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Memory access</a:t>
                      </a:r>
                      <a:endParaRPr sz="1400" u="none" cap="none" strike="noStrike"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Register write</a:t>
                      </a:r>
                      <a:endParaRPr sz="1400" u="none" cap="none" strike="noStrike"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Total time</a:t>
                      </a:r>
                      <a:endParaRPr sz="1400" u="none" cap="none" strike="noStrike"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ld</a:t>
                      </a:r>
                      <a:endParaRPr sz="1400" u="none" cap="none" strike="noStrike"/>
                    </a:p>
                  </a:txBody>
                  <a:tcPr marT="45700" marB="45700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200ps</a:t>
                      </a:r>
                      <a:endParaRPr sz="1400" u="none" cap="none" strike="noStrike"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100 ps</a:t>
                      </a:r>
                      <a:endParaRPr sz="1400" u="none" cap="none" strike="noStrike"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200ps</a:t>
                      </a:r>
                      <a:endParaRPr sz="1400" u="none" cap="none" strike="noStrike"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200ps</a:t>
                      </a:r>
                      <a:endParaRPr sz="1400" u="none" cap="none" strike="noStrike"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100 ps</a:t>
                      </a:r>
                      <a:endParaRPr sz="1400" u="none" cap="none" strike="noStrike"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800ps</a:t>
                      </a:r>
                      <a:endParaRPr sz="1400" u="none" cap="none" strike="noStrike"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</a:tr>
              <a:tr h="4048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sd</a:t>
                      </a:r>
                      <a:endParaRPr sz="1400" u="none" cap="none" strike="noStrike"/>
                    </a:p>
                  </a:txBody>
                  <a:tcPr marT="45700" marB="45700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200ps</a:t>
                      </a:r>
                      <a:endParaRPr sz="1400" u="none" cap="none" strike="noStrike"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100 ps</a:t>
                      </a:r>
                      <a:endParaRPr sz="1400" u="none" cap="none" strike="noStrike"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200ps</a:t>
                      </a:r>
                      <a:endParaRPr sz="1400" u="none" cap="none" strike="noStrike"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200ps</a:t>
                      </a:r>
                      <a:endParaRPr sz="1400" u="none" cap="none" strike="noStrike"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700ps</a:t>
                      </a:r>
                      <a:endParaRPr sz="1400" u="none" cap="none" strike="noStrike"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R-format</a:t>
                      </a:r>
                      <a:endParaRPr sz="1400" u="none" cap="none" strike="noStrike"/>
                    </a:p>
                  </a:txBody>
                  <a:tcPr marT="45700" marB="45700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200ps</a:t>
                      </a:r>
                      <a:endParaRPr sz="1400" u="none" cap="none" strike="noStrike"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100 ps</a:t>
                      </a:r>
                      <a:endParaRPr sz="1400" u="none" cap="none" strike="noStrike"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200ps</a:t>
                      </a:r>
                      <a:endParaRPr sz="1400" u="none" cap="none" strike="noStrike"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100 ps</a:t>
                      </a:r>
                      <a:endParaRPr sz="1400" u="none" cap="none" strike="noStrike"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600ps</a:t>
                      </a:r>
                      <a:endParaRPr sz="1400" u="none" cap="none" strike="noStrike"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016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beq</a:t>
                      </a:r>
                      <a:endParaRPr sz="1400" u="none" cap="none" strike="noStrike"/>
                    </a:p>
                  </a:txBody>
                  <a:tcPr marT="45700" marB="45700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200ps</a:t>
                      </a:r>
                      <a:endParaRPr sz="1400" u="none" cap="none" strike="noStrike"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100 ps</a:t>
                      </a:r>
                      <a:endParaRPr sz="1400" u="none" cap="none" strike="noStrike"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200ps</a:t>
                      </a:r>
                      <a:endParaRPr sz="1400" u="none" cap="none" strike="noStrike"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500ps</a:t>
                      </a:r>
                      <a:endParaRPr sz="1400" u="none" cap="none" strike="noStrike"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3" name="Shape 5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4" name="Google Shape;594;p44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4 — The Processor — </a:t>
            </a:r>
            <a:fld id="{00000000-1234-1234-1234-123412341234}" type="slidenum"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5" name="Google Shape;595;p44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Pipeline Performance</a:t>
            </a:r>
            <a:endParaRPr/>
          </a:p>
        </p:txBody>
      </p:sp>
      <p:sp>
        <p:nvSpPr>
          <p:cNvPr id="596" name="Google Shape;596;p44"/>
          <p:cNvSpPr txBox="1"/>
          <p:nvPr/>
        </p:nvSpPr>
        <p:spPr>
          <a:xfrm>
            <a:off x="3132137" y="1196975"/>
            <a:ext cx="2676525" cy="376237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Single-cycle (T</a:t>
            </a:r>
            <a:r>
              <a:rPr b="0" baseline="-2500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</a:t>
            </a: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= 800ps)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7" name="Google Shape;597;p44"/>
          <p:cNvSpPr txBox="1"/>
          <p:nvPr/>
        </p:nvSpPr>
        <p:spPr>
          <a:xfrm>
            <a:off x="3276600" y="3644900"/>
            <a:ext cx="2384425" cy="376237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Pipelined (T</a:t>
            </a:r>
            <a:r>
              <a:rPr b="0" baseline="-2500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</a:t>
            </a: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= 200ps)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98" name="Google Shape;598;p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16012" y="1628775"/>
            <a:ext cx="6624637" cy="45672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6" name="Shape 6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7" name="Google Shape;607;p45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4 — The Processor — </a:t>
            </a:r>
            <a:fld id="{00000000-1234-1234-1234-123412341234}" type="slidenum"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8" name="Google Shape;608;p45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Pipelining and ISA Design</a:t>
            </a:r>
            <a:endParaRPr/>
          </a:p>
        </p:txBody>
      </p:sp>
      <p:sp>
        <p:nvSpPr>
          <p:cNvPr id="609" name="Google Shape;609;p45"/>
          <p:cNvSpPr txBox="1"/>
          <p:nvPr>
            <p:ph idx="1" type="body"/>
          </p:nvPr>
        </p:nvSpPr>
        <p:spPr>
          <a:xfrm>
            <a:off x="684212" y="1125537"/>
            <a:ext cx="8270875" cy="5111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RISC-V ISA designed for pipelining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All instructions are 32-bits</a:t>
            </a:r>
            <a:endParaRPr/>
          </a:p>
          <a:p>
            <a:pPr indent="-228600" lvl="2" marL="114300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120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Easier to fetch and decode in one cycle</a:t>
            </a:r>
            <a:endParaRPr/>
          </a:p>
          <a:p>
            <a:pPr indent="-228600" lvl="2" marL="114300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120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c.f. x86: 1- to 17-byte instructions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Few and regular instruction formats</a:t>
            </a:r>
            <a:endParaRPr/>
          </a:p>
          <a:p>
            <a:pPr indent="-228600" lvl="2" marL="114300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120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Can decode and read registers in one step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Load/store addressing</a:t>
            </a:r>
            <a:endParaRPr/>
          </a:p>
          <a:p>
            <a:pPr indent="-228600" lvl="2" marL="114300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120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Can calculate address in 3</a:t>
            </a:r>
            <a:r>
              <a:rPr b="0" baseline="3000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rd</a:t>
            </a: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stage, access memory in 4</a:t>
            </a:r>
            <a:r>
              <a:rPr b="0" baseline="3000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</a:t>
            </a: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stage</a:t>
            </a:r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7" name="Shape 6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8" name="Google Shape;618;p46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4 — The Processor — </a:t>
            </a:r>
            <a:fld id="{00000000-1234-1234-1234-123412341234}" type="slidenum"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9" name="Google Shape;619;p46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Hazards</a:t>
            </a:r>
            <a:endParaRPr/>
          </a:p>
        </p:txBody>
      </p:sp>
      <p:sp>
        <p:nvSpPr>
          <p:cNvPr id="620" name="Google Shape;620;p46"/>
          <p:cNvSpPr txBox="1"/>
          <p:nvPr>
            <p:ph idx="1" type="body"/>
          </p:nvPr>
        </p:nvSpPr>
        <p:spPr>
          <a:xfrm>
            <a:off x="684212" y="1125537"/>
            <a:ext cx="8270875" cy="5111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Situations that prevent starting the next instruction in the next cycle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Structure hazards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required resource is busy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Data hazard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Need to wait for previous instruction to complete its data read/write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Control hazard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Deciding on control action depends on previous instruction</a:t>
            </a:r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8" name="Shape 6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9" name="Google Shape;629;p47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4 — The Processor — </a:t>
            </a:r>
            <a:fld id="{00000000-1234-1234-1234-123412341234}" type="slidenum"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0" name="Google Shape;630;p47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Structural Hazards</a:t>
            </a:r>
            <a:endParaRPr/>
          </a:p>
        </p:txBody>
      </p:sp>
      <p:sp>
        <p:nvSpPr>
          <p:cNvPr id="631" name="Google Shape;631;p47"/>
          <p:cNvSpPr txBox="1"/>
          <p:nvPr>
            <p:ph idx="1" type="body"/>
          </p:nvPr>
        </p:nvSpPr>
        <p:spPr>
          <a:xfrm>
            <a:off x="684212" y="1125537"/>
            <a:ext cx="8270875" cy="5111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Conflict for use of a resource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 RISC-V pipeline with a single memory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Load/store requires data access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Instruction fetch would have to </a:t>
            </a:r>
            <a:r>
              <a:rPr b="0" i="1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stall</a:t>
            </a: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for that cycle</a:t>
            </a:r>
            <a:endParaRPr/>
          </a:p>
          <a:p>
            <a:pPr indent="-228600" lvl="2" marL="11430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120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Would cause a pipeline “bubble”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Hence, pipelined datapaths require separate instruction/data memories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Or separate instruction/data caches</a:t>
            </a:r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9" name="Shape 6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0" name="Google Shape;640;p48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4 — The Processor — </a:t>
            </a:r>
            <a:fld id="{00000000-1234-1234-1234-123412341234}" type="slidenum"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1" name="Google Shape;641;p48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Data Hazards</a:t>
            </a:r>
            <a:endParaRPr/>
          </a:p>
        </p:txBody>
      </p:sp>
      <p:sp>
        <p:nvSpPr>
          <p:cNvPr id="642" name="Google Shape;642;p48"/>
          <p:cNvSpPr txBox="1"/>
          <p:nvPr>
            <p:ph idx="1" type="body"/>
          </p:nvPr>
        </p:nvSpPr>
        <p:spPr>
          <a:xfrm>
            <a:off x="684212" y="1125537"/>
            <a:ext cx="8270875" cy="22272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An instruction depends on completion of data access by a previous instruction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Arial"/>
              <a:buChar char="■"/>
            </a:pPr>
            <a:r>
              <a:rPr i="0" lang="en-US" sz="2800" u="none">
                <a:solidFill>
                  <a:schemeClr val="dk1"/>
                </a:solidFill>
              </a:rPr>
              <a:t>add	</a:t>
            </a:r>
            <a:r>
              <a:rPr i="0" lang="en-US" sz="2800" u="none">
                <a:solidFill>
                  <a:srgbClr val="FF0000"/>
                </a:solidFill>
              </a:rPr>
              <a:t>x19</a:t>
            </a:r>
            <a:r>
              <a:rPr i="0" lang="en-US" sz="2800" u="none">
                <a:solidFill>
                  <a:schemeClr val="dk1"/>
                </a:solidFill>
              </a:rPr>
              <a:t>, x0, x1</a:t>
            </a:r>
            <a:br>
              <a:rPr i="0" lang="en-US" sz="2800" u="none">
                <a:solidFill>
                  <a:schemeClr val="dk1"/>
                </a:solidFill>
              </a:rPr>
            </a:br>
            <a:r>
              <a:rPr i="0" lang="en-US" sz="2800" u="none">
                <a:solidFill>
                  <a:schemeClr val="dk1"/>
                </a:solidFill>
              </a:rPr>
              <a:t>sub	x2, </a:t>
            </a:r>
            <a:r>
              <a:rPr i="0" lang="en-US" sz="2800" u="none">
                <a:solidFill>
                  <a:srgbClr val="FF0000"/>
                </a:solidFill>
              </a:rPr>
              <a:t>x19</a:t>
            </a:r>
            <a:r>
              <a:rPr i="0" lang="en-US" sz="2800" u="none">
                <a:solidFill>
                  <a:schemeClr val="dk1"/>
                </a:solidFill>
              </a:rPr>
              <a:t>, x3</a:t>
            </a:r>
            <a:endParaRPr/>
          </a:p>
        </p:txBody>
      </p:sp>
      <p:pic>
        <p:nvPicPr>
          <p:cNvPr id="643" name="Google Shape;643;p4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00112" y="3429000"/>
            <a:ext cx="7767637" cy="2736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1" name="Shape 6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2" name="Google Shape;652;p49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4 — The Processor — </a:t>
            </a:r>
            <a:fld id="{00000000-1234-1234-1234-123412341234}" type="slidenum"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3" name="Google Shape;653;p49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Forwarding (aka Bypassing)</a:t>
            </a:r>
            <a:endParaRPr/>
          </a:p>
        </p:txBody>
      </p:sp>
      <p:sp>
        <p:nvSpPr>
          <p:cNvPr id="654" name="Google Shape;654;p49"/>
          <p:cNvSpPr txBox="1"/>
          <p:nvPr>
            <p:ph idx="1" type="body"/>
          </p:nvPr>
        </p:nvSpPr>
        <p:spPr>
          <a:xfrm>
            <a:off x="684212" y="1125537"/>
            <a:ext cx="8270875" cy="1766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Use result when it is computed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Don’t wait for it to be stored in a register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Requires extra connections in the datapath</a:t>
            </a:r>
            <a:endParaRPr/>
          </a:p>
        </p:txBody>
      </p:sp>
      <p:pic>
        <p:nvPicPr>
          <p:cNvPr id="655" name="Google Shape;655;p4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27087" y="3036887"/>
            <a:ext cx="7804150" cy="2695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3" name="Shape 6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4" name="Google Shape;664;p50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4 — The Processor — </a:t>
            </a:r>
            <a:fld id="{00000000-1234-1234-1234-123412341234}" type="slidenum"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5" name="Google Shape;665;p50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Load-Use Data Hazard</a:t>
            </a:r>
            <a:endParaRPr/>
          </a:p>
        </p:txBody>
      </p:sp>
      <p:sp>
        <p:nvSpPr>
          <p:cNvPr id="666" name="Google Shape;666;p50"/>
          <p:cNvSpPr txBox="1"/>
          <p:nvPr>
            <p:ph idx="1" type="body"/>
          </p:nvPr>
        </p:nvSpPr>
        <p:spPr>
          <a:xfrm>
            <a:off x="684212" y="1125537"/>
            <a:ext cx="8270875" cy="18430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Can’t always avoid stalls by forwarding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If value not computed when needed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Can’t forward backward in time!</a:t>
            </a:r>
            <a:endParaRPr/>
          </a:p>
        </p:txBody>
      </p:sp>
      <p:pic>
        <p:nvPicPr>
          <p:cNvPr id="667" name="Google Shape;667;p5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93775" y="3041650"/>
            <a:ext cx="7178675" cy="2835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5" name="Shape 6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6" name="Google Shape;676;p51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4 — The Processor — </a:t>
            </a:r>
            <a:fld id="{00000000-1234-1234-1234-123412341234}" type="slidenum"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7" name="Google Shape;677;p51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Arial"/>
              <a:buNone/>
            </a:pPr>
            <a:r>
              <a:rPr b="1" i="0" lang="en-US" sz="40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Code Scheduling to Avoid Stalls</a:t>
            </a:r>
            <a:endParaRPr/>
          </a:p>
        </p:txBody>
      </p:sp>
      <p:sp>
        <p:nvSpPr>
          <p:cNvPr id="678" name="Google Shape;678;p51"/>
          <p:cNvSpPr txBox="1"/>
          <p:nvPr>
            <p:ph idx="1" type="body"/>
          </p:nvPr>
        </p:nvSpPr>
        <p:spPr>
          <a:xfrm>
            <a:off x="684212" y="1125537"/>
            <a:ext cx="8270875" cy="18430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Reorder code to avoid use of load result in the next instruction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 code for</a:t>
            </a:r>
            <a:r>
              <a:rPr i="0" lang="en-US" sz="3200" u="none">
                <a:solidFill>
                  <a:schemeClr val="dk1"/>
                </a:solidFill>
              </a:rPr>
              <a:t> a = b + e; c = b + f;</a:t>
            </a:r>
            <a:endParaRPr/>
          </a:p>
        </p:txBody>
      </p:sp>
      <p:sp>
        <p:nvSpPr>
          <p:cNvPr id="679" name="Google Shape;679;p51"/>
          <p:cNvSpPr txBox="1"/>
          <p:nvPr/>
        </p:nvSpPr>
        <p:spPr>
          <a:xfrm>
            <a:off x="1665287" y="3225800"/>
            <a:ext cx="2992500" cy="2555100"/>
          </a:xfrm>
          <a:prstGeom prst="rect">
            <a:avLst/>
          </a:prstGeom>
          <a:solidFill>
            <a:schemeClr val="folHlink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Oi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ld		x1, 0(x0)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Oi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ld		</a:t>
            </a:r>
            <a:r>
              <a:rPr b="0" i="0" lang="en-US" sz="20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x2</a:t>
            </a: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8(x0)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Oi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add		x3, x1,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Oi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sd		x3, 24(x0)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Oi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ld		</a:t>
            </a:r>
            <a:r>
              <a:rPr b="0" i="0" lang="en-US" sz="20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x4</a:t>
            </a: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16(x0)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Oi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add		x5, x1,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Oi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sd		x5, 32(x0)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0" name="Google Shape;680;p51"/>
          <p:cNvSpPr/>
          <p:nvPr/>
        </p:nvSpPr>
        <p:spPr>
          <a:xfrm>
            <a:off x="296862" y="4078287"/>
            <a:ext cx="914400" cy="40163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6557" y="38340"/>
                </a:moveTo>
                <a:lnTo>
                  <a:pt x="7376" y="28080"/>
                </a:lnTo>
              </a:path>
            </a:pathLst>
          </a:custGeom>
          <a:solidFill>
            <a:schemeClr val="hlink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stall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1" name="Google Shape;681;p51"/>
          <p:cNvSpPr/>
          <p:nvPr/>
        </p:nvSpPr>
        <p:spPr>
          <a:xfrm>
            <a:off x="296862" y="5157787"/>
            <a:ext cx="914400" cy="40163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6557" y="38340"/>
                </a:moveTo>
                <a:lnTo>
                  <a:pt x="7376" y="28080"/>
                </a:lnTo>
              </a:path>
            </a:pathLst>
          </a:custGeom>
          <a:solidFill>
            <a:schemeClr val="hlink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stall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2" name="Google Shape;682;p51"/>
          <p:cNvSpPr txBox="1"/>
          <p:nvPr/>
        </p:nvSpPr>
        <p:spPr>
          <a:xfrm>
            <a:off x="5457825" y="3225800"/>
            <a:ext cx="3224100" cy="2555100"/>
          </a:xfrm>
          <a:prstGeom prst="rect">
            <a:avLst/>
          </a:prstGeom>
          <a:solidFill>
            <a:schemeClr val="folHlink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Oi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ld		x1, 0(x0)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Oi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ld		</a:t>
            </a:r>
            <a:r>
              <a:rPr b="0" i="0" lang="en-US" sz="20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x2</a:t>
            </a: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8(x0)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Oi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ld		</a:t>
            </a:r>
            <a:r>
              <a:rPr b="0" i="0" lang="en-US" sz="20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x4</a:t>
            </a: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16(x0)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Oi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add		x3, x1, </a:t>
            </a:r>
            <a:r>
              <a:rPr b="0" i="0" lang="en-US" sz="20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x2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Oi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sd		x3, 24(x0)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Oi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add		x5, x1, </a:t>
            </a:r>
            <a:r>
              <a:rPr b="0" i="0" lang="en-US" sz="20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x4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Oi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sd		x5, 32(x0)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83" name="Google Shape;683;p51"/>
          <p:cNvCxnSpPr/>
          <p:nvPr/>
        </p:nvCxnSpPr>
        <p:spPr>
          <a:xfrm flipH="1" rot="10800000">
            <a:off x="4859337" y="4221162"/>
            <a:ext cx="647700" cy="673100"/>
          </a:xfrm>
          <a:prstGeom prst="straightConnector1">
            <a:avLst/>
          </a:prstGeom>
          <a:noFill/>
          <a:ln cap="flat" cmpd="sng" w="28575">
            <a:solidFill>
              <a:schemeClr val="hlink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684" name="Google Shape;684;p51"/>
          <p:cNvSpPr/>
          <p:nvPr/>
        </p:nvSpPr>
        <p:spPr>
          <a:xfrm>
            <a:off x="2506662" y="3594900"/>
            <a:ext cx="647700" cy="431700"/>
          </a:xfrm>
          <a:prstGeom prst="ellipse">
            <a:avLst/>
          </a:prstGeom>
          <a:noFill/>
          <a:ln cap="flat" cmpd="sng" w="1905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5" name="Google Shape;685;p51"/>
          <p:cNvSpPr/>
          <p:nvPr/>
        </p:nvSpPr>
        <p:spPr>
          <a:xfrm>
            <a:off x="4067175" y="3933825"/>
            <a:ext cx="796800" cy="431700"/>
          </a:xfrm>
          <a:prstGeom prst="ellipse">
            <a:avLst/>
          </a:prstGeom>
          <a:noFill/>
          <a:ln cap="flat" cmpd="sng" w="1905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Oi"/>
              <a:buNone/>
            </a:pPr>
            <a:r>
              <a:rPr i="0" lang="en-US" sz="2000" u="none" cap="none" strike="noStrike">
                <a:solidFill>
                  <a:srgbClr val="FF0000"/>
                </a:solidFill>
                <a:latin typeface="Oi"/>
                <a:ea typeface="Oi"/>
                <a:cs typeface="Oi"/>
                <a:sym typeface="Oi"/>
              </a:rPr>
              <a:t>x2</a:t>
            </a:r>
            <a:endParaRPr i="0" sz="1600" u="none" cap="none" strike="noStrike">
              <a:solidFill>
                <a:schemeClr val="dk1"/>
              </a:solidFill>
            </a:endParaRPr>
          </a:p>
        </p:txBody>
      </p:sp>
      <p:sp>
        <p:nvSpPr>
          <p:cNvPr id="686" name="Google Shape;686;p51"/>
          <p:cNvSpPr/>
          <p:nvPr/>
        </p:nvSpPr>
        <p:spPr>
          <a:xfrm>
            <a:off x="2487612" y="4652887"/>
            <a:ext cx="647700" cy="431700"/>
          </a:xfrm>
          <a:prstGeom prst="ellipse">
            <a:avLst/>
          </a:prstGeom>
          <a:noFill/>
          <a:ln cap="flat" cmpd="sng" w="1905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7" name="Google Shape;687;p51"/>
          <p:cNvSpPr/>
          <p:nvPr/>
        </p:nvSpPr>
        <p:spPr>
          <a:xfrm>
            <a:off x="4068747" y="5013325"/>
            <a:ext cx="796800" cy="431700"/>
          </a:xfrm>
          <a:prstGeom prst="ellipse">
            <a:avLst/>
          </a:prstGeom>
          <a:noFill/>
          <a:ln cap="flat" cmpd="sng" w="1905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Oi"/>
              <a:buNone/>
            </a:pPr>
            <a:r>
              <a:rPr b="0" i="0" lang="en-US" sz="2000" u="none" cap="none" strike="noStrike">
                <a:solidFill>
                  <a:srgbClr val="FF0000"/>
                </a:solidFill>
                <a:latin typeface="Oi"/>
                <a:ea typeface="Oi"/>
                <a:cs typeface="Oi"/>
                <a:sym typeface="Oi"/>
              </a:rPr>
              <a:t>x4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8" name="Google Shape;688;p51"/>
          <p:cNvSpPr/>
          <p:nvPr/>
        </p:nvSpPr>
        <p:spPr>
          <a:xfrm>
            <a:off x="6300775" y="3573512"/>
            <a:ext cx="647700" cy="431700"/>
          </a:xfrm>
          <a:prstGeom prst="ellipse">
            <a:avLst/>
          </a:prstGeom>
          <a:noFill/>
          <a:ln cap="flat" cmpd="sng" w="1905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9" name="Google Shape;689;p51"/>
          <p:cNvSpPr/>
          <p:nvPr/>
        </p:nvSpPr>
        <p:spPr>
          <a:xfrm>
            <a:off x="7885098" y="4292600"/>
            <a:ext cx="796800" cy="431700"/>
          </a:xfrm>
          <a:prstGeom prst="ellipse">
            <a:avLst/>
          </a:prstGeom>
          <a:noFill/>
          <a:ln cap="flat" cmpd="sng" w="1905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0" name="Google Shape;690;p51"/>
          <p:cNvSpPr/>
          <p:nvPr/>
        </p:nvSpPr>
        <p:spPr>
          <a:xfrm>
            <a:off x="7885112" y="5013325"/>
            <a:ext cx="647700" cy="431800"/>
          </a:xfrm>
          <a:prstGeom prst="ellipse">
            <a:avLst/>
          </a:prstGeom>
          <a:noFill/>
          <a:ln cap="flat" cmpd="sng" w="1905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1" name="Google Shape;691;p51"/>
          <p:cNvSpPr/>
          <p:nvPr/>
        </p:nvSpPr>
        <p:spPr>
          <a:xfrm>
            <a:off x="6372213" y="3933775"/>
            <a:ext cx="647700" cy="431700"/>
          </a:xfrm>
          <a:prstGeom prst="ellipse">
            <a:avLst/>
          </a:prstGeom>
          <a:noFill/>
          <a:ln cap="flat" cmpd="sng" w="1905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92" name="Google Shape;692;p51"/>
          <p:cNvCxnSpPr/>
          <p:nvPr/>
        </p:nvCxnSpPr>
        <p:spPr>
          <a:xfrm>
            <a:off x="3516312" y="3819525"/>
            <a:ext cx="550862" cy="258762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693" name="Google Shape;693;p51"/>
          <p:cNvCxnSpPr/>
          <p:nvPr/>
        </p:nvCxnSpPr>
        <p:spPr>
          <a:xfrm>
            <a:off x="3449637" y="4918075"/>
            <a:ext cx="619125" cy="31115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694" name="Google Shape;694;p51"/>
          <p:cNvCxnSpPr/>
          <p:nvPr/>
        </p:nvCxnSpPr>
        <p:spPr>
          <a:xfrm>
            <a:off x="7302500" y="3829050"/>
            <a:ext cx="654050" cy="492125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695" name="Google Shape;695;p51"/>
          <p:cNvCxnSpPr/>
          <p:nvPr/>
        </p:nvCxnSpPr>
        <p:spPr>
          <a:xfrm>
            <a:off x="7231062" y="4287837"/>
            <a:ext cx="796925" cy="725487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696" name="Google Shape;696;p51"/>
          <p:cNvSpPr txBox="1"/>
          <p:nvPr/>
        </p:nvSpPr>
        <p:spPr>
          <a:xfrm>
            <a:off x="6300787" y="5876925"/>
            <a:ext cx="1146175" cy="376237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11 cycles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7" name="Google Shape;697;p51"/>
          <p:cNvSpPr txBox="1"/>
          <p:nvPr/>
        </p:nvSpPr>
        <p:spPr>
          <a:xfrm>
            <a:off x="2506662" y="5876925"/>
            <a:ext cx="1146175" cy="376237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13 cycles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5" name="Shape 7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" name="Google Shape;706;p52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4 — The Processor — </a:t>
            </a:r>
            <a:fld id="{00000000-1234-1234-1234-123412341234}" type="slidenum"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7" name="Google Shape;707;p52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Stall on Branch</a:t>
            </a:r>
            <a:endParaRPr/>
          </a:p>
        </p:txBody>
      </p:sp>
      <p:sp>
        <p:nvSpPr>
          <p:cNvPr id="708" name="Google Shape;708;p52"/>
          <p:cNvSpPr txBox="1"/>
          <p:nvPr>
            <p:ph idx="1" type="body"/>
          </p:nvPr>
        </p:nvSpPr>
        <p:spPr>
          <a:xfrm>
            <a:off x="684212" y="1125537"/>
            <a:ext cx="8270875" cy="13065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Wait until branch outcome determined before fetching next instruction</a:t>
            </a:r>
            <a:endParaRPr/>
          </a:p>
        </p:txBody>
      </p:sp>
      <p:pic>
        <p:nvPicPr>
          <p:cNvPr id="709" name="Google Shape;709;p5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00112" y="2576512"/>
            <a:ext cx="7653337" cy="2940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7" name="Shape 7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8" name="Google Shape;718;p53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4 — The Processor — </a:t>
            </a:r>
            <a:fld id="{00000000-1234-1234-1234-123412341234}" type="slidenum"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9" name="Google Shape;719;p53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RISC-V Pipelined Datapath</a:t>
            </a:r>
            <a:endParaRPr/>
          </a:p>
        </p:txBody>
      </p:sp>
      <p:sp>
        <p:nvSpPr>
          <p:cNvPr id="720" name="Google Shape;720;p53"/>
          <p:cNvSpPr txBox="1"/>
          <p:nvPr/>
        </p:nvSpPr>
        <p:spPr>
          <a:xfrm rot="5400000">
            <a:off x="7009606" y="1748631"/>
            <a:ext cx="3902075" cy="36988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folHlink"/>
                </a:solidFill>
                <a:latin typeface="Arial"/>
                <a:ea typeface="Arial"/>
                <a:cs typeface="Arial"/>
                <a:sym typeface="Arial"/>
              </a:rPr>
              <a:t>§4.7 Pipelined Datapath and Control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1" name="Google Shape;721;p53"/>
          <p:cNvSpPr/>
          <p:nvPr/>
        </p:nvSpPr>
        <p:spPr>
          <a:xfrm>
            <a:off x="2124075" y="5157787"/>
            <a:ext cx="571500" cy="330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30780" y="59544"/>
                </a:moveTo>
                <a:lnTo>
                  <a:pt x="8972" y="29376"/>
                </a:lnTo>
              </a:path>
            </a:pathLst>
          </a:cu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WB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2" name="Google Shape;722;p53"/>
          <p:cNvSpPr/>
          <p:nvPr/>
        </p:nvSpPr>
        <p:spPr>
          <a:xfrm>
            <a:off x="395287" y="4292600"/>
            <a:ext cx="650875" cy="330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7695" y="39766"/>
                </a:moveTo>
                <a:lnTo>
                  <a:pt x="8972" y="28955"/>
                </a:lnTo>
              </a:path>
            </a:pathLst>
          </a:cu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MEM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3" name="Google Shape;723;p53"/>
          <p:cNvSpPr txBox="1"/>
          <p:nvPr/>
        </p:nvSpPr>
        <p:spPr>
          <a:xfrm>
            <a:off x="179387" y="5013325"/>
            <a:ext cx="1512887" cy="925512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Right-to-left flow leads to hazards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24" name="Google Shape;724;p5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11237" y="1125537"/>
            <a:ext cx="7232650" cy="52308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2" name="Shape 7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3" name="Google Shape;733;p54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4 — The Processor — </a:t>
            </a:r>
            <a:fld id="{00000000-1234-1234-1234-123412341234}" type="slidenum"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4" name="Google Shape;734;p54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Pipeline registers</a:t>
            </a:r>
            <a:endParaRPr/>
          </a:p>
        </p:txBody>
      </p:sp>
      <p:sp>
        <p:nvSpPr>
          <p:cNvPr id="735" name="Google Shape;735;p54"/>
          <p:cNvSpPr txBox="1"/>
          <p:nvPr>
            <p:ph idx="1" type="body"/>
          </p:nvPr>
        </p:nvSpPr>
        <p:spPr>
          <a:xfrm>
            <a:off x="684212" y="1125537"/>
            <a:ext cx="8351837" cy="13065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Need registers between stages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To hold information produced in previous cycle</a:t>
            </a:r>
            <a:endParaRPr/>
          </a:p>
        </p:txBody>
      </p:sp>
      <p:pic>
        <p:nvPicPr>
          <p:cNvPr id="736" name="Google Shape;736;p5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20725" y="2492375"/>
            <a:ext cx="7986712" cy="36877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4" name="Shape 7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5" name="Google Shape;745;p55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4 — The Processor — </a:t>
            </a:r>
            <a:fld id="{00000000-1234-1234-1234-123412341234}" type="slidenum"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6" name="Google Shape;746;p55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Pipeline Operation</a:t>
            </a:r>
            <a:endParaRPr/>
          </a:p>
        </p:txBody>
      </p:sp>
      <p:sp>
        <p:nvSpPr>
          <p:cNvPr id="747" name="Google Shape;747;p55"/>
          <p:cNvSpPr txBox="1"/>
          <p:nvPr>
            <p:ph idx="1" type="body"/>
          </p:nvPr>
        </p:nvSpPr>
        <p:spPr>
          <a:xfrm>
            <a:off x="684212" y="1125537"/>
            <a:ext cx="8270875" cy="5111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Cycle-by-cycle flow of instructions through the pipelined datapath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“Single-clock-cycle” pipeline diagram</a:t>
            </a:r>
            <a:endParaRPr/>
          </a:p>
          <a:p>
            <a:pPr indent="-228600" lvl="2" marL="11430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120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Shows pipeline usage in a single cycle</a:t>
            </a:r>
            <a:endParaRPr/>
          </a:p>
          <a:p>
            <a:pPr indent="-228600" lvl="2" marL="11430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120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Highlight resources used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c.f. “multi-clock-cycle” diagram</a:t>
            </a:r>
            <a:endParaRPr/>
          </a:p>
          <a:p>
            <a:pPr indent="-228600" lvl="2" marL="11430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120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Graph of operation over time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We’ll look at “single-clock-cycle” diagrams for load &amp; store</a:t>
            </a:r>
            <a:endParaRPr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5" name="Shape 7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6" name="Google Shape;756;p56"/>
          <p:cNvSpPr txBox="1"/>
          <p:nvPr/>
        </p:nvSpPr>
        <p:spPr>
          <a:xfrm>
            <a:off x="1692275" y="6381750"/>
            <a:ext cx="7272300" cy="358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4 — The Processor — </a:t>
            </a:r>
            <a:fld id="{00000000-1234-1234-1234-123412341234}" type="slidenum"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7" name="Google Shape;757;p56"/>
          <p:cNvSpPr txBox="1"/>
          <p:nvPr>
            <p:ph type="title"/>
          </p:nvPr>
        </p:nvSpPr>
        <p:spPr>
          <a:xfrm>
            <a:off x="684212" y="146050"/>
            <a:ext cx="82599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Pipeline Summary</a:t>
            </a:r>
            <a:endParaRPr/>
          </a:p>
        </p:txBody>
      </p:sp>
      <p:sp>
        <p:nvSpPr>
          <p:cNvPr id="758" name="Google Shape;758;p56"/>
          <p:cNvSpPr txBox="1"/>
          <p:nvPr>
            <p:ph idx="1" type="body"/>
          </p:nvPr>
        </p:nvSpPr>
        <p:spPr>
          <a:xfrm>
            <a:off x="684212" y="1844675"/>
            <a:ext cx="8271000" cy="43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Pipelining improves performance by increasing instruction throughput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Executes multiple instructions in parallel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Each instruction has the same latency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Subject to hazards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Structure, data, control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Instruction set design affects complexity of pipeline implementation</a:t>
            </a:r>
            <a:endParaRPr/>
          </a:p>
        </p:txBody>
      </p:sp>
      <p:sp>
        <p:nvSpPr>
          <p:cNvPr id="759" name="Google Shape;759;p56"/>
          <p:cNvSpPr txBox="1"/>
          <p:nvPr/>
        </p:nvSpPr>
        <p:spPr>
          <a:xfrm>
            <a:off x="684212" y="1258887"/>
            <a:ext cx="2825700" cy="831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2400"/>
              <a:buFont typeface="Arial Black"/>
              <a:buNone/>
            </a:pPr>
            <a:r>
              <a:rPr b="1" i="0" lang="en-US" sz="2400" u="none" cap="none" strike="noStrike">
                <a:solidFill>
                  <a:schemeClr val="folHlink"/>
                </a:solidFill>
                <a:latin typeface="Arial Black"/>
                <a:ea typeface="Arial Black"/>
                <a:cs typeface="Arial Black"/>
                <a:sym typeface="Arial Black"/>
              </a:rPr>
              <a:t>The BIG Picture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1_cod4e">
  <a:themeElements>
    <a:clrScheme name="cod4e 7">
      <a:dk1>
        <a:srgbClr val="000000"/>
      </a:dk1>
      <a:lt1>
        <a:srgbClr val="FFFFFF"/>
      </a:lt1>
      <a:dk2>
        <a:srgbClr val="0039A6"/>
      </a:dk2>
      <a:lt2>
        <a:srgbClr val="808080"/>
      </a:lt2>
      <a:accent1>
        <a:srgbClr val="9FCAD3"/>
      </a:accent1>
      <a:accent2>
        <a:srgbClr val="C0C0C0"/>
      </a:accent2>
      <a:accent3>
        <a:srgbClr val="FFFFFF"/>
      </a:accent3>
      <a:accent4>
        <a:srgbClr val="000000"/>
      </a:accent4>
      <a:accent5>
        <a:srgbClr val="CDE1E6"/>
      </a:accent5>
      <a:accent6>
        <a:srgbClr val="AEAEAE"/>
      </a:accent6>
      <a:hlink>
        <a:srgbClr val="91AFBF"/>
      </a:hlink>
      <a:folHlink>
        <a:srgbClr val="ECEAA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cod4e">
  <a:themeElements>
    <a:clrScheme name="cod4e 7">
      <a:dk1>
        <a:srgbClr val="000000"/>
      </a:dk1>
      <a:lt1>
        <a:srgbClr val="FFFFFF"/>
      </a:lt1>
      <a:dk2>
        <a:srgbClr val="0039A6"/>
      </a:dk2>
      <a:lt2>
        <a:srgbClr val="808080"/>
      </a:lt2>
      <a:accent1>
        <a:srgbClr val="9FCAD3"/>
      </a:accent1>
      <a:accent2>
        <a:srgbClr val="C0C0C0"/>
      </a:accent2>
      <a:accent3>
        <a:srgbClr val="FFFFFF"/>
      </a:accent3>
      <a:accent4>
        <a:srgbClr val="000000"/>
      </a:accent4>
      <a:accent5>
        <a:srgbClr val="CDE1E6"/>
      </a:accent5>
      <a:accent6>
        <a:srgbClr val="AEAEAE"/>
      </a:accent6>
      <a:hlink>
        <a:srgbClr val="91AFBF"/>
      </a:hlink>
      <a:folHlink>
        <a:srgbClr val="ECEAA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