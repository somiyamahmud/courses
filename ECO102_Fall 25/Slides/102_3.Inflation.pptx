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66" r:id="rId2"/>
    <p:sldId id="267" r:id="rId3"/>
    <p:sldId id="268" r:id="rId4"/>
    <p:sldId id="269" r:id="rId5"/>
    <p:sldId id="270" r:id="rId6"/>
    <p:sldId id="271" r:id="rId7"/>
    <p:sldId id="272" r:id="rId8"/>
    <p:sldId id="273" r:id="rId9"/>
    <p:sldId id="274" r:id="rId10"/>
    <p:sldId id="275" r:id="rId1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2" d="100"/>
          <a:sy n="62" d="100"/>
        </p:scale>
        <p:origin x="804" y="4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9" name="Rectangle 8"/>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ctrTitle"/>
          </p:nvPr>
        </p:nvSpPr>
        <p:spPr>
          <a:xfrm>
            <a:off x="1154955" y="2099733"/>
            <a:ext cx="8825658" cy="2677648"/>
          </a:xfrm>
        </p:spPr>
        <p:txBody>
          <a:bodyPr anchor="b"/>
          <a:lstStyle>
            <a:lvl1pPr>
              <a:defRPr sz="5400"/>
            </a:lvl1pPr>
          </a:lstStyle>
          <a:p>
            <a:r>
              <a:rPr lang="en-US"/>
              <a:t>Click to edit Master title style</a:t>
            </a:r>
            <a:endParaRPr lang="en-US" dirty="0"/>
          </a:p>
        </p:txBody>
      </p:sp>
      <p:sp>
        <p:nvSpPr>
          <p:cNvPr id="3" name="Subtitle 2"/>
          <p:cNvSpPr>
            <a:spLocks noGrp="1"/>
          </p:cNvSpPr>
          <p:nvPr>
            <p:ph type="subTitle" idx="1"/>
          </p:nvPr>
        </p:nvSpPr>
        <p:spPr bwMode="gray">
          <a:xfrm>
            <a:off x="1154955" y="4777380"/>
            <a:ext cx="8825658" cy="861420"/>
          </a:xfrm>
        </p:spPr>
        <p:txBody>
          <a:bodyPr anchor="t"/>
          <a:lstStyle>
            <a:lvl1pPr marL="0" indent="0" algn="l">
              <a:buNone/>
              <a:defRPr cap="all">
                <a:solidFill>
                  <a:schemeClr val="accent1">
                    <a:lumMod val="60000"/>
                    <a:lumOff val="4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bwMode="gray">
          <a:xfrm rot="5400000">
            <a:off x="10158984" y="1792224"/>
            <a:ext cx="990599" cy="304799"/>
          </a:xfrm>
        </p:spPr>
        <p:txBody>
          <a:bodyPr anchor="t"/>
          <a:lstStyle>
            <a:lvl1pPr algn="l">
              <a:defRPr b="0" i="0">
                <a:solidFill>
                  <a:schemeClr val="bg1">
                    <a:alpha val="60000"/>
                  </a:schemeClr>
                </a:solidFill>
              </a:defRPr>
            </a:lvl1pPr>
          </a:lstStyle>
          <a:p>
            <a:fld id="{822BDC86-C721-4B24-9464-7F20EF7EDEB0}" type="datetimeFigureOut">
              <a:rPr lang="en-SG" smtClean="0"/>
              <a:t>4/11/2024</a:t>
            </a:fld>
            <a:endParaRPr lang="en-SG"/>
          </a:p>
        </p:txBody>
      </p:sp>
      <p:sp>
        <p:nvSpPr>
          <p:cNvPr id="5" name="Footer Placeholder 4"/>
          <p:cNvSpPr>
            <a:spLocks noGrp="1"/>
          </p:cNvSpPr>
          <p:nvPr>
            <p:ph type="ftr" sz="quarter" idx="11"/>
          </p:nvPr>
        </p:nvSpPr>
        <p:spPr bwMode="gray">
          <a:xfrm rot="5400000">
            <a:off x="8951976" y="3227832"/>
            <a:ext cx="3859795" cy="304801"/>
          </a:xfrm>
        </p:spPr>
        <p:txBody>
          <a:bodyPr/>
          <a:lstStyle>
            <a:lvl1pPr>
              <a:defRPr b="0" i="0">
                <a:solidFill>
                  <a:schemeClr val="bg1">
                    <a:alpha val="60000"/>
                  </a:schemeClr>
                </a:solidFill>
              </a:defRPr>
            </a:lvl1pPr>
          </a:lstStyle>
          <a:p>
            <a:endParaRPr lang="en-SG"/>
          </a:p>
        </p:txBody>
      </p:sp>
      <p:sp>
        <p:nvSpPr>
          <p:cNvPr id="11" name="Rectangle 10"/>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12" name="Slide Number Placeholder 5"/>
          <p:cNvSpPr>
            <a:spLocks noGrp="1"/>
          </p:cNvSpPr>
          <p:nvPr>
            <p:ph type="sldNum" sz="quarter" idx="12"/>
          </p:nvPr>
        </p:nvSpPr>
        <p:spPr>
          <a:xfrm>
            <a:off x="10352540" y="295729"/>
            <a:ext cx="838199" cy="767687"/>
          </a:xfrm>
        </p:spPr>
        <p:txBody>
          <a:bodyPr/>
          <a:lstStyle/>
          <a:p>
            <a:fld id="{3798BC5C-9AE4-4D2D-82CF-E4F277362BE5}" type="slidenum">
              <a:rPr lang="en-SG" smtClean="0"/>
              <a:t>‹#›</a:t>
            </a:fld>
            <a:endParaRPr lang="en-SG"/>
          </a:p>
        </p:txBody>
      </p:sp>
    </p:spTree>
    <p:extLst>
      <p:ext uri="{BB962C8B-B14F-4D97-AF65-F5344CB8AC3E}">
        <p14:creationId xmlns:p14="http://schemas.microsoft.com/office/powerpoint/2010/main" val="275263325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a:xfrm>
            <a:off x="1154954" y="2603500"/>
            <a:ext cx="8825659" cy="34163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22BDC86-C721-4B24-9464-7F20EF7EDEB0}" type="datetimeFigureOut">
              <a:rPr lang="en-SG" smtClean="0"/>
              <a:t>4/11/2024</a:t>
            </a:fld>
            <a:endParaRPr lang="en-SG"/>
          </a:p>
        </p:txBody>
      </p:sp>
      <p:sp>
        <p:nvSpPr>
          <p:cNvPr id="5" name="Footer Placeholder 4"/>
          <p:cNvSpPr>
            <a:spLocks noGrp="1"/>
          </p:cNvSpPr>
          <p:nvPr>
            <p:ph type="ftr" sz="quarter" idx="11"/>
          </p:nvPr>
        </p:nvSpPr>
        <p:spPr/>
        <p:txBody>
          <a:bodyPr/>
          <a:lstStyle/>
          <a:p>
            <a:endParaRPr lang="en-SG"/>
          </a:p>
        </p:txBody>
      </p:sp>
      <p:sp>
        <p:nvSpPr>
          <p:cNvPr id="6" name="Slide Number Placeholder 5"/>
          <p:cNvSpPr>
            <a:spLocks noGrp="1"/>
          </p:cNvSpPr>
          <p:nvPr>
            <p:ph type="sldNum" sz="quarter" idx="12"/>
          </p:nvPr>
        </p:nvSpPr>
        <p:spPr/>
        <p:txBody>
          <a:bodyPr/>
          <a:lstStyle/>
          <a:p>
            <a:fld id="{3798BC5C-9AE4-4D2D-82CF-E4F277362BE5}" type="slidenum">
              <a:rPr lang="en-SG" smtClean="0"/>
              <a:t>‹#›</a:t>
            </a:fld>
            <a:endParaRPr lang="en-SG"/>
          </a:p>
        </p:txBody>
      </p:sp>
    </p:spTree>
    <p:extLst>
      <p:ext uri="{BB962C8B-B14F-4D97-AF65-F5344CB8AC3E}">
        <p14:creationId xmlns:p14="http://schemas.microsoft.com/office/powerpoint/2010/main" val="383151508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grpSp>
        <p:nvGrpSpPr>
          <p:cNvPr id="8" name="Group 7"/>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bwMode="gray">
            <a:xfrm>
              <a:off x="7289800" y="402165"/>
              <a:ext cx="44788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1" name="Freeform 5"/>
            <p:cNvSpPr/>
            <p:nvPr/>
          </p:nvSpPr>
          <p:spPr bwMode="gray">
            <a:xfrm rot="16200000">
              <a:off x="3787244"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p:nvPr/>
          </p:nvSpPr>
          <p:spPr bwMode="gray">
            <a:xfrm rot="15922489">
              <a:off x="4698352"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677645"/>
            <a:ext cx="4351025" cy="2283824"/>
          </a:xfrm>
        </p:spPr>
        <p:txBody>
          <a:bodyPr anchor="ctr"/>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895559" y="2677644"/>
            <a:ext cx="3757545" cy="2283824"/>
          </a:xfrm>
        </p:spPr>
        <p:txBody>
          <a:bodyPr anchor="ctr"/>
          <a:lstStyle>
            <a:lvl1pPr marL="0" indent="0" algn="l">
              <a:buNone/>
              <a:defRPr sz="2000" cap="all">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22BDC86-C721-4B24-9464-7F20EF7EDEB0}" type="datetimeFigureOut">
              <a:rPr lang="en-SG" smtClean="0"/>
              <a:t>4/11/2024</a:t>
            </a:fld>
            <a:endParaRPr lang="en-SG"/>
          </a:p>
        </p:txBody>
      </p:sp>
      <p:sp>
        <p:nvSpPr>
          <p:cNvPr id="5" name="Footer Placeholder 4"/>
          <p:cNvSpPr>
            <a:spLocks noGrp="1"/>
          </p:cNvSpPr>
          <p:nvPr>
            <p:ph type="ftr" sz="quarter" idx="11"/>
          </p:nvPr>
        </p:nvSpPr>
        <p:spPr/>
        <p:txBody>
          <a:bodyPr/>
          <a:lstStyle/>
          <a:p>
            <a:endParaRPr lang="en-SG"/>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3798BC5C-9AE4-4D2D-82CF-E4F277362BE5}" type="slidenum">
              <a:rPr lang="en-SG" smtClean="0"/>
              <a:t>‹#›</a:t>
            </a:fld>
            <a:endParaRPr lang="en-SG"/>
          </a:p>
        </p:txBody>
      </p:sp>
    </p:spTree>
    <p:extLst>
      <p:ext uri="{BB962C8B-B14F-4D97-AF65-F5344CB8AC3E}">
        <p14:creationId xmlns:p14="http://schemas.microsoft.com/office/powerpoint/2010/main" val="301280064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54954" y="2603500"/>
            <a:ext cx="4825158" cy="3416301"/>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08712" y="2603500"/>
            <a:ext cx="4825159" cy="341630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22BDC86-C721-4B24-9464-7F20EF7EDEB0}" type="datetimeFigureOut">
              <a:rPr lang="en-SG" smtClean="0"/>
              <a:t>4/11/2024</a:t>
            </a:fld>
            <a:endParaRPr lang="en-SG"/>
          </a:p>
        </p:txBody>
      </p:sp>
      <p:sp>
        <p:nvSpPr>
          <p:cNvPr id="6" name="Footer Placeholder 5"/>
          <p:cNvSpPr>
            <a:spLocks noGrp="1"/>
          </p:cNvSpPr>
          <p:nvPr>
            <p:ph type="ftr" sz="quarter" idx="11"/>
          </p:nvPr>
        </p:nvSpPr>
        <p:spPr/>
        <p:txBody>
          <a:bodyPr/>
          <a:lstStyle/>
          <a:p>
            <a:endParaRPr lang="en-SG"/>
          </a:p>
        </p:txBody>
      </p:sp>
      <p:sp>
        <p:nvSpPr>
          <p:cNvPr id="7" name="Slide Number Placeholder 6"/>
          <p:cNvSpPr>
            <a:spLocks noGrp="1"/>
          </p:cNvSpPr>
          <p:nvPr>
            <p:ph type="sldNum" sz="quarter" idx="12"/>
          </p:nvPr>
        </p:nvSpPr>
        <p:spPr/>
        <p:txBody>
          <a:bodyPr/>
          <a:lstStyle/>
          <a:p>
            <a:fld id="{3798BC5C-9AE4-4D2D-82CF-E4F277362BE5}" type="slidenum">
              <a:rPr lang="en-SG" smtClean="0"/>
              <a:t>‹#›</a:t>
            </a:fld>
            <a:endParaRPr lang="en-SG"/>
          </a:p>
        </p:txBody>
      </p:sp>
    </p:spTree>
    <p:extLst>
      <p:ext uri="{BB962C8B-B14F-4D97-AF65-F5344CB8AC3E}">
        <p14:creationId xmlns:p14="http://schemas.microsoft.com/office/powerpoint/2010/main" val="193127559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54954" y="2603500"/>
            <a:ext cx="4825157"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54954" y="3179762"/>
            <a:ext cx="4825158" cy="2840039"/>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08712" y="2603500"/>
            <a:ext cx="4825159"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08712" y="3179762"/>
            <a:ext cx="4825159" cy="2840039"/>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22BDC86-C721-4B24-9464-7F20EF7EDEB0}" type="datetimeFigureOut">
              <a:rPr lang="en-SG" smtClean="0"/>
              <a:t>4/11/2024</a:t>
            </a:fld>
            <a:endParaRPr lang="en-SG"/>
          </a:p>
        </p:txBody>
      </p:sp>
      <p:sp>
        <p:nvSpPr>
          <p:cNvPr id="8" name="Footer Placeholder 7"/>
          <p:cNvSpPr>
            <a:spLocks noGrp="1"/>
          </p:cNvSpPr>
          <p:nvPr>
            <p:ph type="ftr" sz="quarter" idx="11"/>
          </p:nvPr>
        </p:nvSpPr>
        <p:spPr/>
        <p:txBody>
          <a:bodyPr/>
          <a:lstStyle/>
          <a:p>
            <a:endParaRPr lang="en-SG"/>
          </a:p>
        </p:txBody>
      </p:sp>
      <p:sp>
        <p:nvSpPr>
          <p:cNvPr id="9" name="Slide Number Placeholder 8"/>
          <p:cNvSpPr>
            <a:spLocks noGrp="1"/>
          </p:cNvSpPr>
          <p:nvPr>
            <p:ph type="sldNum" sz="quarter" idx="12"/>
          </p:nvPr>
        </p:nvSpPr>
        <p:spPr/>
        <p:txBody>
          <a:bodyPr/>
          <a:lstStyle/>
          <a:p>
            <a:fld id="{3798BC5C-9AE4-4D2D-82CF-E4F277362BE5}" type="slidenum">
              <a:rPr lang="en-SG" smtClean="0"/>
              <a:t>‹#›</a:t>
            </a:fld>
            <a:endParaRPr lang="en-SG"/>
          </a:p>
        </p:txBody>
      </p:sp>
    </p:spTree>
    <p:extLst>
      <p:ext uri="{BB962C8B-B14F-4D97-AF65-F5344CB8AC3E}">
        <p14:creationId xmlns:p14="http://schemas.microsoft.com/office/powerpoint/2010/main" val="286521802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9" name="Title 1"/>
          <p:cNvSpPr>
            <a:spLocks noGrp="1"/>
          </p:cNvSpPr>
          <p:nvPr>
            <p:ph type="title"/>
          </p:nvPr>
        </p:nvSpPr>
        <p:spPr>
          <a:xfrm>
            <a:off x="1154954" y="973668"/>
            <a:ext cx="8761413" cy="706964"/>
          </a:xfrm>
        </p:spPr>
        <p:txBody>
          <a:bodyPr/>
          <a:lstStyle>
            <a:lvl1pPr>
              <a:defRPr/>
            </a:lvl1p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22BDC86-C721-4B24-9464-7F20EF7EDEB0}" type="datetimeFigureOut">
              <a:rPr lang="en-SG" smtClean="0"/>
              <a:t>4/11/2024</a:t>
            </a:fld>
            <a:endParaRPr lang="en-SG"/>
          </a:p>
        </p:txBody>
      </p:sp>
      <p:sp>
        <p:nvSpPr>
          <p:cNvPr id="4" name="Footer Placeholder 3"/>
          <p:cNvSpPr>
            <a:spLocks noGrp="1"/>
          </p:cNvSpPr>
          <p:nvPr>
            <p:ph type="ftr" sz="quarter" idx="11"/>
          </p:nvPr>
        </p:nvSpPr>
        <p:spPr/>
        <p:txBody>
          <a:bodyPr/>
          <a:lstStyle/>
          <a:p>
            <a:endParaRPr lang="en-SG"/>
          </a:p>
        </p:txBody>
      </p:sp>
      <p:sp>
        <p:nvSpPr>
          <p:cNvPr id="5" name="Slide Number Placeholder 4"/>
          <p:cNvSpPr>
            <a:spLocks noGrp="1"/>
          </p:cNvSpPr>
          <p:nvPr>
            <p:ph type="sldNum" sz="quarter" idx="12"/>
          </p:nvPr>
        </p:nvSpPr>
        <p:spPr/>
        <p:txBody>
          <a:bodyPr/>
          <a:lstStyle/>
          <a:p>
            <a:fld id="{3798BC5C-9AE4-4D2D-82CF-E4F277362BE5}" type="slidenum">
              <a:rPr lang="en-SG" smtClean="0"/>
              <a:t>‹#›</a:t>
            </a:fld>
            <a:endParaRPr lang="en-SG"/>
          </a:p>
        </p:txBody>
      </p:sp>
    </p:spTree>
    <p:extLst>
      <p:ext uri="{BB962C8B-B14F-4D97-AF65-F5344CB8AC3E}">
        <p14:creationId xmlns:p14="http://schemas.microsoft.com/office/powerpoint/2010/main" val="402237305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22BDC86-C721-4B24-9464-7F20EF7EDEB0}" type="datetimeFigureOut">
              <a:rPr lang="en-SG" smtClean="0"/>
              <a:t>4/11/2024</a:t>
            </a:fld>
            <a:endParaRPr lang="en-SG"/>
          </a:p>
        </p:txBody>
      </p:sp>
      <p:sp>
        <p:nvSpPr>
          <p:cNvPr id="3" name="Footer Placeholder 2"/>
          <p:cNvSpPr>
            <a:spLocks noGrp="1"/>
          </p:cNvSpPr>
          <p:nvPr>
            <p:ph type="ftr" sz="quarter" idx="11"/>
          </p:nvPr>
        </p:nvSpPr>
        <p:spPr/>
        <p:txBody>
          <a:bodyPr/>
          <a:lstStyle/>
          <a:p>
            <a:endParaRPr lang="en-SG"/>
          </a:p>
        </p:txBody>
      </p:sp>
      <p:sp>
        <p:nvSpPr>
          <p:cNvPr id="7" name="Rectangle 6"/>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4" name="Slide Number Placeholder 3"/>
          <p:cNvSpPr>
            <a:spLocks noGrp="1"/>
          </p:cNvSpPr>
          <p:nvPr>
            <p:ph type="sldNum" sz="quarter" idx="12"/>
          </p:nvPr>
        </p:nvSpPr>
        <p:spPr/>
        <p:txBody>
          <a:bodyPr/>
          <a:lstStyle/>
          <a:p>
            <a:fld id="{3798BC5C-9AE4-4D2D-82CF-E4F277362BE5}" type="slidenum">
              <a:rPr lang="en-SG" smtClean="0"/>
              <a:t>‹#›</a:t>
            </a:fld>
            <a:endParaRPr lang="en-SG"/>
          </a:p>
        </p:txBody>
      </p:sp>
    </p:spTree>
    <p:extLst>
      <p:ext uri="{BB962C8B-B14F-4D97-AF65-F5344CB8AC3E}">
        <p14:creationId xmlns:p14="http://schemas.microsoft.com/office/powerpoint/2010/main" val="75137753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5713412" y="402165"/>
              <a:ext cx="6055253"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8" name="Freeform 5"/>
            <p:cNvSpPr/>
            <p:nvPr/>
          </p:nvSpPr>
          <p:spPr bwMode="gray">
            <a:xfrm rot="15922489">
              <a:off x="3140485"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2229377"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5" y="1295400"/>
            <a:ext cx="2793158" cy="16002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5781146" y="1447800"/>
            <a:ext cx="5190066" cy="4572000"/>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bwMode="gray">
          <a:xfrm>
            <a:off x="1154954" y="3129280"/>
            <a:ext cx="2793158" cy="2895599"/>
          </a:xfrm>
        </p:spPr>
        <p:txBody>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822BDC86-C721-4B24-9464-7F20EF7EDEB0}" type="datetimeFigureOut">
              <a:rPr lang="en-SG" smtClean="0"/>
              <a:t>4/11/2024</a:t>
            </a:fld>
            <a:endParaRPr lang="en-SG"/>
          </a:p>
        </p:txBody>
      </p:sp>
      <p:sp>
        <p:nvSpPr>
          <p:cNvPr id="6" name="Footer Placeholder 5"/>
          <p:cNvSpPr>
            <a:spLocks noGrp="1"/>
          </p:cNvSpPr>
          <p:nvPr>
            <p:ph type="ftr" sz="quarter" idx="11"/>
          </p:nvPr>
        </p:nvSpPr>
        <p:spPr/>
        <p:txBody>
          <a:bodyPr/>
          <a:lstStyle/>
          <a:p>
            <a:endParaRPr lang="en-SG"/>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3798BC5C-9AE4-4D2D-82CF-E4F277362BE5}" type="slidenum">
              <a:rPr lang="en-SG" smtClean="0"/>
              <a:t>‹#›</a:t>
            </a:fld>
            <a:endParaRPr lang="en-SG"/>
          </a:p>
        </p:txBody>
      </p:sp>
    </p:spTree>
    <p:extLst>
      <p:ext uri="{BB962C8B-B14F-4D97-AF65-F5344CB8AC3E}">
        <p14:creationId xmlns:p14="http://schemas.microsoft.com/office/powerpoint/2010/main" val="260696962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6172200" y="402165"/>
              <a:ext cx="55964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22" name="Freeform 5"/>
            <p:cNvSpPr/>
            <p:nvPr/>
          </p:nvSpPr>
          <p:spPr bwMode="gray">
            <a:xfrm rot="15922489">
              <a:off x="4203594"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32954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5" y="1693333"/>
            <a:ext cx="3865134" cy="1735667"/>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547870" y="1143000"/>
            <a:ext cx="3227193"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marL="0" lvl="0" indent="0" algn="ctr">
              <a:buNone/>
            </a:pPr>
            <a:r>
              <a:rPr lang="en-US"/>
              <a:t>Click icon to add picture</a:t>
            </a:r>
            <a:endParaRPr lang="en-US" dirty="0"/>
          </a:p>
        </p:txBody>
      </p:sp>
      <p:sp>
        <p:nvSpPr>
          <p:cNvPr id="4" name="Text Placeholder 3"/>
          <p:cNvSpPr>
            <a:spLocks noGrp="1"/>
          </p:cNvSpPr>
          <p:nvPr>
            <p:ph type="body" sz="half" idx="2"/>
          </p:nvPr>
        </p:nvSpPr>
        <p:spPr bwMode="gray">
          <a:xfrm>
            <a:off x="1154954" y="3657600"/>
            <a:ext cx="3859212" cy="1371600"/>
          </a:xfrm>
        </p:spPr>
        <p:txBody>
          <a:bodyPr>
            <a:normAutofit/>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822BDC86-C721-4B24-9464-7F20EF7EDEB0}" type="datetimeFigureOut">
              <a:rPr lang="en-SG" smtClean="0"/>
              <a:t>4/11/2024</a:t>
            </a:fld>
            <a:endParaRPr lang="en-SG"/>
          </a:p>
        </p:txBody>
      </p:sp>
      <p:sp>
        <p:nvSpPr>
          <p:cNvPr id="6" name="Footer Placeholder 5"/>
          <p:cNvSpPr>
            <a:spLocks noGrp="1"/>
          </p:cNvSpPr>
          <p:nvPr>
            <p:ph type="ftr" sz="quarter" idx="11"/>
          </p:nvPr>
        </p:nvSpPr>
        <p:spPr/>
        <p:txBody>
          <a:bodyPr/>
          <a:lstStyle/>
          <a:p>
            <a:endParaRPr lang="en-SG"/>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3798BC5C-9AE4-4D2D-82CF-E4F277362BE5}" type="slidenum">
              <a:rPr lang="en-SG" smtClean="0"/>
              <a:t>‹#›</a:t>
            </a:fld>
            <a:endParaRPr lang="en-SG"/>
          </a:p>
        </p:txBody>
      </p:sp>
    </p:spTree>
    <p:extLst>
      <p:ext uri="{BB962C8B-B14F-4D97-AF65-F5344CB8AC3E}">
        <p14:creationId xmlns:p14="http://schemas.microsoft.com/office/powerpoint/2010/main" val="307312233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3" name="Rectangle 12"/>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Freeform 5"/>
            <p:cNvSpPr/>
            <p:nvPr/>
          </p:nvSpPr>
          <p:spPr bwMode="gray">
            <a:xfrm rot="10371525">
              <a:off x="263767" y="443825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1" name="Freeform 5"/>
            <p:cNvSpPr/>
            <p:nvPr/>
          </p:nvSpPr>
          <p:spPr bwMode="gray">
            <a:xfrm rot="10800000">
              <a:off x="459506" y="321130"/>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4969927"/>
            <a:ext cx="8825659"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4" y="685800"/>
            <a:ext cx="8825659" cy="3429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4" y="5536665"/>
            <a:ext cx="8825658" cy="493712"/>
          </a:xfrm>
        </p:spPr>
        <p:txBody>
          <a:bodyPr>
            <a:normAutofit/>
          </a:bodyPr>
          <a:lstStyle>
            <a:lvl1pPr marL="0" indent="0">
              <a:buNone/>
              <a:defRPr sz="12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822BDC86-C721-4B24-9464-7F20EF7EDEB0}" type="datetimeFigureOut">
              <a:rPr lang="en-SG" smtClean="0"/>
              <a:t>4/11/2024</a:t>
            </a:fld>
            <a:endParaRPr lang="en-SG"/>
          </a:p>
        </p:txBody>
      </p:sp>
      <p:sp>
        <p:nvSpPr>
          <p:cNvPr id="6" name="Footer Placeholder 5"/>
          <p:cNvSpPr>
            <a:spLocks noGrp="1"/>
          </p:cNvSpPr>
          <p:nvPr>
            <p:ph type="ftr" sz="quarter" idx="11"/>
          </p:nvPr>
        </p:nvSpPr>
        <p:spPr/>
        <p:txBody>
          <a:bodyPr/>
          <a:lstStyle/>
          <a:p>
            <a:endParaRPr lang="en-SG"/>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3798BC5C-9AE4-4D2D-82CF-E4F277362BE5}" type="slidenum">
              <a:rPr lang="en-SG" smtClean="0"/>
              <a:t>‹#›</a:t>
            </a:fld>
            <a:endParaRPr lang="en-SG"/>
          </a:p>
        </p:txBody>
      </p:sp>
    </p:spTree>
    <p:extLst>
      <p:ext uri="{BB962C8B-B14F-4D97-AF65-F5344CB8AC3E}">
        <p14:creationId xmlns:p14="http://schemas.microsoft.com/office/powerpoint/2010/main" val="45592361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Title and Caption">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Freeform 5"/>
            <p:cNvSpPr/>
            <p:nvPr/>
          </p:nvSpPr>
          <p:spPr bwMode="gray">
            <a:xfrm rot="21010068">
              <a:off x="8490951" y="271487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7" name="Freeform 5"/>
            <p:cNvSpPr/>
            <p:nvPr/>
          </p:nvSpPr>
          <p:spPr bwMode="gray">
            <a:xfrm>
              <a:off x="455612" y="2801319"/>
              <a:ext cx="11277600" cy="3602637"/>
            </a:xfrm>
            <a:custGeom>
              <a:avLst/>
              <a:gdLst/>
              <a:ahLst/>
              <a:cxnLst/>
              <a:rect l="l" t="t" r="r" b="b"/>
              <a:pathLst>
                <a:path w="10000" h="7946">
                  <a:moveTo>
                    <a:pt x="0" y="0"/>
                  </a:moveTo>
                  <a:lnTo>
                    <a:pt x="0" y="7945"/>
                  </a:lnTo>
                  <a:lnTo>
                    <a:pt x="10000" y="7946"/>
                  </a:lnTo>
                  <a:lnTo>
                    <a:pt x="10000" y="4"/>
                  </a:lnTo>
                  <a:lnTo>
                    <a:pt x="10000" y="4"/>
                  </a:lnTo>
                  <a:lnTo>
                    <a:pt x="9773" y="91"/>
                  </a:lnTo>
                  <a:lnTo>
                    <a:pt x="9547" y="175"/>
                  </a:lnTo>
                  <a:lnTo>
                    <a:pt x="9320" y="256"/>
                  </a:lnTo>
                  <a:lnTo>
                    <a:pt x="9092" y="326"/>
                  </a:lnTo>
                  <a:lnTo>
                    <a:pt x="8865" y="396"/>
                  </a:lnTo>
                  <a:lnTo>
                    <a:pt x="8637" y="462"/>
                  </a:lnTo>
                  <a:lnTo>
                    <a:pt x="8412" y="518"/>
                  </a:lnTo>
                  <a:lnTo>
                    <a:pt x="8184" y="571"/>
                  </a:lnTo>
                  <a:lnTo>
                    <a:pt x="7957" y="620"/>
                  </a:lnTo>
                  <a:lnTo>
                    <a:pt x="7734" y="662"/>
                  </a:lnTo>
                  <a:lnTo>
                    <a:pt x="7508" y="704"/>
                  </a:lnTo>
                  <a:lnTo>
                    <a:pt x="7285" y="739"/>
                  </a:lnTo>
                  <a:lnTo>
                    <a:pt x="7062" y="767"/>
                  </a:lnTo>
                  <a:lnTo>
                    <a:pt x="6840" y="795"/>
                  </a:lnTo>
                  <a:lnTo>
                    <a:pt x="6620" y="819"/>
                  </a:lnTo>
                  <a:lnTo>
                    <a:pt x="6402" y="837"/>
                  </a:lnTo>
                  <a:lnTo>
                    <a:pt x="6184" y="851"/>
                  </a:lnTo>
                  <a:lnTo>
                    <a:pt x="5968" y="865"/>
                  </a:lnTo>
                  <a:lnTo>
                    <a:pt x="5755" y="872"/>
                  </a:lnTo>
                  <a:lnTo>
                    <a:pt x="5542" y="879"/>
                  </a:lnTo>
                  <a:lnTo>
                    <a:pt x="5332" y="882"/>
                  </a:lnTo>
                  <a:lnTo>
                    <a:pt x="5124" y="879"/>
                  </a:lnTo>
                  <a:lnTo>
                    <a:pt x="4918" y="879"/>
                  </a:lnTo>
                  <a:lnTo>
                    <a:pt x="4714" y="872"/>
                  </a:lnTo>
                  <a:lnTo>
                    <a:pt x="4514" y="861"/>
                  </a:lnTo>
                  <a:lnTo>
                    <a:pt x="4316" y="851"/>
                  </a:lnTo>
                  <a:lnTo>
                    <a:pt x="4122" y="840"/>
                  </a:lnTo>
                  <a:lnTo>
                    <a:pt x="3929" y="823"/>
                  </a:lnTo>
                  <a:lnTo>
                    <a:pt x="3739" y="805"/>
                  </a:lnTo>
                  <a:lnTo>
                    <a:pt x="3553" y="788"/>
                  </a:lnTo>
                  <a:lnTo>
                    <a:pt x="3190" y="742"/>
                  </a:lnTo>
                  <a:lnTo>
                    <a:pt x="2842" y="693"/>
                  </a:lnTo>
                  <a:lnTo>
                    <a:pt x="2508" y="641"/>
                  </a:lnTo>
                  <a:lnTo>
                    <a:pt x="2192" y="585"/>
                  </a:lnTo>
                  <a:lnTo>
                    <a:pt x="1890" y="525"/>
                  </a:lnTo>
                  <a:lnTo>
                    <a:pt x="1610" y="462"/>
                  </a:lnTo>
                  <a:lnTo>
                    <a:pt x="1347" y="399"/>
                  </a:lnTo>
                  <a:lnTo>
                    <a:pt x="1105" y="336"/>
                  </a:lnTo>
                  <a:lnTo>
                    <a:pt x="883" y="277"/>
                  </a:lnTo>
                  <a:lnTo>
                    <a:pt x="686" y="221"/>
                  </a:lnTo>
                  <a:lnTo>
                    <a:pt x="508" y="168"/>
                  </a:lnTo>
                  <a:lnTo>
                    <a:pt x="358" y="123"/>
                  </a:lnTo>
                  <a:lnTo>
                    <a:pt x="232" y="81"/>
                  </a:lnTo>
                  <a:lnTo>
                    <a:pt x="59" y="21"/>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48798" y="1063417"/>
            <a:ext cx="8831816" cy="1372986"/>
          </a:xfrm>
        </p:spPr>
        <p:txBody>
          <a:bodyPr/>
          <a:lstStyle>
            <a:lvl1pPr>
              <a:defRPr sz="4000"/>
            </a:lvl1pPr>
          </a:lstStyle>
          <a:p>
            <a:r>
              <a:rPr lang="en-US"/>
              <a:t>Click to edit Master title style</a:t>
            </a:r>
            <a:endParaRPr lang="en-US" dirty="0"/>
          </a:p>
        </p:txBody>
      </p:sp>
      <p:sp>
        <p:nvSpPr>
          <p:cNvPr id="8" name="Text Placeholder 3"/>
          <p:cNvSpPr>
            <a:spLocks noGrp="1"/>
          </p:cNvSpPr>
          <p:nvPr>
            <p:ph type="body" sz="half" idx="2"/>
          </p:nvPr>
        </p:nvSpPr>
        <p:spPr>
          <a:xfrm>
            <a:off x="1154954" y="3543300"/>
            <a:ext cx="8825659" cy="24765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822BDC86-C721-4B24-9464-7F20EF7EDEB0}" type="datetimeFigureOut">
              <a:rPr lang="en-SG" smtClean="0"/>
              <a:t>4/11/2024</a:t>
            </a:fld>
            <a:endParaRPr lang="en-SG"/>
          </a:p>
        </p:txBody>
      </p:sp>
      <p:sp>
        <p:nvSpPr>
          <p:cNvPr id="5" name="Footer Placeholder 4"/>
          <p:cNvSpPr>
            <a:spLocks noGrp="1"/>
          </p:cNvSpPr>
          <p:nvPr>
            <p:ph type="ftr" sz="quarter" idx="11"/>
          </p:nvPr>
        </p:nvSpPr>
        <p:spPr/>
        <p:txBody>
          <a:bodyPr/>
          <a:lstStyle/>
          <a:p>
            <a:endParaRPr lang="en-SG"/>
          </a:p>
        </p:txBody>
      </p:sp>
      <p:sp>
        <p:nvSpPr>
          <p:cNvPr id="13" name="Rectangle 12"/>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3798BC5C-9AE4-4D2D-82CF-E4F277362BE5}" type="slidenum">
              <a:rPr lang="en-SG" smtClean="0"/>
              <a:t>‹#›</a:t>
            </a:fld>
            <a:endParaRPr lang="en-SG"/>
          </a:p>
        </p:txBody>
      </p:sp>
    </p:spTree>
    <p:extLst>
      <p:ext uri="{BB962C8B-B14F-4D97-AF65-F5344CB8AC3E}">
        <p14:creationId xmlns:p14="http://schemas.microsoft.com/office/powerpoint/2010/main" val="31359383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Quote with Caption">
    <p:spTree>
      <p:nvGrpSpPr>
        <p:cNvPr id="1" name=""/>
        <p:cNvGrpSpPr/>
        <p:nvPr/>
      </p:nvGrpSpPr>
      <p:grpSpPr>
        <a:xfrm>
          <a:off x="0" y="0"/>
          <a:ext cx="0" cy="0"/>
          <a:chOff x="0" y="0"/>
          <a:chExt cx="0" cy="0"/>
        </a:xfrm>
      </p:grpSpPr>
      <p:grpSp>
        <p:nvGrpSpPr>
          <p:cNvPr id="3" name="Group 2"/>
          <p:cNvGrpSpPr/>
          <p:nvPr/>
        </p:nvGrpSpPr>
        <p:grpSpPr>
          <a:xfrm>
            <a:off x="0" y="0"/>
            <a:ext cx="12192000" cy="6858000"/>
            <a:chOff x="0" y="0"/>
            <a:chExt cx="12192000" cy="6858000"/>
          </a:xfrm>
        </p:grpSpPr>
        <p:sp>
          <p:nvSpPr>
            <p:cNvPr id="17" name="Rectangle 16"/>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0" name="Oval 19"/>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3" name="Oval 22"/>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4" name="Oval 23"/>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Oval 24"/>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Freeform 5"/>
            <p:cNvSpPr/>
            <p:nvPr/>
          </p:nvSpPr>
          <p:spPr bwMode="gray">
            <a:xfrm rot="21010068">
              <a:off x="8490951" y="41851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8"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16" name="TextBox 15"/>
          <p:cNvSpPr txBox="1"/>
          <p:nvPr/>
        </p:nvSpPr>
        <p:spPr bwMode="gray">
          <a:xfrm>
            <a:off x="881566" y="607336"/>
            <a:ext cx="801912" cy="1569660"/>
          </a:xfrm>
          <a:prstGeom prst="rect">
            <a:avLst/>
          </a:prstGeom>
          <a:noFill/>
        </p:spPr>
        <p:txBody>
          <a:bodyPr wrap="square" rtlCol="0">
            <a:spAutoFit/>
          </a:bodyPr>
          <a:lstStyle/>
          <a:p>
            <a:pPr algn="r"/>
            <a:r>
              <a:rPr lang="en-US" sz="9600" b="0" i="0" dirty="0">
                <a:solidFill>
                  <a:schemeClr val="accent1">
                    <a:lumMod val="60000"/>
                    <a:lumOff val="40000"/>
                  </a:schemeClr>
                </a:solidFill>
                <a:latin typeface="Arial"/>
                <a:cs typeface="Arial"/>
              </a:rPr>
              <a:t>“</a:t>
            </a:r>
          </a:p>
        </p:txBody>
      </p:sp>
      <p:sp>
        <p:nvSpPr>
          <p:cNvPr id="13" name="TextBox 12"/>
          <p:cNvSpPr txBox="1"/>
          <p:nvPr/>
        </p:nvSpPr>
        <p:spPr bwMode="gray">
          <a:xfrm>
            <a:off x="9884458" y="2613787"/>
            <a:ext cx="652763" cy="1569660"/>
          </a:xfrm>
          <a:prstGeom prst="rect">
            <a:avLst/>
          </a:prstGeom>
          <a:noFill/>
        </p:spPr>
        <p:txBody>
          <a:bodyPr wrap="square" rtlCol="0">
            <a:spAutoFit/>
          </a:bodyPr>
          <a:lstStyle/>
          <a:p>
            <a:pPr algn="r"/>
            <a:r>
              <a:rPr lang="en-US" sz="9600" b="0" i="0" dirty="0">
                <a:solidFill>
                  <a:schemeClr val="accent1">
                    <a:lumMod val="60000"/>
                    <a:lumOff val="40000"/>
                  </a:schemeClr>
                </a:solidFill>
                <a:latin typeface="Arial"/>
                <a:cs typeface="Arial"/>
              </a:rPr>
              <a:t>”</a:t>
            </a:r>
          </a:p>
        </p:txBody>
      </p:sp>
      <p:sp>
        <p:nvSpPr>
          <p:cNvPr id="2" name="Title 1"/>
          <p:cNvSpPr>
            <a:spLocks noGrp="1"/>
          </p:cNvSpPr>
          <p:nvPr>
            <p:ph type="title"/>
          </p:nvPr>
        </p:nvSpPr>
        <p:spPr>
          <a:xfrm>
            <a:off x="1581878" y="982134"/>
            <a:ext cx="8453906" cy="2696632"/>
          </a:xfrm>
        </p:spPr>
        <p:txBody>
          <a:bodyPr/>
          <a:lstStyle>
            <a:lvl1pPr>
              <a:defRPr sz="4000"/>
            </a:lvl1pPr>
          </a:lstStyle>
          <a:p>
            <a:r>
              <a:rPr lang="en-US"/>
              <a:t>Click to edit Master title style</a:t>
            </a:r>
            <a:endParaRPr lang="en-US" dirty="0"/>
          </a:p>
        </p:txBody>
      </p:sp>
      <p:sp>
        <p:nvSpPr>
          <p:cNvPr id="14" name="Text Placeholder 3"/>
          <p:cNvSpPr>
            <a:spLocks noGrp="1"/>
          </p:cNvSpPr>
          <p:nvPr>
            <p:ph type="body" sz="half" idx="13"/>
          </p:nvPr>
        </p:nvSpPr>
        <p:spPr bwMode="gray">
          <a:xfrm>
            <a:off x="1945945" y="3678766"/>
            <a:ext cx="7731219" cy="342174"/>
          </a:xfrm>
        </p:spPr>
        <p:txBody>
          <a:bodyPr anchor="t">
            <a:normAutofit/>
          </a:bodyPr>
          <a:lstStyle>
            <a:lvl1pPr marL="0" indent="0">
              <a:buNone/>
              <a:defRPr lang="en-US" sz="1400" b="0" i="0" kern="1200" cap="small" dirty="0">
                <a:solidFill>
                  <a:schemeClr val="accent1">
                    <a:lumMod val="60000"/>
                    <a:lumOff val="40000"/>
                  </a:schemeClr>
                </a:solidFill>
                <a:latin typeface="+mn-lt"/>
                <a:ea typeface="+mn-ea"/>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0" name="Text Placeholder 3"/>
          <p:cNvSpPr>
            <a:spLocks noGrp="1"/>
          </p:cNvSpPr>
          <p:nvPr>
            <p:ph type="body" sz="half" idx="2"/>
          </p:nvPr>
        </p:nvSpPr>
        <p:spPr>
          <a:xfrm>
            <a:off x="1154954" y="5029199"/>
            <a:ext cx="9244897" cy="997857"/>
          </a:xfrm>
        </p:spPr>
        <p:txBody>
          <a:bodyPr anchor="ct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822BDC86-C721-4B24-9464-7F20EF7EDEB0}" type="datetimeFigureOut">
              <a:rPr lang="en-SG" smtClean="0"/>
              <a:t>4/11/2024</a:t>
            </a:fld>
            <a:endParaRPr lang="en-SG"/>
          </a:p>
        </p:txBody>
      </p:sp>
      <p:sp>
        <p:nvSpPr>
          <p:cNvPr id="5" name="Footer Placeholder 4"/>
          <p:cNvSpPr>
            <a:spLocks noGrp="1"/>
          </p:cNvSpPr>
          <p:nvPr>
            <p:ph type="ftr" sz="quarter" idx="11"/>
          </p:nvPr>
        </p:nvSpPr>
        <p:spPr/>
        <p:txBody>
          <a:bodyPr/>
          <a:lstStyle/>
          <a:p>
            <a:endParaRPr lang="en-SG"/>
          </a:p>
        </p:txBody>
      </p:sp>
      <p:sp>
        <p:nvSpPr>
          <p:cNvPr id="19" name="Rectangle 18"/>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3798BC5C-9AE4-4D2D-82CF-E4F277362BE5}" type="slidenum">
              <a:rPr lang="en-SG" smtClean="0"/>
              <a:t>‹#›</a:t>
            </a:fld>
            <a:endParaRPr lang="en-SG"/>
          </a:p>
        </p:txBody>
      </p:sp>
    </p:spTree>
    <p:extLst>
      <p:ext uri="{BB962C8B-B14F-4D97-AF65-F5344CB8AC3E}">
        <p14:creationId xmlns:p14="http://schemas.microsoft.com/office/powerpoint/2010/main" val="81717303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Name Card">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3" name="Freeform 5"/>
            <p:cNvSpPr/>
            <p:nvPr/>
          </p:nvSpPr>
          <p:spPr bwMode="gray">
            <a:xfrm rot="21010068">
              <a:off x="8490951" y="4193583"/>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8"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370667"/>
            <a:ext cx="8825660" cy="1822514"/>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5024967"/>
            <a:ext cx="8825659" cy="860400"/>
          </a:xfrm>
        </p:spPr>
        <p:txBody>
          <a:bodyPr anchor="t"/>
          <a:lstStyle>
            <a:lvl1pPr marL="0" indent="0" algn="l">
              <a:buNone/>
              <a:defRPr sz="2000" cap="none">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22BDC86-C721-4B24-9464-7F20EF7EDEB0}" type="datetimeFigureOut">
              <a:rPr lang="en-SG" smtClean="0"/>
              <a:t>4/11/2024</a:t>
            </a:fld>
            <a:endParaRPr lang="en-SG"/>
          </a:p>
        </p:txBody>
      </p:sp>
      <p:sp>
        <p:nvSpPr>
          <p:cNvPr id="5" name="Footer Placeholder 4"/>
          <p:cNvSpPr>
            <a:spLocks noGrp="1"/>
          </p:cNvSpPr>
          <p:nvPr>
            <p:ph type="ftr" sz="quarter" idx="11"/>
          </p:nvPr>
        </p:nvSpPr>
        <p:spPr/>
        <p:txBody>
          <a:bodyPr/>
          <a:lstStyle/>
          <a:p>
            <a:endParaRPr lang="en-SG"/>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3798BC5C-9AE4-4D2D-82CF-E4F277362BE5}" type="slidenum">
              <a:rPr lang="en-SG" smtClean="0"/>
              <a:t>‹#›</a:t>
            </a:fld>
            <a:endParaRPr lang="en-SG"/>
          </a:p>
        </p:txBody>
      </p:sp>
    </p:spTree>
    <p:extLst>
      <p:ext uri="{BB962C8B-B14F-4D97-AF65-F5344CB8AC3E}">
        <p14:creationId xmlns:p14="http://schemas.microsoft.com/office/powerpoint/2010/main" val="155661480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54954" y="2603502"/>
            <a:ext cx="314187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1154953" y="3179764"/>
            <a:ext cx="3141879"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4512721" y="2603500"/>
            <a:ext cx="3147009"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4512721" y="3179763"/>
            <a:ext cx="3147009"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888135" y="2603501"/>
            <a:ext cx="3145730"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7888329" y="3179762"/>
            <a:ext cx="3145536"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440397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777240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822BDC86-C721-4B24-9464-7F20EF7EDEB0}" type="datetimeFigureOut">
              <a:rPr lang="en-SG" smtClean="0"/>
              <a:t>4/11/2024</a:t>
            </a:fld>
            <a:endParaRPr lang="en-SG"/>
          </a:p>
        </p:txBody>
      </p:sp>
      <p:sp>
        <p:nvSpPr>
          <p:cNvPr id="8" name="Footer Placeholder 7"/>
          <p:cNvSpPr>
            <a:spLocks noGrp="1"/>
          </p:cNvSpPr>
          <p:nvPr>
            <p:ph type="ftr" sz="quarter" idx="11"/>
          </p:nvPr>
        </p:nvSpPr>
        <p:spPr/>
        <p:txBody>
          <a:bodyPr/>
          <a:lstStyle/>
          <a:p>
            <a:endParaRPr lang="en-SG"/>
          </a:p>
        </p:txBody>
      </p:sp>
      <p:sp>
        <p:nvSpPr>
          <p:cNvPr id="9" name="Slide Number Placeholder 8"/>
          <p:cNvSpPr>
            <a:spLocks noGrp="1"/>
          </p:cNvSpPr>
          <p:nvPr>
            <p:ph type="sldNum" sz="quarter" idx="12"/>
          </p:nvPr>
        </p:nvSpPr>
        <p:spPr/>
        <p:txBody>
          <a:bodyPr/>
          <a:lstStyle/>
          <a:p>
            <a:fld id="{3798BC5C-9AE4-4D2D-82CF-E4F277362BE5}" type="slidenum">
              <a:rPr lang="en-SG" smtClean="0"/>
              <a:t>‹#›</a:t>
            </a:fld>
            <a:endParaRPr lang="en-SG"/>
          </a:p>
        </p:txBody>
      </p:sp>
    </p:spTree>
    <p:extLst>
      <p:ext uri="{BB962C8B-B14F-4D97-AF65-F5344CB8AC3E}">
        <p14:creationId xmlns:p14="http://schemas.microsoft.com/office/powerpoint/2010/main" val="182157997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54954" y="4532844"/>
            <a:ext cx="305043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Picture Placeholder 2"/>
          <p:cNvSpPr>
            <a:spLocks noGrp="1" noChangeAspect="1"/>
          </p:cNvSpPr>
          <p:nvPr>
            <p:ph type="pic" idx="15"/>
          </p:nvPr>
        </p:nvSpPr>
        <p:spPr>
          <a:xfrm>
            <a:off x="1334553"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1154954" y="5109106"/>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4568865" y="4532844"/>
            <a:ext cx="3050438" cy="576263"/>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1" name="Picture Placeholder 2"/>
          <p:cNvSpPr>
            <a:spLocks noGrp="1" noChangeAspect="1"/>
          </p:cNvSpPr>
          <p:nvPr>
            <p:ph type="pic" idx="21"/>
          </p:nvPr>
        </p:nvSpPr>
        <p:spPr>
          <a:xfrm>
            <a:off x="4748462" y="2603500"/>
            <a:ext cx="2691243"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4570172" y="5109105"/>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982775" y="4532845"/>
            <a:ext cx="3051095"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2" name="Picture Placeholder 2"/>
          <p:cNvSpPr>
            <a:spLocks noGrp="1" noChangeAspect="1"/>
          </p:cNvSpPr>
          <p:nvPr>
            <p:ph type="pic" idx="22"/>
          </p:nvPr>
        </p:nvSpPr>
        <p:spPr>
          <a:xfrm>
            <a:off x="8163031"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982775" y="5109104"/>
            <a:ext cx="3051096"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43" name="Straight Connector 42"/>
          <p:cNvCxnSpPr/>
          <p:nvPr/>
        </p:nvCxnSpPr>
        <p:spPr>
          <a:xfrm>
            <a:off x="440583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44" name="Straight Connector 43"/>
          <p:cNvCxnSpPr/>
          <p:nvPr/>
        </p:nvCxnSpPr>
        <p:spPr>
          <a:xfrm>
            <a:off x="7797802"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822BDC86-C721-4B24-9464-7F20EF7EDEB0}" type="datetimeFigureOut">
              <a:rPr lang="en-SG" smtClean="0"/>
              <a:t>4/11/2024</a:t>
            </a:fld>
            <a:endParaRPr lang="en-SG"/>
          </a:p>
        </p:txBody>
      </p:sp>
      <p:sp>
        <p:nvSpPr>
          <p:cNvPr id="8" name="Footer Placeholder 7"/>
          <p:cNvSpPr>
            <a:spLocks noGrp="1"/>
          </p:cNvSpPr>
          <p:nvPr>
            <p:ph type="ftr" sz="quarter" idx="11"/>
          </p:nvPr>
        </p:nvSpPr>
        <p:spPr>
          <a:xfrm>
            <a:off x="561111" y="6391838"/>
            <a:ext cx="3644282" cy="304801"/>
          </a:xfrm>
        </p:spPr>
        <p:txBody>
          <a:bodyPr/>
          <a:lstStyle/>
          <a:p>
            <a:endParaRPr lang="en-SG"/>
          </a:p>
        </p:txBody>
      </p:sp>
      <p:sp>
        <p:nvSpPr>
          <p:cNvPr id="9" name="Slide Number Placeholder 8"/>
          <p:cNvSpPr>
            <a:spLocks noGrp="1"/>
          </p:cNvSpPr>
          <p:nvPr>
            <p:ph type="sldNum" sz="quarter" idx="12"/>
          </p:nvPr>
        </p:nvSpPr>
        <p:spPr/>
        <p:txBody>
          <a:bodyPr/>
          <a:lstStyle/>
          <a:p>
            <a:fld id="{3798BC5C-9AE4-4D2D-82CF-E4F277362BE5}" type="slidenum">
              <a:rPr lang="en-SG" smtClean="0"/>
              <a:t>‹#›</a:t>
            </a:fld>
            <a:endParaRPr lang="en-SG"/>
          </a:p>
        </p:txBody>
      </p:sp>
    </p:spTree>
    <p:extLst>
      <p:ext uri="{BB962C8B-B14F-4D97-AF65-F5344CB8AC3E}">
        <p14:creationId xmlns:p14="http://schemas.microsoft.com/office/powerpoint/2010/main" val="410721844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a:xfrm>
            <a:off x="1154954" y="2603500"/>
            <a:ext cx="8825659" cy="3416300"/>
          </a:xfrm>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10695439" y="6391838"/>
            <a:ext cx="990599" cy="304799"/>
          </a:xfrm>
        </p:spPr>
        <p:txBody>
          <a:bodyPr/>
          <a:lstStyle/>
          <a:p>
            <a:fld id="{822BDC86-C721-4B24-9464-7F20EF7EDEB0}" type="datetimeFigureOut">
              <a:rPr lang="en-SG" smtClean="0"/>
              <a:t>4/11/2024</a:t>
            </a:fld>
            <a:endParaRPr lang="en-SG"/>
          </a:p>
        </p:txBody>
      </p:sp>
      <p:sp>
        <p:nvSpPr>
          <p:cNvPr id="5" name="Footer Placeholder 4"/>
          <p:cNvSpPr>
            <a:spLocks noGrp="1"/>
          </p:cNvSpPr>
          <p:nvPr>
            <p:ph type="ftr" sz="quarter" idx="11"/>
          </p:nvPr>
        </p:nvSpPr>
        <p:spPr/>
        <p:txBody>
          <a:bodyPr/>
          <a:lstStyle/>
          <a:p>
            <a:endParaRPr lang="en-SG"/>
          </a:p>
        </p:txBody>
      </p:sp>
      <p:sp>
        <p:nvSpPr>
          <p:cNvPr id="6" name="Slide Number Placeholder 5"/>
          <p:cNvSpPr>
            <a:spLocks noGrp="1"/>
          </p:cNvSpPr>
          <p:nvPr>
            <p:ph type="sldNum" sz="quarter" idx="12"/>
          </p:nvPr>
        </p:nvSpPr>
        <p:spPr/>
        <p:txBody>
          <a:bodyPr/>
          <a:lstStyle/>
          <a:p>
            <a:fld id="{3798BC5C-9AE4-4D2D-82CF-E4F277362BE5}" type="slidenum">
              <a:rPr lang="en-SG" smtClean="0"/>
              <a:t>‹#›</a:t>
            </a:fld>
            <a:endParaRPr lang="en-SG"/>
          </a:p>
        </p:txBody>
      </p:sp>
    </p:spTree>
    <p:extLst>
      <p:ext uri="{BB962C8B-B14F-4D97-AF65-F5344CB8AC3E}">
        <p14:creationId xmlns:p14="http://schemas.microsoft.com/office/powerpoint/2010/main" val="287969808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2" name="Rectangle 11"/>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7" name="Rectangle 6"/>
            <p:cNvSpPr/>
            <p:nvPr/>
          </p:nvSpPr>
          <p:spPr bwMode="gray">
            <a:xfrm>
              <a:off x="414867" y="402165"/>
              <a:ext cx="6510866"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7" name="Freeform 5"/>
            <p:cNvSpPr/>
            <p:nvPr/>
          </p:nvSpPr>
          <p:spPr bwMode="gray">
            <a:xfrm rot="5101749">
              <a:off x="6294738" y="457773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0" name="Freeform 5"/>
            <p:cNvSpPr/>
            <p:nvPr/>
          </p:nvSpPr>
          <p:spPr bwMode="gray">
            <a:xfrm rot="5400000">
              <a:off x="44492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3"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Vertical Title 1"/>
          <p:cNvSpPr>
            <a:spLocks noGrp="1"/>
          </p:cNvSpPr>
          <p:nvPr>
            <p:ph type="title" orient="vert"/>
          </p:nvPr>
        </p:nvSpPr>
        <p:spPr>
          <a:xfrm>
            <a:off x="8585235" y="1278467"/>
            <a:ext cx="1409965" cy="4748590"/>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1154954" y="1278467"/>
            <a:ext cx="6256025" cy="474859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10653104" y="6391838"/>
            <a:ext cx="992135" cy="304799"/>
          </a:xfrm>
        </p:spPr>
        <p:txBody>
          <a:bodyPr/>
          <a:lstStyle/>
          <a:p>
            <a:fld id="{822BDC86-C721-4B24-9464-7F20EF7EDEB0}" type="datetimeFigureOut">
              <a:rPr lang="en-SG" smtClean="0"/>
              <a:t>4/11/2024</a:t>
            </a:fld>
            <a:endParaRPr lang="en-SG"/>
          </a:p>
        </p:txBody>
      </p:sp>
      <p:sp>
        <p:nvSpPr>
          <p:cNvPr id="5" name="Footer Placeholder 4"/>
          <p:cNvSpPr>
            <a:spLocks noGrp="1"/>
          </p:cNvSpPr>
          <p:nvPr>
            <p:ph type="ftr" sz="quarter" idx="11"/>
          </p:nvPr>
        </p:nvSpPr>
        <p:spPr/>
        <p:txBody>
          <a:bodyPr/>
          <a:lstStyle/>
          <a:p>
            <a:endParaRPr lang="en-SG"/>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3798BC5C-9AE4-4D2D-82CF-E4F277362BE5}" type="slidenum">
              <a:rPr lang="en-SG" smtClean="0"/>
              <a:t>‹#›</a:t>
            </a:fld>
            <a:endParaRPr lang="en-SG"/>
          </a:p>
        </p:txBody>
      </p:sp>
    </p:spTree>
    <p:extLst>
      <p:ext uri="{BB962C8B-B14F-4D97-AF65-F5344CB8AC3E}">
        <p14:creationId xmlns:p14="http://schemas.microsoft.com/office/powerpoint/2010/main" val="9626477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jpe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8" name="Group 7"/>
          <p:cNvGrpSpPr/>
          <p:nvPr/>
        </p:nvGrpSpPr>
        <p:grpSpPr>
          <a:xfrm>
            <a:off x="0" y="0"/>
            <a:ext cx="12192000" cy="6858000"/>
            <a:chOff x="0" y="0"/>
            <a:chExt cx="12192000" cy="6858000"/>
          </a:xfrm>
        </p:grpSpPr>
        <p:sp>
          <p:nvSpPr>
            <p:cNvPr id="7" name="Rectangle 6"/>
            <p:cNvSpPr/>
            <p:nvPr/>
          </p:nvSpPr>
          <p:spPr>
            <a:xfrm>
              <a:off x="0" y="0"/>
              <a:ext cx="12192000" cy="6858000"/>
            </a:xfrm>
            <a:prstGeom prst="rect">
              <a:avLst/>
            </a:prstGeom>
            <a:blipFill>
              <a:blip r:embed="rId19">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Oval 12"/>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Freeform 5"/>
            <p:cNvSpPr/>
            <p:nvPr/>
          </p:nvSpPr>
          <p:spPr bwMode="gray">
            <a:xfrm rot="21010068">
              <a:off x="8490951" y="17975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9" name="Freeform 5"/>
            <p:cNvSpPr/>
            <p:nvPr/>
          </p:nvSpPr>
          <p:spPr bwMode="gray">
            <a:xfrm>
              <a:off x="459506" y="1866405"/>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4"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Placeholder 1"/>
          <p:cNvSpPr>
            <a:spLocks noGrp="1"/>
          </p:cNvSpPr>
          <p:nvPr>
            <p:ph type="title"/>
          </p:nvPr>
        </p:nvSpPr>
        <p:spPr bwMode="gray">
          <a:xfrm>
            <a:off x="1154954" y="973668"/>
            <a:ext cx="8761413" cy="706964"/>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p:cNvSpPr>
            <a:spLocks noGrp="1"/>
          </p:cNvSpPr>
          <p:nvPr>
            <p:ph type="body" idx="1"/>
          </p:nvPr>
        </p:nvSpPr>
        <p:spPr>
          <a:xfrm>
            <a:off x="1154954" y="2603500"/>
            <a:ext cx="8761413" cy="34163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653104" y="6391838"/>
            <a:ext cx="990599" cy="304799"/>
          </a:xfrm>
          <a:prstGeom prst="rect">
            <a:avLst/>
          </a:prstGeom>
        </p:spPr>
        <p:txBody>
          <a:bodyPr vert="horz" lIns="91440" tIns="45720" rIns="91440" bIns="45720" rtlCol="0" anchor="ctr"/>
          <a:lstStyle>
            <a:lvl1pPr algn="r">
              <a:defRPr sz="1000" b="1" i="0">
                <a:solidFill>
                  <a:schemeClr val="accent1"/>
                </a:solidFill>
              </a:defRPr>
            </a:lvl1pPr>
          </a:lstStyle>
          <a:p>
            <a:fld id="{822BDC86-C721-4B24-9464-7F20EF7EDEB0}" type="datetimeFigureOut">
              <a:rPr lang="en-SG" smtClean="0"/>
              <a:t>4/11/2024</a:t>
            </a:fld>
            <a:endParaRPr lang="en-SG"/>
          </a:p>
        </p:txBody>
      </p:sp>
      <p:sp>
        <p:nvSpPr>
          <p:cNvPr id="5" name="Footer Placeholder 4"/>
          <p:cNvSpPr>
            <a:spLocks noGrp="1"/>
          </p:cNvSpPr>
          <p:nvPr>
            <p:ph type="ftr" sz="quarter" idx="3"/>
          </p:nvPr>
        </p:nvSpPr>
        <p:spPr>
          <a:xfrm>
            <a:off x="561110" y="6391838"/>
            <a:ext cx="3859795" cy="304801"/>
          </a:xfrm>
          <a:prstGeom prst="rect">
            <a:avLst/>
          </a:prstGeom>
        </p:spPr>
        <p:txBody>
          <a:bodyPr vert="horz" lIns="91440" tIns="45720" rIns="91440" bIns="45720" rtlCol="0" anchor="ctr"/>
          <a:lstStyle>
            <a:lvl1pPr algn="l">
              <a:defRPr sz="1000" b="1" i="0">
                <a:solidFill>
                  <a:schemeClr val="accent1"/>
                </a:solidFill>
              </a:defRPr>
            </a:lvl1pPr>
          </a:lstStyle>
          <a:p>
            <a:endParaRPr lang="en-SG"/>
          </a:p>
        </p:txBody>
      </p:sp>
      <p:sp>
        <p:nvSpPr>
          <p:cNvPr id="21" name="Rectangle 20"/>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bg1"/>
                </a:solidFill>
              </a:defRPr>
            </a:lvl1pPr>
          </a:lstStyle>
          <a:p>
            <a:fld id="{3798BC5C-9AE4-4D2D-82CF-E4F277362BE5}" type="slidenum">
              <a:rPr lang="en-SG" smtClean="0"/>
              <a:t>‹#›</a:t>
            </a:fld>
            <a:endParaRPr lang="en-SG"/>
          </a:p>
        </p:txBody>
      </p:sp>
    </p:spTree>
    <p:extLst>
      <p:ext uri="{BB962C8B-B14F-4D97-AF65-F5344CB8AC3E}">
        <p14:creationId xmlns:p14="http://schemas.microsoft.com/office/powerpoint/2010/main" val="186997540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l" defTabSz="457200" rtl="0" eaLnBrk="1" latinLnBrk="0" hangingPunct="1">
        <a:spcBef>
          <a:spcPct val="0"/>
        </a:spcBef>
        <a:buNone/>
        <a:defRPr sz="3600" b="0" i="0" kern="1200">
          <a:solidFill>
            <a:schemeClr val="bg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CD7A00-9125-B0BF-D2B8-12FD7182054E}"/>
              </a:ext>
            </a:extLst>
          </p:cNvPr>
          <p:cNvSpPr>
            <a:spLocks noGrp="1"/>
          </p:cNvSpPr>
          <p:nvPr>
            <p:ph type="ctrTitle"/>
          </p:nvPr>
        </p:nvSpPr>
        <p:spPr>
          <a:xfrm>
            <a:off x="1154955" y="904127"/>
            <a:ext cx="8825658" cy="2722652"/>
          </a:xfrm>
        </p:spPr>
        <p:txBody>
          <a:bodyPr/>
          <a:lstStyle/>
          <a:p>
            <a:r>
              <a:rPr lang="en-SG" dirty="0"/>
              <a:t>ECO102: Introduction to Macroeconomics</a:t>
            </a:r>
          </a:p>
        </p:txBody>
      </p:sp>
      <p:sp>
        <p:nvSpPr>
          <p:cNvPr id="3" name="Subtitle 2">
            <a:extLst>
              <a:ext uri="{FF2B5EF4-FFF2-40B4-BE49-F238E27FC236}">
                <a16:creationId xmlns:a16="http://schemas.microsoft.com/office/drawing/2014/main" id="{B4EAA975-DE50-A324-6452-99B681E1A745}"/>
              </a:ext>
            </a:extLst>
          </p:cNvPr>
          <p:cNvSpPr>
            <a:spLocks noGrp="1"/>
          </p:cNvSpPr>
          <p:nvPr>
            <p:ph type="subTitle" idx="1"/>
          </p:nvPr>
        </p:nvSpPr>
        <p:spPr>
          <a:xfrm>
            <a:off x="1154955" y="3821987"/>
            <a:ext cx="8825658" cy="1816813"/>
          </a:xfrm>
        </p:spPr>
        <p:txBody>
          <a:bodyPr/>
          <a:lstStyle/>
          <a:p>
            <a:r>
              <a:rPr lang="en-SG" dirty="0"/>
              <a:t>Lecturer: Addrita Shams</a:t>
            </a:r>
          </a:p>
          <a:p>
            <a:r>
              <a:rPr lang="en-SG" dirty="0"/>
              <a:t>Week 02, Lecture 04</a:t>
            </a:r>
          </a:p>
          <a:p>
            <a:r>
              <a:rPr lang="en-SG" dirty="0"/>
              <a:t>Chapter 22: Monitoring jobs and inflation</a:t>
            </a:r>
          </a:p>
        </p:txBody>
      </p:sp>
    </p:spTree>
    <p:extLst>
      <p:ext uri="{BB962C8B-B14F-4D97-AF65-F5344CB8AC3E}">
        <p14:creationId xmlns:p14="http://schemas.microsoft.com/office/powerpoint/2010/main" val="179276393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90FEEC-ECD9-DA6B-E7BC-DFF2B430B60A}"/>
              </a:ext>
            </a:extLst>
          </p:cNvPr>
          <p:cNvSpPr>
            <a:spLocks noGrp="1"/>
          </p:cNvSpPr>
          <p:nvPr>
            <p:ph type="title"/>
          </p:nvPr>
        </p:nvSpPr>
        <p:spPr/>
        <p:txBody>
          <a:bodyPr/>
          <a:lstStyle/>
          <a:p>
            <a:r>
              <a:rPr lang="en-SG" dirty="0"/>
              <a:t>Price Level, Inflation and Deflation</a:t>
            </a:r>
          </a:p>
        </p:txBody>
      </p:sp>
      <p:sp>
        <p:nvSpPr>
          <p:cNvPr id="3" name="Content Placeholder 2">
            <a:extLst>
              <a:ext uri="{FF2B5EF4-FFF2-40B4-BE49-F238E27FC236}">
                <a16:creationId xmlns:a16="http://schemas.microsoft.com/office/drawing/2014/main" id="{16EF42DD-51B6-6FC3-DA55-91426A74E1A6}"/>
              </a:ext>
            </a:extLst>
          </p:cNvPr>
          <p:cNvSpPr>
            <a:spLocks noGrp="1"/>
          </p:cNvSpPr>
          <p:nvPr>
            <p:ph idx="1"/>
          </p:nvPr>
        </p:nvSpPr>
        <p:spPr>
          <a:xfrm>
            <a:off x="1154954" y="2603500"/>
            <a:ext cx="9602089" cy="3416300"/>
          </a:xfrm>
        </p:spPr>
        <p:txBody>
          <a:bodyPr>
            <a:normAutofit/>
          </a:bodyPr>
          <a:lstStyle/>
          <a:p>
            <a:pPr algn="just"/>
            <a:r>
              <a:rPr lang="en-US" sz="1800" b="0" i="0" u="none" strike="noStrike" baseline="0" dirty="0">
                <a:latin typeface="AGaramond-Italic"/>
              </a:rPr>
              <a:t>A persistently rising price level is </a:t>
            </a:r>
            <a:r>
              <a:rPr lang="en-SG" sz="1800" b="0" i="0" u="none" strike="noStrike" baseline="0" dirty="0">
                <a:latin typeface="AGaramond-Italic"/>
              </a:rPr>
              <a:t>called </a:t>
            </a:r>
            <a:r>
              <a:rPr lang="en-SG" sz="1800" b="1" i="0" u="none" strike="noStrike" baseline="0" dirty="0">
                <a:latin typeface="AGaramond-Italic"/>
              </a:rPr>
              <a:t>inflation.</a:t>
            </a:r>
          </a:p>
          <a:p>
            <a:pPr algn="just"/>
            <a:r>
              <a:rPr lang="en-US" sz="1800" b="0" i="0" u="none" strike="noStrike" baseline="0" dirty="0">
                <a:latin typeface="AGaramond-Italic"/>
              </a:rPr>
              <a:t>A persistently falling price level is </a:t>
            </a:r>
            <a:r>
              <a:rPr lang="en-SG" sz="1800" b="0" i="0" u="none" strike="noStrike" baseline="0" dirty="0">
                <a:latin typeface="AGaramond-Italic"/>
              </a:rPr>
              <a:t>called </a:t>
            </a:r>
            <a:r>
              <a:rPr lang="en-SG" sz="1800" b="1" i="0" u="none" strike="noStrike" baseline="0" dirty="0">
                <a:latin typeface="AGaramond-Italic"/>
              </a:rPr>
              <a:t>deflation</a:t>
            </a:r>
            <a:r>
              <a:rPr lang="en-SG" sz="1800" b="0" i="0" u="none" strike="noStrike" baseline="0" dirty="0">
                <a:latin typeface="AGaramond-Italic"/>
              </a:rPr>
              <a:t>.</a:t>
            </a:r>
          </a:p>
          <a:p>
            <a:pPr algn="just"/>
            <a:r>
              <a:rPr lang="en-US" sz="1800" b="0" i="0" u="none" strike="noStrike" baseline="0" dirty="0">
                <a:latin typeface="AGaramond-Italic"/>
              </a:rPr>
              <a:t>Low, steady, and anticipated inflation or deflation isn’t a problem, but an unexpected burst of inflation or period of deflation brings big problems and costs.</a:t>
            </a:r>
          </a:p>
          <a:p>
            <a:pPr algn="just"/>
            <a:r>
              <a:rPr lang="en-US" sz="1800" b="0" i="0" u="none" strike="noStrike" baseline="0" dirty="0">
                <a:latin typeface="AGaramond-Italic"/>
              </a:rPr>
              <a:t>An unexpected inflation or deflation:</a:t>
            </a:r>
          </a:p>
          <a:p>
            <a:pPr marL="400050" lvl="1" indent="0" algn="just">
              <a:buNone/>
            </a:pPr>
            <a:r>
              <a:rPr lang="en-SG" b="0" i="0" u="none" strike="noStrike" baseline="0" dirty="0">
                <a:latin typeface="AGaramond-Italic"/>
              </a:rPr>
              <a:t>■ Redistributes income</a:t>
            </a:r>
          </a:p>
          <a:p>
            <a:pPr marL="400050" lvl="1" indent="0" algn="just">
              <a:buNone/>
            </a:pPr>
            <a:r>
              <a:rPr lang="en-SG" b="0" i="0" u="none" strike="noStrike" baseline="0" dirty="0">
                <a:latin typeface="AGaramond-Italic"/>
              </a:rPr>
              <a:t>■ Redistributes wealth</a:t>
            </a:r>
          </a:p>
          <a:p>
            <a:pPr marL="400050" lvl="1" indent="0" algn="just">
              <a:buNone/>
            </a:pPr>
            <a:r>
              <a:rPr lang="en-US" b="0" i="0" u="none" strike="noStrike" baseline="0" dirty="0">
                <a:latin typeface="AGaramond-Italic"/>
              </a:rPr>
              <a:t>■ Lowers real GDP and employment</a:t>
            </a:r>
          </a:p>
          <a:p>
            <a:pPr marL="400050" lvl="1" indent="0" algn="just">
              <a:buNone/>
            </a:pPr>
            <a:r>
              <a:rPr lang="en-SG" b="0" i="0" u="none" strike="noStrike" baseline="0" dirty="0">
                <a:latin typeface="AGaramond-Italic"/>
              </a:rPr>
              <a:t>■ Diverts resources from production</a:t>
            </a:r>
            <a:endParaRPr lang="en-SG" dirty="0">
              <a:latin typeface="AGaramond-Italic"/>
            </a:endParaRPr>
          </a:p>
        </p:txBody>
      </p:sp>
    </p:spTree>
    <p:extLst>
      <p:ext uri="{BB962C8B-B14F-4D97-AF65-F5344CB8AC3E}">
        <p14:creationId xmlns:p14="http://schemas.microsoft.com/office/powerpoint/2010/main" val="261888087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0DD0D4-4E2D-6B92-3BCB-B18C13390FDD}"/>
              </a:ext>
            </a:extLst>
          </p:cNvPr>
          <p:cNvSpPr>
            <a:spLocks noGrp="1"/>
          </p:cNvSpPr>
          <p:nvPr>
            <p:ph type="title"/>
          </p:nvPr>
        </p:nvSpPr>
        <p:spPr/>
        <p:txBody>
          <a:bodyPr/>
          <a:lstStyle/>
          <a:p>
            <a:r>
              <a:rPr lang="en-SG" dirty="0"/>
              <a:t>Why Inflation is a problem: </a:t>
            </a:r>
          </a:p>
        </p:txBody>
      </p:sp>
      <p:sp>
        <p:nvSpPr>
          <p:cNvPr id="3" name="Content Placeholder 2">
            <a:extLst>
              <a:ext uri="{FF2B5EF4-FFF2-40B4-BE49-F238E27FC236}">
                <a16:creationId xmlns:a16="http://schemas.microsoft.com/office/drawing/2014/main" id="{EBDFA378-630E-7423-7E34-D59F821C17EE}"/>
              </a:ext>
            </a:extLst>
          </p:cNvPr>
          <p:cNvSpPr>
            <a:spLocks noGrp="1"/>
          </p:cNvSpPr>
          <p:nvPr>
            <p:ph idx="1"/>
          </p:nvPr>
        </p:nvSpPr>
        <p:spPr>
          <a:xfrm>
            <a:off x="1154954" y="2603500"/>
            <a:ext cx="9869217" cy="3416300"/>
          </a:xfrm>
        </p:spPr>
        <p:txBody>
          <a:bodyPr>
            <a:normAutofit/>
          </a:bodyPr>
          <a:lstStyle/>
          <a:p>
            <a:pPr algn="just"/>
            <a:r>
              <a:rPr lang="en-SG" sz="1800" b="1" i="1" u="none" strike="noStrike" baseline="0" dirty="0">
                <a:latin typeface="AGaramond-Regular"/>
              </a:rPr>
              <a:t>Redistribution of Income: </a:t>
            </a:r>
            <a:r>
              <a:rPr lang="en-SG" sz="1800" b="0" i="0" u="none" strike="noStrike" baseline="0" dirty="0">
                <a:latin typeface="AGaramond-Regular"/>
              </a:rPr>
              <a:t>An </a:t>
            </a:r>
            <a:r>
              <a:rPr lang="en-US" sz="1800" b="0" i="0" u="none" strike="noStrike" baseline="0" dirty="0">
                <a:latin typeface="AGaramond-Regular"/>
              </a:rPr>
              <a:t>unexpected burst of inflation raises prices but doesn’t immediately raise the wages. Workers are worse off because their wages buy less than they bargained for and employers are better off because their profits rise.</a:t>
            </a:r>
          </a:p>
          <a:p>
            <a:pPr algn="just"/>
            <a:endParaRPr lang="en-US" sz="1800" b="0" i="0" u="none" strike="noStrike" baseline="0" dirty="0">
              <a:latin typeface="AGaramond-Regular"/>
            </a:endParaRPr>
          </a:p>
          <a:p>
            <a:pPr algn="just"/>
            <a:r>
              <a:rPr lang="en-US" b="1" i="1" dirty="0">
                <a:latin typeface="AGaramond-Regular"/>
              </a:rPr>
              <a:t>Redistribution of Wealth</a:t>
            </a:r>
            <a:r>
              <a:rPr lang="en-US" dirty="0">
                <a:latin typeface="AGaramond-Regular"/>
              </a:rPr>
              <a:t>: With an unexpected burst of inflation </a:t>
            </a:r>
            <a:r>
              <a:rPr lang="en-US" sz="1800" b="0" i="0" u="none" strike="noStrike" baseline="0" dirty="0">
                <a:latin typeface="AGaramond-Regular"/>
              </a:rPr>
              <a:t>the money that the borrower repays to the lender buys less than the money originally loaned. The borrower wins and the lender loses. The interest paid on the loan doesn’t compensate the lender for the loss in the value of the money loaned. </a:t>
            </a:r>
            <a:endParaRPr lang="en-SG" dirty="0"/>
          </a:p>
        </p:txBody>
      </p:sp>
    </p:spTree>
    <p:extLst>
      <p:ext uri="{BB962C8B-B14F-4D97-AF65-F5344CB8AC3E}">
        <p14:creationId xmlns:p14="http://schemas.microsoft.com/office/powerpoint/2010/main" val="297867739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FF26BD-5FD9-783F-482E-37D9BE2814A7}"/>
              </a:ext>
            </a:extLst>
          </p:cNvPr>
          <p:cNvSpPr>
            <a:spLocks noGrp="1"/>
          </p:cNvSpPr>
          <p:nvPr>
            <p:ph type="title"/>
          </p:nvPr>
        </p:nvSpPr>
        <p:spPr/>
        <p:txBody>
          <a:bodyPr/>
          <a:lstStyle/>
          <a:p>
            <a:r>
              <a:rPr lang="en-SG" dirty="0"/>
              <a:t>Why Inflation is a problem (Contd.)</a:t>
            </a:r>
          </a:p>
        </p:txBody>
      </p:sp>
      <p:sp>
        <p:nvSpPr>
          <p:cNvPr id="3" name="Content Placeholder 2">
            <a:extLst>
              <a:ext uri="{FF2B5EF4-FFF2-40B4-BE49-F238E27FC236}">
                <a16:creationId xmlns:a16="http://schemas.microsoft.com/office/drawing/2014/main" id="{A4015CFE-F9CA-0BB8-B76A-DA3E8FF26A0C}"/>
              </a:ext>
            </a:extLst>
          </p:cNvPr>
          <p:cNvSpPr>
            <a:spLocks noGrp="1"/>
          </p:cNvSpPr>
          <p:nvPr>
            <p:ph idx="1"/>
          </p:nvPr>
        </p:nvSpPr>
        <p:spPr>
          <a:xfrm>
            <a:off x="955498" y="2603499"/>
            <a:ext cx="10243333" cy="4107543"/>
          </a:xfrm>
        </p:spPr>
        <p:txBody>
          <a:bodyPr>
            <a:normAutofit/>
          </a:bodyPr>
          <a:lstStyle/>
          <a:p>
            <a:pPr algn="just"/>
            <a:r>
              <a:rPr lang="en-US" sz="1800" b="1" i="1" u="none" strike="noStrike" baseline="0" dirty="0">
                <a:latin typeface="AGaramond-Regular"/>
              </a:rPr>
              <a:t>Lowers Real GDP and Employment </a:t>
            </a:r>
            <a:r>
              <a:rPr lang="en-US" sz="1800" b="0" i="0" u="none" strike="noStrike" baseline="0" dirty="0">
                <a:latin typeface="AGaramond-Regular"/>
              </a:rPr>
              <a:t>Unexpected inflation that raises firms’ profits brings a rise in investment and a boom in production and employment. Real GDP rises above potential GDP and the unemployment rate falls below the natural rate. </a:t>
            </a:r>
            <a:r>
              <a:rPr lang="en-US" sz="1800" b="1" i="0" u="none" strike="noStrike" baseline="0" dirty="0">
                <a:latin typeface="AGaramond-Regular"/>
              </a:rPr>
              <a:t>But this situation is </a:t>
            </a:r>
            <a:r>
              <a:rPr lang="en-US" sz="1800" b="1" i="1" u="none" strike="noStrike" baseline="0" dirty="0">
                <a:latin typeface="AGaramond-Regular"/>
              </a:rPr>
              <a:t>temporary</a:t>
            </a:r>
            <a:r>
              <a:rPr lang="en-US" sz="1800" b="0" i="0" u="none" strike="noStrike" baseline="0" dirty="0">
                <a:latin typeface="AGaramond-Regular"/>
              </a:rPr>
              <a:t>. Profitable investment dries up, spending falls, real GDP falls below potential GDP and the unemployment rate rises. Avoiding these swings in production and jobs means avoiding unexpected swings in the inflation rate.</a:t>
            </a:r>
          </a:p>
          <a:p>
            <a:pPr algn="just"/>
            <a:endParaRPr lang="en-US" sz="1800" b="0" i="0" u="none" strike="noStrike" baseline="0" dirty="0">
              <a:latin typeface="AGaramond-Regular"/>
            </a:endParaRPr>
          </a:p>
          <a:p>
            <a:pPr algn="just"/>
            <a:r>
              <a:rPr lang="en-US" b="1" i="1" dirty="0">
                <a:latin typeface="AGaramond-Regular"/>
              </a:rPr>
              <a:t>Diverts Resources from Production</a:t>
            </a:r>
            <a:r>
              <a:rPr lang="en-US" dirty="0">
                <a:latin typeface="AGaramond-Regular"/>
              </a:rPr>
              <a:t>: </a:t>
            </a:r>
            <a:r>
              <a:rPr lang="en-US" sz="1800" b="0" i="0" u="none" strike="noStrike" baseline="0" dirty="0">
                <a:latin typeface="AGaramond-Regular"/>
              </a:rPr>
              <a:t>It can become more profitable to forecast the inflation rate or deflation rate correctly than to invent a new product. Doctors, lawyers, accountants, farmers—just about everyone—can make themselves better off, not by specializing in the profession for which they have been trained but by spending more of their time dabbling as amateur economists and inflation forecasters and managing </a:t>
            </a:r>
            <a:r>
              <a:rPr lang="en-SG" sz="1800" b="0" i="0" u="none" strike="noStrike" baseline="0" dirty="0">
                <a:latin typeface="AGaramond-Regular"/>
              </a:rPr>
              <a:t>their investments.</a:t>
            </a:r>
            <a:endParaRPr lang="en-SG" dirty="0">
              <a:latin typeface="AGaramond-Regular"/>
            </a:endParaRPr>
          </a:p>
        </p:txBody>
      </p:sp>
    </p:spTree>
    <p:extLst>
      <p:ext uri="{BB962C8B-B14F-4D97-AF65-F5344CB8AC3E}">
        <p14:creationId xmlns:p14="http://schemas.microsoft.com/office/powerpoint/2010/main" val="164553975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4E564D-2A90-1623-D7A8-C550E41668AA}"/>
              </a:ext>
            </a:extLst>
          </p:cNvPr>
          <p:cNvSpPr>
            <a:spLocks noGrp="1"/>
          </p:cNvSpPr>
          <p:nvPr>
            <p:ph type="title"/>
          </p:nvPr>
        </p:nvSpPr>
        <p:spPr/>
        <p:txBody>
          <a:bodyPr/>
          <a:lstStyle/>
          <a:p>
            <a:r>
              <a:rPr lang="en-SG" dirty="0"/>
              <a:t>Consumer Price Index </a:t>
            </a:r>
          </a:p>
        </p:txBody>
      </p:sp>
      <p:sp>
        <p:nvSpPr>
          <p:cNvPr id="3" name="Content Placeholder 2">
            <a:extLst>
              <a:ext uri="{FF2B5EF4-FFF2-40B4-BE49-F238E27FC236}">
                <a16:creationId xmlns:a16="http://schemas.microsoft.com/office/drawing/2014/main" id="{B8B9E50D-2D62-D507-52C3-75AFE81DF84D}"/>
              </a:ext>
            </a:extLst>
          </p:cNvPr>
          <p:cNvSpPr>
            <a:spLocks noGrp="1"/>
          </p:cNvSpPr>
          <p:nvPr>
            <p:ph idx="1"/>
          </p:nvPr>
        </p:nvSpPr>
        <p:spPr>
          <a:xfrm>
            <a:off x="1154954" y="2603500"/>
            <a:ext cx="10030117" cy="3416300"/>
          </a:xfrm>
        </p:spPr>
        <p:txBody>
          <a:bodyPr>
            <a:normAutofit/>
          </a:bodyPr>
          <a:lstStyle/>
          <a:p>
            <a:pPr algn="just"/>
            <a:r>
              <a:rPr lang="en-US" sz="2000" b="0" i="0" u="none" strike="noStrike" baseline="0" dirty="0">
                <a:latin typeface="AGaramond-Regular"/>
              </a:rPr>
              <a:t>Every month, the Bureau of Labor Statistics (BLS) measures the price level by calculating the </a:t>
            </a:r>
            <a:r>
              <a:rPr lang="en-US" sz="2000" b="1" i="0" u="none" strike="noStrike" baseline="0" dirty="0">
                <a:latin typeface="Futura-Heavy"/>
              </a:rPr>
              <a:t>Consumer Price Index (CPI)</a:t>
            </a:r>
            <a:r>
              <a:rPr lang="en-US" sz="2000" b="0" i="0" u="none" strike="noStrike" baseline="0" dirty="0">
                <a:latin typeface="AGaramond-Regular"/>
              </a:rPr>
              <a:t>, which is a measure of the average of the prices paid by urban consumers for a fixed basket of consumer goods and services.</a:t>
            </a:r>
          </a:p>
          <a:p>
            <a:pPr algn="just"/>
            <a:endParaRPr lang="en-US" sz="1800" b="0" i="0" u="none" strike="noStrike" baseline="0" dirty="0">
              <a:latin typeface="AGaramond-Regular"/>
            </a:endParaRPr>
          </a:p>
          <a:p>
            <a:pPr algn="just"/>
            <a:r>
              <a:rPr lang="en-US" sz="1800" b="0" i="0" u="none" strike="noStrike" baseline="0" dirty="0">
                <a:latin typeface="AGaramond-Regular"/>
              </a:rPr>
              <a:t>Constructing the CPI involves three stages:</a:t>
            </a:r>
          </a:p>
          <a:p>
            <a:pPr marL="400050" lvl="1" indent="0" algn="just">
              <a:buNone/>
            </a:pPr>
            <a:r>
              <a:rPr lang="en-SG" b="0" i="0" u="none" strike="noStrike" baseline="0" dirty="0">
                <a:latin typeface="ZapfDingbats"/>
              </a:rPr>
              <a:t>■ </a:t>
            </a:r>
            <a:r>
              <a:rPr lang="en-SG" b="0" i="0" u="none" strike="noStrike" baseline="0" dirty="0">
                <a:latin typeface="AGaramond-Regular"/>
              </a:rPr>
              <a:t>Selecting the CPI basket</a:t>
            </a:r>
          </a:p>
          <a:p>
            <a:pPr marL="400050" lvl="1" indent="0" algn="just">
              <a:buNone/>
            </a:pPr>
            <a:r>
              <a:rPr lang="en-US" b="0" i="0" u="none" strike="noStrike" baseline="0" dirty="0">
                <a:latin typeface="ZapfDingbats"/>
              </a:rPr>
              <a:t>■ </a:t>
            </a:r>
            <a:r>
              <a:rPr lang="en-US" b="0" i="0" u="none" strike="noStrike" baseline="0" dirty="0">
                <a:latin typeface="AGaramond-Regular"/>
              </a:rPr>
              <a:t>Conducting the monthly price survey</a:t>
            </a:r>
          </a:p>
          <a:p>
            <a:pPr marL="400050" lvl="1" indent="0" algn="just">
              <a:buNone/>
            </a:pPr>
            <a:r>
              <a:rPr lang="en-SG" b="0" i="0" u="none" strike="noStrike" baseline="0" dirty="0">
                <a:latin typeface="ZapfDingbats"/>
              </a:rPr>
              <a:t>■ </a:t>
            </a:r>
            <a:r>
              <a:rPr lang="en-SG" b="0" i="0" u="none" strike="noStrike" baseline="0" dirty="0">
                <a:latin typeface="AGaramond-Regular"/>
              </a:rPr>
              <a:t>Calculating the CPI</a:t>
            </a:r>
          </a:p>
          <a:p>
            <a:pPr marL="0" indent="0" algn="l">
              <a:buNone/>
            </a:pPr>
            <a:endParaRPr lang="en-SG" dirty="0"/>
          </a:p>
        </p:txBody>
      </p:sp>
    </p:spTree>
    <p:extLst>
      <p:ext uri="{BB962C8B-B14F-4D97-AF65-F5344CB8AC3E}">
        <p14:creationId xmlns:p14="http://schemas.microsoft.com/office/powerpoint/2010/main" val="237674131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384132-5AE0-DA16-F1AF-36378656E4DB}"/>
              </a:ext>
            </a:extLst>
          </p:cNvPr>
          <p:cNvSpPr>
            <a:spLocks noGrp="1"/>
          </p:cNvSpPr>
          <p:nvPr>
            <p:ph type="title"/>
          </p:nvPr>
        </p:nvSpPr>
        <p:spPr/>
        <p:txBody>
          <a:bodyPr/>
          <a:lstStyle/>
          <a:p>
            <a:r>
              <a:rPr lang="en-SG" dirty="0"/>
              <a:t>Stage 1 and 2: </a:t>
            </a:r>
          </a:p>
        </p:txBody>
      </p:sp>
      <p:sp>
        <p:nvSpPr>
          <p:cNvPr id="3" name="Content Placeholder 2">
            <a:extLst>
              <a:ext uri="{FF2B5EF4-FFF2-40B4-BE49-F238E27FC236}">
                <a16:creationId xmlns:a16="http://schemas.microsoft.com/office/drawing/2014/main" id="{0DCDF864-8FAC-6FF6-DDF2-16ACF4E44F22}"/>
              </a:ext>
            </a:extLst>
          </p:cNvPr>
          <p:cNvSpPr>
            <a:spLocks noGrp="1"/>
          </p:cNvSpPr>
          <p:nvPr>
            <p:ph sz="half" idx="1"/>
          </p:nvPr>
        </p:nvSpPr>
        <p:spPr>
          <a:xfrm>
            <a:off x="1154953" y="2603500"/>
            <a:ext cx="5965037" cy="3416301"/>
          </a:xfrm>
        </p:spPr>
        <p:txBody>
          <a:bodyPr>
            <a:normAutofit/>
          </a:bodyPr>
          <a:lstStyle/>
          <a:p>
            <a:pPr algn="just"/>
            <a:r>
              <a:rPr lang="en-SG" sz="1800" b="1" i="1" u="none" strike="noStrike" baseline="0" dirty="0">
                <a:latin typeface="AGaramond-Regular"/>
              </a:rPr>
              <a:t>Selecting the CPI Basket: </a:t>
            </a:r>
            <a:r>
              <a:rPr lang="en-SG" sz="1800" b="0" i="0" u="none" strike="noStrike" baseline="0" dirty="0">
                <a:latin typeface="AGaramond-Regular"/>
              </a:rPr>
              <a:t>This </a:t>
            </a:r>
            <a:r>
              <a:rPr lang="en-US" sz="1800" b="0" i="0" u="none" strike="noStrike" baseline="0" dirty="0">
                <a:latin typeface="AGaramond-Regular"/>
              </a:rPr>
              <a:t>basket contains the goods and services represented in the index, each weighted by its relative importance. The idea is to make the relative importance of the items in the CPI basket the same as that in the budget of an average urban household</a:t>
            </a:r>
          </a:p>
          <a:p>
            <a:pPr algn="just"/>
            <a:r>
              <a:rPr lang="en-US" b="1" i="1" dirty="0">
                <a:latin typeface="AGaramond-Regular"/>
              </a:rPr>
              <a:t>Monthly Price Survey: </a:t>
            </a:r>
            <a:r>
              <a:rPr lang="en-US" sz="1800" b="0" i="0" u="none" strike="noStrike" baseline="0" dirty="0">
                <a:latin typeface="AGaramond-Regular"/>
              </a:rPr>
              <a:t>Because the CPI aims to measure price </a:t>
            </a:r>
            <a:r>
              <a:rPr lang="en-US" sz="1800" b="0" i="1" u="none" strike="noStrike" baseline="0" dirty="0">
                <a:latin typeface="AGaramond-Italic"/>
              </a:rPr>
              <a:t>changes</a:t>
            </a:r>
            <a:r>
              <a:rPr lang="en-US" sz="1800" b="0" i="0" u="none" strike="noStrike" baseline="0" dirty="0">
                <a:latin typeface="AGaramond-Regular"/>
              </a:rPr>
              <a:t>, it is important that the prices recorded each month refer to exactly the same item.</a:t>
            </a:r>
          </a:p>
          <a:p>
            <a:pPr algn="just"/>
            <a:r>
              <a:rPr lang="en-US" sz="1800" b="0" i="0" u="none" strike="noStrike" baseline="0" dirty="0">
                <a:latin typeface="AGaramond-Regular"/>
              </a:rPr>
              <a:t>Once the raw price data are in hand, the next task is to calculate the CPI.</a:t>
            </a:r>
            <a:endParaRPr lang="en-SG" dirty="0"/>
          </a:p>
        </p:txBody>
      </p:sp>
      <p:pic>
        <p:nvPicPr>
          <p:cNvPr id="6" name="Content Placeholder 5">
            <a:extLst>
              <a:ext uri="{FF2B5EF4-FFF2-40B4-BE49-F238E27FC236}">
                <a16:creationId xmlns:a16="http://schemas.microsoft.com/office/drawing/2014/main" id="{A76E27BF-869C-5F57-58D8-9C0527720FFF}"/>
              </a:ext>
            </a:extLst>
          </p:cNvPr>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7374368" y="472611"/>
            <a:ext cx="4358720" cy="5547189"/>
          </a:xfrm>
        </p:spPr>
      </p:pic>
    </p:spTree>
    <p:extLst>
      <p:ext uri="{BB962C8B-B14F-4D97-AF65-F5344CB8AC3E}">
        <p14:creationId xmlns:p14="http://schemas.microsoft.com/office/powerpoint/2010/main" val="62580993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944943-2E23-752D-5FE3-1360FD1BAD98}"/>
              </a:ext>
            </a:extLst>
          </p:cNvPr>
          <p:cNvSpPr>
            <a:spLocks noGrp="1"/>
          </p:cNvSpPr>
          <p:nvPr>
            <p:ph type="title"/>
          </p:nvPr>
        </p:nvSpPr>
        <p:spPr/>
        <p:txBody>
          <a:bodyPr/>
          <a:lstStyle/>
          <a:p>
            <a:r>
              <a:rPr lang="en-SG" dirty="0"/>
              <a:t>Stage 3: Calculating the CPI</a:t>
            </a:r>
          </a:p>
        </p:txBody>
      </p:sp>
      <p:sp>
        <p:nvSpPr>
          <p:cNvPr id="3" name="Content Placeholder 2">
            <a:extLst>
              <a:ext uri="{FF2B5EF4-FFF2-40B4-BE49-F238E27FC236}">
                <a16:creationId xmlns:a16="http://schemas.microsoft.com/office/drawing/2014/main" id="{0836B07A-412A-8E0F-F772-D17467739987}"/>
              </a:ext>
            </a:extLst>
          </p:cNvPr>
          <p:cNvSpPr>
            <a:spLocks noGrp="1"/>
          </p:cNvSpPr>
          <p:nvPr>
            <p:ph sz="half" idx="1"/>
          </p:nvPr>
        </p:nvSpPr>
        <p:spPr>
          <a:xfrm>
            <a:off x="1154954" y="2603500"/>
            <a:ext cx="6273262" cy="3540446"/>
          </a:xfrm>
        </p:spPr>
        <p:txBody>
          <a:bodyPr>
            <a:normAutofit/>
          </a:bodyPr>
          <a:lstStyle/>
          <a:p>
            <a:pPr algn="just"/>
            <a:r>
              <a:rPr lang="en-US" sz="1800" b="1" i="0" u="none" strike="noStrike" baseline="0" dirty="0">
                <a:latin typeface="Futura-Heavy"/>
              </a:rPr>
              <a:t>Calculating the CPI </a:t>
            </a:r>
            <a:r>
              <a:rPr lang="en-US" sz="1800" b="0" i="0" u="none" strike="noStrike" baseline="0" dirty="0">
                <a:latin typeface="AGaramond-Regular"/>
              </a:rPr>
              <a:t>To calculate the CPI, we</a:t>
            </a:r>
          </a:p>
          <a:p>
            <a:pPr marL="0" indent="0" algn="just">
              <a:buNone/>
            </a:pPr>
            <a:r>
              <a:rPr lang="en-US" sz="1800" b="0" i="0" u="none" strike="noStrike" baseline="0" dirty="0">
                <a:latin typeface="AGaramond-Regular"/>
              </a:rPr>
              <a:t>1. Find the cost of the CPI basket at base-period </a:t>
            </a:r>
            <a:r>
              <a:rPr lang="en-SG" sz="1800" b="0" i="0" u="none" strike="noStrike" baseline="0" dirty="0">
                <a:latin typeface="AGaramond-Regular"/>
              </a:rPr>
              <a:t>prices.</a:t>
            </a:r>
          </a:p>
          <a:p>
            <a:pPr marL="0" indent="0" algn="just">
              <a:buNone/>
            </a:pPr>
            <a:r>
              <a:rPr lang="en-US" sz="1800" b="0" i="0" u="none" strike="noStrike" baseline="0" dirty="0">
                <a:latin typeface="AGaramond-Regular"/>
              </a:rPr>
              <a:t>2. Find the cost of the CPI basket at current period </a:t>
            </a:r>
            <a:r>
              <a:rPr lang="en-SG" sz="1800" b="0" i="0" u="none" strike="noStrike" baseline="0" dirty="0">
                <a:latin typeface="AGaramond-Regular"/>
              </a:rPr>
              <a:t>prices.</a:t>
            </a:r>
          </a:p>
          <a:p>
            <a:pPr marL="0" indent="0" algn="just">
              <a:buNone/>
            </a:pPr>
            <a:r>
              <a:rPr lang="en-US" sz="1800" b="0" i="0" u="none" strike="noStrike" baseline="0" dirty="0">
                <a:latin typeface="AGaramond-Regular"/>
              </a:rPr>
              <a:t>3. Calculate the CPI for the base period and the </a:t>
            </a:r>
            <a:r>
              <a:rPr lang="en-SG" sz="1800" b="0" i="0" u="none" strike="noStrike" baseline="0" dirty="0">
                <a:latin typeface="AGaramond-Regular"/>
              </a:rPr>
              <a:t>current period.</a:t>
            </a:r>
          </a:p>
          <a:p>
            <a:pPr marL="0" indent="0" algn="just">
              <a:buNone/>
            </a:pPr>
            <a:r>
              <a:rPr lang="en-SG" dirty="0">
                <a:latin typeface="AGaramond-Regular"/>
              </a:rPr>
              <a:t>The Formula for CPI is- </a:t>
            </a:r>
          </a:p>
          <a:p>
            <a:pPr marL="0" indent="0" algn="just">
              <a:buNone/>
            </a:pPr>
            <a:r>
              <a:rPr lang="en-SG" b="1" i="1" dirty="0">
                <a:latin typeface="AGaramond-Regular"/>
              </a:rPr>
              <a:t>CPI= (Cost of CPI basket at current prices/ Cost of CPI basket at base-period prices)*100</a:t>
            </a:r>
          </a:p>
          <a:p>
            <a:pPr marL="0" indent="0" algn="just">
              <a:buNone/>
            </a:pPr>
            <a:endParaRPr lang="en-SG" b="1" i="1" dirty="0">
              <a:latin typeface="AGaramond-Regular"/>
            </a:endParaRPr>
          </a:p>
          <a:p>
            <a:pPr marL="0" indent="0" algn="just">
              <a:buNone/>
            </a:pPr>
            <a:r>
              <a:rPr lang="en-SG" i="1" dirty="0">
                <a:latin typeface="AGaramond-Regular"/>
              </a:rPr>
              <a:t>Question: What is the CPI for 2010? What is the CPI for 2011?</a:t>
            </a:r>
            <a:endParaRPr lang="en-SG" i="1" dirty="0"/>
          </a:p>
        </p:txBody>
      </p:sp>
      <p:pic>
        <p:nvPicPr>
          <p:cNvPr id="6" name="Content Placeholder 5">
            <a:extLst>
              <a:ext uri="{FF2B5EF4-FFF2-40B4-BE49-F238E27FC236}">
                <a16:creationId xmlns:a16="http://schemas.microsoft.com/office/drawing/2014/main" id="{9FCAD813-41AF-DCC4-9205-8DD81663DBFA}"/>
              </a:ext>
            </a:extLst>
          </p:cNvPr>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7808360" y="973668"/>
            <a:ext cx="3972767" cy="5255375"/>
          </a:xfrm>
        </p:spPr>
      </p:pic>
    </p:spTree>
    <p:extLst>
      <p:ext uri="{BB962C8B-B14F-4D97-AF65-F5344CB8AC3E}">
        <p14:creationId xmlns:p14="http://schemas.microsoft.com/office/powerpoint/2010/main" val="169429677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E3A6AB-B892-DE70-76F1-AE480A755920}"/>
              </a:ext>
            </a:extLst>
          </p:cNvPr>
          <p:cNvSpPr>
            <a:spLocks noGrp="1"/>
          </p:cNvSpPr>
          <p:nvPr>
            <p:ph type="title"/>
          </p:nvPr>
        </p:nvSpPr>
        <p:spPr/>
        <p:txBody>
          <a:bodyPr/>
          <a:lstStyle/>
          <a:p>
            <a:r>
              <a:rPr lang="en-SG" dirty="0"/>
              <a:t>Measuring the Inflation Rate</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D0D0AD67-8DE5-9FE8-ACAB-DB87E35CEC2B}"/>
                  </a:ext>
                </a:extLst>
              </p:cNvPr>
              <p:cNvSpPr>
                <a:spLocks noGrp="1"/>
              </p:cNvSpPr>
              <p:nvPr>
                <p:ph sz="half" idx="1"/>
              </p:nvPr>
            </p:nvSpPr>
            <p:spPr>
              <a:xfrm>
                <a:off x="1154953" y="2603500"/>
                <a:ext cx="6029617" cy="3416301"/>
              </a:xfrm>
            </p:spPr>
            <p:txBody>
              <a:bodyPr>
                <a:normAutofit/>
              </a:bodyPr>
              <a:lstStyle/>
              <a:p>
                <a:pPr algn="just"/>
                <a:r>
                  <a:rPr lang="en-US" sz="1800" b="0" i="0" u="none" strike="noStrike" baseline="0" dirty="0">
                    <a:latin typeface="AGaramond-Regular"/>
                  </a:rPr>
                  <a:t>A major purpose of the CPI is to measure changes in the cost of living and in the value of money.</a:t>
                </a:r>
              </a:p>
              <a:p>
                <a:pPr algn="just"/>
                <a:r>
                  <a:rPr lang="en-US" sz="1800" b="0" i="0" u="none" strike="noStrike" baseline="0" dirty="0">
                    <a:latin typeface="AGaramond-Regular"/>
                  </a:rPr>
                  <a:t> To measure these changes, we calculate the </a:t>
                </a:r>
                <a:r>
                  <a:rPr lang="en-US" sz="1800" b="0" i="1" u="none" strike="noStrike" baseline="0" dirty="0">
                    <a:latin typeface="AGaramond-Italic"/>
                  </a:rPr>
                  <a:t>inflation rate </a:t>
                </a:r>
                <a:r>
                  <a:rPr lang="en-US" sz="1800" b="0" i="0" u="none" strike="noStrike" baseline="0" dirty="0">
                    <a:latin typeface="AGaramond-Regular"/>
                  </a:rPr>
                  <a:t>as the annual percentage change in the CPI.</a:t>
                </a:r>
              </a:p>
              <a:p>
                <a:pPr algn="just"/>
                <a:r>
                  <a:rPr lang="en-US" sz="1800" b="0" i="0" u="none" strike="noStrike" baseline="0" dirty="0">
                    <a:latin typeface="AGaramond-Regular"/>
                  </a:rPr>
                  <a:t> To calculate the inflation rate, we use the formula:</a:t>
                </a:r>
              </a:p>
              <a:p>
                <a:pPr marL="0" indent="0" algn="just">
                  <a:buNone/>
                </a:pPr>
                <a:r>
                  <a:rPr lang="en-US" b="1" i="1" dirty="0">
                    <a:latin typeface="AGaramond-Regular"/>
                  </a:rPr>
                  <a:t>Inflation rate= </a:t>
                </a:r>
                <a14:m>
                  <m:oMath xmlns:m="http://schemas.openxmlformats.org/officeDocument/2006/math">
                    <m:f>
                      <m:fPr>
                        <m:ctrlPr>
                          <a:rPr lang="en-US" b="1" i="1" smtClean="0">
                            <a:latin typeface="Cambria Math" panose="02040503050406030204" pitchFamily="18" charset="0"/>
                          </a:rPr>
                        </m:ctrlPr>
                      </m:fPr>
                      <m:num>
                        <m:r>
                          <a:rPr lang="en-SG" b="1" i="1" smtClean="0">
                            <a:latin typeface="Cambria Math" panose="02040503050406030204" pitchFamily="18" charset="0"/>
                          </a:rPr>
                          <m:t>(</m:t>
                        </m:r>
                        <m:r>
                          <a:rPr lang="en-SG" b="1" i="1" smtClean="0">
                            <a:latin typeface="Cambria Math" panose="02040503050406030204" pitchFamily="18" charset="0"/>
                          </a:rPr>
                          <m:t>𝑪𝑷𝑰</m:t>
                        </m:r>
                        <m:r>
                          <a:rPr lang="en-SG" b="1" i="1" smtClean="0">
                            <a:latin typeface="Cambria Math" panose="02040503050406030204" pitchFamily="18" charset="0"/>
                          </a:rPr>
                          <m:t> </m:t>
                        </m:r>
                        <m:r>
                          <a:rPr lang="en-SG" b="1" i="1" smtClean="0">
                            <a:latin typeface="Cambria Math" panose="02040503050406030204" pitchFamily="18" charset="0"/>
                          </a:rPr>
                          <m:t>𝒕𝒉𝒊𝒔</m:t>
                        </m:r>
                        <m:r>
                          <a:rPr lang="en-SG" b="1" i="1" smtClean="0">
                            <a:latin typeface="Cambria Math" panose="02040503050406030204" pitchFamily="18" charset="0"/>
                          </a:rPr>
                          <m:t> </m:t>
                        </m:r>
                        <m:r>
                          <a:rPr lang="en-SG" b="1" i="1" smtClean="0">
                            <a:latin typeface="Cambria Math" panose="02040503050406030204" pitchFamily="18" charset="0"/>
                          </a:rPr>
                          <m:t>𝒚𝒆𝒂𝒓</m:t>
                        </m:r>
                        <m:r>
                          <a:rPr lang="en-SG" b="1" i="1" smtClean="0">
                            <a:latin typeface="Cambria Math" panose="02040503050406030204" pitchFamily="18" charset="0"/>
                          </a:rPr>
                          <m:t> −</m:t>
                        </m:r>
                        <m:r>
                          <a:rPr lang="en-SG" b="1" i="1" smtClean="0">
                            <a:latin typeface="Cambria Math" panose="02040503050406030204" pitchFamily="18" charset="0"/>
                          </a:rPr>
                          <m:t>𝑪𝑷𝑰</m:t>
                        </m:r>
                        <m:r>
                          <a:rPr lang="en-SG" b="1" i="1" smtClean="0">
                            <a:latin typeface="Cambria Math" panose="02040503050406030204" pitchFamily="18" charset="0"/>
                          </a:rPr>
                          <m:t> </m:t>
                        </m:r>
                        <m:r>
                          <a:rPr lang="en-SG" b="1" i="1" smtClean="0">
                            <a:latin typeface="Cambria Math" panose="02040503050406030204" pitchFamily="18" charset="0"/>
                          </a:rPr>
                          <m:t>𝒍𝒂𝒔𝒕</m:t>
                        </m:r>
                        <m:r>
                          <a:rPr lang="en-SG" b="1" i="1" smtClean="0">
                            <a:latin typeface="Cambria Math" panose="02040503050406030204" pitchFamily="18" charset="0"/>
                          </a:rPr>
                          <m:t> </m:t>
                        </m:r>
                        <m:r>
                          <a:rPr lang="en-SG" b="1" i="1" smtClean="0">
                            <a:latin typeface="Cambria Math" panose="02040503050406030204" pitchFamily="18" charset="0"/>
                          </a:rPr>
                          <m:t>𝒚𝒆𝒂𝒓</m:t>
                        </m:r>
                        <m:r>
                          <a:rPr lang="en-SG" b="1" i="1" smtClean="0">
                            <a:latin typeface="Cambria Math" panose="02040503050406030204" pitchFamily="18" charset="0"/>
                          </a:rPr>
                          <m:t>)</m:t>
                        </m:r>
                      </m:num>
                      <m:den>
                        <m:r>
                          <a:rPr lang="en-SG" b="1" i="1" smtClean="0">
                            <a:latin typeface="Cambria Math" panose="02040503050406030204" pitchFamily="18" charset="0"/>
                          </a:rPr>
                          <m:t>𝑪𝑷𝑰</m:t>
                        </m:r>
                        <m:r>
                          <a:rPr lang="en-SG" b="1" i="1" smtClean="0">
                            <a:latin typeface="Cambria Math" panose="02040503050406030204" pitchFamily="18" charset="0"/>
                          </a:rPr>
                          <m:t> </m:t>
                        </m:r>
                        <m:r>
                          <a:rPr lang="en-SG" b="1" i="1" smtClean="0">
                            <a:latin typeface="Cambria Math" panose="02040503050406030204" pitchFamily="18" charset="0"/>
                          </a:rPr>
                          <m:t>𝒍𝒂𝒔𝒕</m:t>
                        </m:r>
                        <m:r>
                          <a:rPr lang="en-SG" b="1" i="1" smtClean="0">
                            <a:latin typeface="Cambria Math" panose="02040503050406030204" pitchFamily="18" charset="0"/>
                          </a:rPr>
                          <m:t> </m:t>
                        </m:r>
                        <m:r>
                          <a:rPr lang="en-SG" b="1" i="1" smtClean="0">
                            <a:latin typeface="Cambria Math" panose="02040503050406030204" pitchFamily="18" charset="0"/>
                          </a:rPr>
                          <m:t>𝒚𝒆𝒂𝒓</m:t>
                        </m:r>
                      </m:den>
                    </m:f>
                  </m:oMath>
                </a14:m>
                <a:r>
                  <a:rPr lang="en-SG" b="1" i="1" dirty="0"/>
                  <a:t>x100</a:t>
                </a:r>
              </a:p>
              <a:p>
                <a:pPr algn="just"/>
                <a:r>
                  <a:rPr lang="en-US" sz="1800" b="0" i="0" u="none" strike="noStrike" baseline="0" dirty="0">
                    <a:latin typeface="AGaramond-Regular"/>
                  </a:rPr>
                  <a:t>The CPI is not a perfect measure of the price level and changes in the CPI probably overstate the inflation rate. Let’s look at the sources of bias.</a:t>
                </a:r>
                <a:endParaRPr lang="en-SG" dirty="0"/>
              </a:p>
            </p:txBody>
          </p:sp>
        </mc:Choice>
        <mc:Fallback xmlns="">
          <p:sp>
            <p:nvSpPr>
              <p:cNvPr id="3" name="Content Placeholder 2">
                <a:extLst>
                  <a:ext uri="{FF2B5EF4-FFF2-40B4-BE49-F238E27FC236}">
                    <a16:creationId xmlns:a16="http://schemas.microsoft.com/office/drawing/2014/main" id="{D0D0AD67-8DE5-9FE8-ACAB-DB87E35CEC2B}"/>
                  </a:ext>
                </a:extLst>
              </p:cNvPr>
              <p:cNvSpPr>
                <a:spLocks noGrp="1" noRot="1" noChangeAspect="1" noMove="1" noResize="1" noEditPoints="1" noAdjustHandles="1" noChangeArrowheads="1" noChangeShapeType="1" noTextEdit="1"/>
              </p:cNvSpPr>
              <p:nvPr>
                <p:ph sz="half" idx="1"/>
              </p:nvPr>
            </p:nvSpPr>
            <p:spPr>
              <a:xfrm>
                <a:off x="1154953" y="2603500"/>
                <a:ext cx="6029617" cy="3416301"/>
              </a:xfrm>
              <a:blipFill>
                <a:blip r:embed="rId2"/>
                <a:stretch>
                  <a:fillRect l="-808" t="-891" r="-808"/>
                </a:stretch>
              </a:blipFill>
            </p:spPr>
            <p:txBody>
              <a:bodyPr/>
              <a:lstStyle/>
              <a:p>
                <a:r>
                  <a:rPr lang="en-SG">
                    <a:noFill/>
                  </a:rPr>
                  <a:t> </a:t>
                </a:r>
              </a:p>
            </p:txBody>
          </p:sp>
        </mc:Fallback>
      </mc:AlternateContent>
      <p:pic>
        <p:nvPicPr>
          <p:cNvPr id="6" name="Content Placeholder 5">
            <a:extLst>
              <a:ext uri="{FF2B5EF4-FFF2-40B4-BE49-F238E27FC236}">
                <a16:creationId xmlns:a16="http://schemas.microsoft.com/office/drawing/2014/main" id="{DF1D6661-A96B-6EE6-12F9-037E2B42BB70}"/>
              </a:ext>
            </a:extLst>
          </p:cNvPr>
          <p:cNvPicPr>
            <a:picLocks noGrp="1" noChangeAspect="1"/>
          </p:cNvPicPr>
          <p:nvPr>
            <p:ph sz="half" idx="2"/>
          </p:nvPr>
        </p:nvPicPr>
        <p:blipFill>
          <a:blip r:embed="rId3">
            <a:extLst>
              <a:ext uri="{28A0092B-C50C-407E-A947-70E740481C1C}">
                <a14:useLocalDpi xmlns:a14="http://schemas.microsoft.com/office/drawing/2010/main" val="0"/>
              </a:ext>
            </a:extLst>
          </a:blip>
          <a:stretch>
            <a:fillRect/>
          </a:stretch>
        </p:blipFill>
        <p:spPr>
          <a:xfrm>
            <a:off x="7688533" y="440871"/>
            <a:ext cx="4084367" cy="6008915"/>
          </a:xfrm>
        </p:spPr>
      </p:pic>
    </p:spTree>
    <p:extLst>
      <p:ext uri="{BB962C8B-B14F-4D97-AF65-F5344CB8AC3E}">
        <p14:creationId xmlns:p14="http://schemas.microsoft.com/office/powerpoint/2010/main" val="309834846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5EFE3C-E467-CE65-524B-183487FF2209}"/>
              </a:ext>
            </a:extLst>
          </p:cNvPr>
          <p:cNvSpPr>
            <a:spLocks noGrp="1"/>
          </p:cNvSpPr>
          <p:nvPr>
            <p:ph type="title"/>
          </p:nvPr>
        </p:nvSpPr>
        <p:spPr/>
        <p:txBody>
          <a:bodyPr/>
          <a:lstStyle/>
          <a:p>
            <a:r>
              <a:rPr lang="en-SG" dirty="0"/>
              <a:t>The Biased CPI</a:t>
            </a:r>
          </a:p>
        </p:txBody>
      </p:sp>
      <p:sp>
        <p:nvSpPr>
          <p:cNvPr id="3" name="Content Placeholder 2">
            <a:extLst>
              <a:ext uri="{FF2B5EF4-FFF2-40B4-BE49-F238E27FC236}">
                <a16:creationId xmlns:a16="http://schemas.microsoft.com/office/drawing/2014/main" id="{711E6560-7D84-7F8D-0662-9BAA08ABE784}"/>
              </a:ext>
            </a:extLst>
          </p:cNvPr>
          <p:cNvSpPr>
            <a:spLocks noGrp="1"/>
          </p:cNvSpPr>
          <p:nvPr>
            <p:ph idx="1"/>
          </p:nvPr>
        </p:nvSpPr>
        <p:spPr>
          <a:xfrm>
            <a:off x="1154954" y="2603500"/>
            <a:ext cx="10160746" cy="3416300"/>
          </a:xfrm>
        </p:spPr>
        <p:txBody>
          <a:bodyPr>
            <a:normAutofit/>
          </a:bodyPr>
          <a:lstStyle/>
          <a:p>
            <a:pPr marL="0" indent="0" algn="just">
              <a:buNone/>
            </a:pPr>
            <a:r>
              <a:rPr lang="en-US" sz="2400" b="1" i="0" u="none" strike="noStrike" baseline="0" dirty="0">
                <a:latin typeface="AGaramond-Regular"/>
              </a:rPr>
              <a:t>The main sources of bias in the CPI are: </a:t>
            </a:r>
          </a:p>
          <a:p>
            <a:pPr marL="0" indent="0" algn="just">
              <a:buNone/>
            </a:pPr>
            <a:r>
              <a:rPr lang="en-SG" sz="1800" b="0" i="0" u="none" strike="noStrike" baseline="0" dirty="0">
                <a:latin typeface="ZapfDingbats"/>
              </a:rPr>
              <a:t>■ </a:t>
            </a:r>
            <a:r>
              <a:rPr lang="en-SG" sz="1800" b="0" i="0" u="none" strike="noStrike" baseline="0" dirty="0">
                <a:latin typeface="AGaramond-Regular"/>
              </a:rPr>
              <a:t>New goods bias : The arrival of new technologies put an upward bias into the CPI and its inflation rate. </a:t>
            </a:r>
          </a:p>
          <a:p>
            <a:pPr marL="0" indent="0" algn="just">
              <a:buNone/>
            </a:pPr>
            <a:r>
              <a:rPr lang="en-SG" sz="1800" b="0" i="0" u="none" strike="noStrike" baseline="0" dirty="0">
                <a:latin typeface="ZapfDingbats"/>
              </a:rPr>
              <a:t>■ </a:t>
            </a:r>
            <a:r>
              <a:rPr lang="en-SG" sz="1800" b="0" i="0" u="none" strike="noStrike" baseline="0" dirty="0">
                <a:latin typeface="AGaramond-Regular"/>
              </a:rPr>
              <a:t>Quality change bias : </a:t>
            </a:r>
            <a:r>
              <a:rPr lang="en-US" sz="1800" b="0" i="0" u="none" strike="noStrike" baseline="0" dirty="0">
                <a:latin typeface="AGaramond-Regular"/>
              </a:rPr>
              <a:t>Part of the rise in the prices of these items is a payment for improved quality and is not inflation. But the CPI counts the entire price rise as inflation and so overstates inflation.</a:t>
            </a:r>
            <a:endParaRPr lang="en-SG" sz="1800" b="0" i="0" u="none" strike="noStrike" baseline="0" dirty="0">
              <a:latin typeface="AGaramond-Regular"/>
            </a:endParaRPr>
          </a:p>
          <a:p>
            <a:pPr marL="0" indent="0" algn="just">
              <a:buNone/>
            </a:pPr>
            <a:r>
              <a:rPr lang="en-SG" sz="1800" b="0" i="0" u="none" strike="noStrike" baseline="0" dirty="0">
                <a:latin typeface="ZapfDingbats"/>
              </a:rPr>
              <a:t>■ </a:t>
            </a:r>
            <a:r>
              <a:rPr lang="en-SG" sz="1800" b="0" i="0" u="none" strike="noStrike" baseline="0" dirty="0">
                <a:latin typeface="AGaramond-Regular"/>
              </a:rPr>
              <a:t>Commodity substitution bias : Changes in relative </a:t>
            </a:r>
            <a:r>
              <a:rPr lang="en-US" sz="1800" b="0" i="0" u="none" strike="noStrike" baseline="0" dirty="0">
                <a:latin typeface="AGaramond-Regular"/>
              </a:rPr>
              <a:t>prices lead consumers to change the items they buy.</a:t>
            </a:r>
            <a:endParaRPr lang="en-SG" sz="1800" b="0" i="0" u="none" strike="noStrike" baseline="0" dirty="0">
              <a:latin typeface="AGaramond-Regular"/>
            </a:endParaRPr>
          </a:p>
          <a:p>
            <a:pPr marL="0" indent="0" algn="just">
              <a:buNone/>
            </a:pPr>
            <a:r>
              <a:rPr lang="en-SG" sz="1800" b="0" i="0" u="none" strike="noStrike" baseline="0" dirty="0">
                <a:latin typeface="ZapfDingbats"/>
              </a:rPr>
              <a:t>■ </a:t>
            </a:r>
            <a:r>
              <a:rPr lang="en-SG" sz="1800" b="0" i="0" u="none" strike="noStrike" baseline="0" dirty="0">
                <a:latin typeface="AGaramond-Regular"/>
              </a:rPr>
              <a:t>Outlet substitution bias: When confronted with </a:t>
            </a:r>
            <a:r>
              <a:rPr lang="en-US" sz="1800" b="0" i="0" u="none" strike="noStrike" baseline="0" dirty="0">
                <a:latin typeface="AGaramond-Regular"/>
              </a:rPr>
              <a:t>higher prices, people use discount stores more frequently and convenience stores less frequently. This phenomenon is called </a:t>
            </a:r>
            <a:r>
              <a:rPr lang="en-US" sz="1800" b="0" i="1" u="none" strike="noStrike" baseline="0" dirty="0">
                <a:latin typeface="AGaramond-Italic"/>
              </a:rPr>
              <a:t>outlet substitution</a:t>
            </a:r>
            <a:r>
              <a:rPr lang="en-US" sz="1800" b="0" i="0" u="none" strike="noStrike" baseline="0" dirty="0">
                <a:latin typeface="AGaramond-Regular"/>
              </a:rPr>
              <a:t>. The CPI surveys do not monitor outlet substitutions.</a:t>
            </a:r>
            <a:endParaRPr lang="en-SG" dirty="0"/>
          </a:p>
        </p:txBody>
      </p:sp>
    </p:spTree>
    <p:extLst>
      <p:ext uri="{BB962C8B-B14F-4D97-AF65-F5344CB8AC3E}">
        <p14:creationId xmlns:p14="http://schemas.microsoft.com/office/powerpoint/2010/main" val="320098039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DEB15B-D1DC-EBD4-541F-74F6569DC66D}"/>
              </a:ext>
            </a:extLst>
          </p:cNvPr>
          <p:cNvSpPr>
            <a:spLocks noGrp="1"/>
          </p:cNvSpPr>
          <p:nvPr>
            <p:ph type="title"/>
          </p:nvPr>
        </p:nvSpPr>
        <p:spPr>
          <a:xfrm>
            <a:off x="1154954" y="973668"/>
            <a:ext cx="9785189" cy="706964"/>
          </a:xfrm>
        </p:spPr>
        <p:txBody>
          <a:bodyPr/>
          <a:lstStyle/>
          <a:p>
            <a:r>
              <a:rPr lang="en-SG" dirty="0"/>
              <a:t>Alternative Price Index: The GDP Deflator</a:t>
            </a:r>
          </a:p>
        </p:txBody>
      </p:sp>
      <p:sp>
        <p:nvSpPr>
          <p:cNvPr id="3" name="Content Placeholder 2">
            <a:extLst>
              <a:ext uri="{FF2B5EF4-FFF2-40B4-BE49-F238E27FC236}">
                <a16:creationId xmlns:a16="http://schemas.microsoft.com/office/drawing/2014/main" id="{5D0C68F3-B139-4A11-EACF-729659B68E14}"/>
              </a:ext>
            </a:extLst>
          </p:cNvPr>
          <p:cNvSpPr>
            <a:spLocks noGrp="1"/>
          </p:cNvSpPr>
          <p:nvPr>
            <p:ph idx="1"/>
          </p:nvPr>
        </p:nvSpPr>
        <p:spPr>
          <a:xfrm>
            <a:off x="1154954" y="2603500"/>
            <a:ext cx="9785189" cy="3416300"/>
          </a:xfrm>
        </p:spPr>
        <p:txBody>
          <a:bodyPr>
            <a:normAutofit lnSpcReduction="10000"/>
          </a:bodyPr>
          <a:lstStyle/>
          <a:p>
            <a:pPr algn="just"/>
            <a:r>
              <a:rPr lang="en-US" sz="1800" b="0" i="0" u="none" strike="noStrike" baseline="0" dirty="0">
                <a:latin typeface="AGaramond-Regular"/>
              </a:rPr>
              <a:t>The CPI is just one of many alternative price level index numbers and because of the bias in the CPI, other measures are used for some purposes.</a:t>
            </a:r>
          </a:p>
          <a:p>
            <a:pPr algn="just"/>
            <a:r>
              <a:rPr lang="en-US" dirty="0">
                <a:latin typeface="AGaramond-Regular"/>
              </a:rPr>
              <a:t>The GDP deflator is an index of the prices of all the items in the GDP. So, the GDP deflator is an </a:t>
            </a:r>
            <a:r>
              <a:rPr lang="en-SG" sz="1800" b="0" i="0" u="none" strike="noStrike" baseline="0" dirty="0">
                <a:latin typeface="AGaramond-Regular"/>
              </a:rPr>
              <a:t>index </a:t>
            </a:r>
            <a:r>
              <a:rPr lang="en-US" sz="1800" b="0" i="0" u="none" strike="noStrike" baseline="0" dirty="0">
                <a:latin typeface="AGaramond-Regular"/>
              </a:rPr>
              <a:t>of the prices of the items in consumption, investment, government expenditure, and net exports.</a:t>
            </a:r>
          </a:p>
          <a:p>
            <a:pPr algn="just"/>
            <a:r>
              <a:rPr lang="en-US" dirty="0">
                <a:latin typeface="AGaramond-Regular"/>
              </a:rPr>
              <a:t>GDP deflator= (Nominal GDP/ Real GDP)*100</a:t>
            </a:r>
          </a:p>
          <a:p>
            <a:pPr algn="just"/>
            <a:r>
              <a:rPr lang="en-US" sz="1800" b="0" i="0" u="none" strike="noStrike" baseline="0" dirty="0">
                <a:latin typeface="AGaramond-Regular"/>
              </a:rPr>
              <a:t>This broader price index is appropriate for macroeconomics because it is a comprehensive measure of the cost of the real GDP basket of goods and services.</a:t>
            </a:r>
          </a:p>
          <a:p>
            <a:r>
              <a:rPr lang="en-US" sz="1800" b="0" i="0" u="none" strike="noStrike" baseline="0" dirty="0">
                <a:latin typeface="AGaramond-Regular"/>
              </a:rPr>
              <a:t>We can adjust any nominal quantity or price variable for inflation by deflating it—by dividing it by </a:t>
            </a:r>
            <a:r>
              <a:rPr lang="en-SG" sz="1800" b="0" i="0" u="none" strike="noStrike" baseline="0" dirty="0">
                <a:latin typeface="AGaramond-Regular"/>
              </a:rPr>
              <a:t>the price level.</a:t>
            </a:r>
            <a:br>
              <a:rPr lang="en-US" dirty="0">
                <a:latin typeface="AGaramond-Regular"/>
              </a:rPr>
            </a:br>
            <a:endParaRPr lang="en-US" dirty="0">
              <a:latin typeface="AGaramond-Regular"/>
            </a:endParaRPr>
          </a:p>
        </p:txBody>
      </p:sp>
    </p:spTree>
    <p:extLst>
      <p:ext uri="{BB962C8B-B14F-4D97-AF65-F5344CB8AC3E}">
        <p14:creationId xmlns:p14="http://schemas.microsoft.com/office/powerpoint/2010/main" val="2136334619"/>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Boardroom">
  <a:themeElements>
    <a:clrScheme name="Ion Boardroom">
      <a:dk1>
        <a:sysClr val="windowText" lastClr="000000"/>
      </a:dk1>
      <a:lt1>
        <a:sysClr val="window" lastClr="FFFFFF"/>
      </a:lt1>
      <a:dk2>
        <a:srgbClr val="3B3059"/>
      </a:dk2>
      <a:lt2>
        <a:srgbClr val="EBEBEB"/>
      </a:lt2>
      <a:accent1>
        <a:srgbClr val="B31166"/>
      </a:accent1>
      <a:accent2>
        <a:srgbClr val="E33D6F"/>
      </a:accent2>
      <a:accent3>
        <a:srgbClr val="E45F3C"/>
      </a:accent3>
      <a:accent4>
        <a:srgbClr val="E9943A"/>
      </a:accent4>
      <a:accent5>
        <a:srgbClr val="9B6BF2"/>
      </a:accent5>
      <a:accent6>
        <a:srgbClr val="D53DD0"/>
      </a:accent6>
      <a:hlink>
        <a:srgbClr val="8F8F8F"/>
      </a:hlink>
      <a:folHlink>
        <a:srgbClr val="A5A5A5"/>
      </a:folHlink>
    </a:clrScheme>
    <a:fontScheme name="Ion Boardroom">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Boardroom">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8000"/>
                <a:hueMod val="124000"/>
                <a:satMod val="148000"/>
                <a:lumMod val="124000"/>
              </a:schemeClr>
            </a:gs>
            <a:gs pos="100000">
              <a:schemeClr val="phClr">
                <a:shade val="76000"/>
                <a:hueMod val="89000"/>
                <a:satMod val="164000"/>
                <a:lumMod val="56000"/>
              </a:schemeClr>
            </a:gs>
          </a:gsLst>
          <a:path path="circle">
            <a:fillToRect l="45000" t="65000" r="125000" b="100000"/>
          </a:path>
        </a:gradFill>
        <a:blipFill rotWithShape="1">
          <a:blip xmlns:r="http://schemas.openxmlformats.org/officeDocument/2006/relationships" r:embed="rId1">
            <a:duotone>
              <a:schemeClr val="phClr">
                <a:shade val="69000"/>
                <a:hueMod val="91000"/>
                <a:satMod val="164000"/>
                <a:lumMod val="74000"/>
              </a:schemeClr>
              <a:schemeClr val="phClr">
                <a:hueMod val="124000"/>
                <a:satMod val="140000"/>
                <a:lumMod val="142000"/>
              </a:schemeClr>
            </a:duotone>
          </a:blip>
          <a:stretch/>
        </a:blipFill>
      </a:bgFillStyleLst>
    </a:fmtScheme>
  </a:themeElements>
  <a:objectDefaults/>
  <a:extraClrSchemeLst/>
  <a:extLst>
    <a:ext uri="{05A4C25C-085E-4340-85A3-A5531E510DB2}">
      <thm15:themeFamily xmlns:thm15="http://schemas.microsoft.com/office/thememl/2012/main" name="Ion Boardroom" id="{FC33163D-4339-46B1-8EED-24C834239D99}" vid="{B8502691-933B-45FE-8764-BA278511EF27}"/>
    </a:ext>
  </a:extLst>
</a:theme>
</file>

<file path=docProps/app.xml><?xml version="1.0" encoding="utf-8"?>
<Properties xmlns="http://schemas.openxmlformats.org/officeDocument/2006/extended-properties" xmlns:vt="http://schemas.openxmlformats.org/officeDocument/2006/docPropsVTypes">
  <Template>Ion Boardroom</Template>
  <TotalTime>308</TotalTime>
  <Words>1006</Words>
  <Application>Microsoft Office PowerPoint</Application>
  <PresentationFormat>Widescreen</PresentationFormat>
  <Paragraphs>59</Paragraphs>
  <Slides>10</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10</vt:i4>
      </vt:variant>
    </vt:vector>
  </HeadingPairs>
  <TitlesOfParts>
    <vt:vector size="19" baseType="lpstr">
      <vt:lpstr>AGaramond-Italic</vt:lpstr>
      <vt:lpstr>AGaramond-Regular</vt:lpstr>
      <vt:lpstr>Arial</vt:lpstr>
      <vt:lpstr>Cambria Math</vt:lpstr>
      <vt:lpstr>Century Gothic</vt:lpstr>
      <vt:lpstr>Futura-Heavy</vt:lpstr>
      <vt:lpstr>Wingdings 3</vt:lpstr>
      <vt:lpstr>ZapfDingbats</vt:lpstr>
      <vt:lpstr>Ion Boardroom</vt:lpstr>
      <vt:lpstr>ECO102: Introduction to Macroeconomics</vt:lpstr>
      <vt:lpstr>Price Level, Inflation and Deflation</vt:lpstr>
      <vt:lpstr>Why Inflation is a problem: </vt:lpstr>
      <vt:lpstr>Why Inflation is a problem (Contd.)</vt:lpstr>
      <vt:lpstr>Consumer Price Index </vt:lpstr>
      <vt:lpstr>Stage 1 and 2: </vt:lpstr>
      <vt:lpstr>Stage 3: Calculating the CPI</vt:lpstr>
      <vt:lpstr>Measuring the Inflation Rate</vt:lpstr>
      <vt:lpstr>The Biased CPI</vt:lpstr>
      <vt:lpstr>Alternative Price Index: The GDP Deflator</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ECO102: Introduction to Macroeconomics</dc:title>
  <dc:creator>Addrita Shams</dc:creator>
  <cp:lastModifiedBy>Addrita Shams</cp:lastModifiedBy>
  <cp:revision>14</cp:revision>
  <dcterms:created xsi:type="dcterms:W3CDTF">2024-01-31T10:22:06Z</dcterms:created>
  <dcterms:modified xsi:type="dcterms:W3CDTF">2024-11-04T00:11:27Z</dcterms:modified>
</cp:coreProperties>
</file>