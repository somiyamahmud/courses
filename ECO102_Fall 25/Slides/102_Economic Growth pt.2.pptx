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73" r:id="rId3"/>
    <p:sldId id="267" r:id="rId4"/>
    <p:sldId id="268" r:id="rId5"/>
    <p:sldId id="269" r:id="rId6"/>
    <p:sldId id="270" r:id="rId7"/>
    <p:sldId id="271" r:id="rId8"/>
    <p:sldId id="27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6233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866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8152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4374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16321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3553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6061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3499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2696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23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27566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316473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5480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90534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1874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7428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5692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2F58BE4-27D5-4179-98B0-07A06B122EB1}" type="datetimeFigureOut">
              <a:rPr lang="en-SG" smtClean="0"/>
              <a:t>10/11/2024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SG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BFFF405-318E-4CC9-B841-8CA8DEC0BC7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4553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D7A00-9125-B0BF-D2B8-12FD71820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904127"/>
            <a:ext cx="8825658" cy="2722652"/>
          </a:xfrm>
        </p:spPr>
        <p:txBody>
          <a:bodyPr/>
          <a:lstStyle/>
          <a:p>
            <a:r>
              <a:rPr lang="en-SG" dirty="0"/>
              <a:t>ECO102: Introduction to Macroeconomics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EAA975-DE50-A324-6452-99B681E1A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821987"/>
            <a:ext cx="8825658" cy="1816813"/>
          </a:xfrm>
        </p:spPr>
        <p:txBody>
          <a:bodyPr/>
          <a:lstStyle/>
          <a:p>
            <a:r>
              <a:rPr lang="en-SG" dirty="0"/>
              <a:t>Lecturer: Addrita Shams (RTA)</a:t>
            </a:r>
          </a:p>
          <a:p>
            <a:endParaRPr lang="en-SG" dirty="0"/>
          </a:p>
          <a:p>
            <a:r>
              <a:rPr lang="en-SG" dirty="0"/>
              <a:t>Lecture 08</a:t>
            </a:r>
          </a:p>
          <a:p>
            <a:r>
              <a:rPr lang="en-SG" dirty="0"/>
              <a:t>Chapter 23: Economic Growth</a:t>
            </a:r>
          </a:p>
        </p:txBody>
      </p:sp>
    </p:spTree>
    <p:extLst>
      <p:ext uri="{BB962C8B-B14F-4D97-AF65-F5344CB8AC3E}">
        <p14:creationId xmlns:p14="http://schemas.microsoft.com/office/powerpoint/2010/main" val="1792763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B9649-0097-E840-CE82-8323B7D51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Growth of Labor Productivity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8BBCC-3E75-28A6-85D6-A72AD29BF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4" y="2352782"/>
            <a:ext cx="6396552" cy="4263775"/>
          </a:xfrm>
        </p:spPr>
        <p:txBody>
          <a:bodyPr>
            <a:normAutofit/>
          </a:bodyPr>
          <a:lstStyle/>
          <a:p>
            <a:pPr algn="just"/>
            <a:endParaRPr lang="en-SG" sz="1600" b="1" i="0" u="none" strike="noStrike" baseline="0" dirty="0">
              <a:latin typeface="Futura-Heavy"/>
            </a:endParaRPr>
          </a:p>
          <a:p>
            <a:pPr algn="just"/>
            <a:r>
              <a:rPr lang="en-SG" sz="1600" b="1" i="0" u="none" strike="noStrike" baseline="0" dirty="0">
                <a:latin typeface="Futura-Heavy"/>
              </a:rPr>
              <a:t>Labor productivity </a:t>
            </a:r>
            <a:r>
              <a:rPr lang="en-SG" sz="1600" b="0" i="0" u="none" strike="noStrike" baseline="0" dirty="0">
                <a:latin typeface="AGaramond-Regular"/>
              </a:rPr>
              <a:t>is the </a:t>
            </a:r>
            <a:r>
              <a:rPr lang="en-US" sz="1600" b="0" i="0" u="none" strike="noStrike" baseline="0" dirty="0">
                <a:latin typeface="AGaramond-Regular"/>
              </a:rPr>
              <a:t>quantity of real GDP produced by an hour of labor. It is calculated by dividing real GDP by aggregate </a:t>
            </a:r>
            <a:r>
              <a:rPr lang="en-SG" sz="1600" b="0" i="0" u="none" strike="noStrike" baseline="0" dirty="0" err="1">
                <a:latin typeface="AGaramond-Regular"/>
              </a:rPr>
              <a:t>labor</a:t>
            </a:r>
            <a:r>
              <a:rPr lang="en-SG" sz="1600" b="0" i="0" u="none" strike="noStrike" baseline="0" dirty="0">
                <a:latin typeface="AGaramond-Regular"/>
              </a:rPr>
              <a:t> hours.</a:t>
            </a:r>
          </a:p>
          <a:p>
            <a:pPr algn="just"/>
            <a:r>
              <a:rPr lang="en-US" sz="1600" b="0" i="0" u="none" strike="noStrike" baseline="0" dirty="0">
                <a:latin typeface="AGaramond-Regular"/>
              </a:rPr>
              <a:t>When labor productivity grows, real GDP per person grows and brings a rising standard of living.</a:t>
            </a:r>
            <a:endParaRPr lang="en-SG" sz="1600" dirty="0">
              <a:latin typeface="AGaramond-Regular"/>
            </a:endParaRPr>
          </a:p>
          <a:p>
            <a:pPr algn="just"/>
            <a:r>
              <a:rPr lang="en-SG" sz="1600" dirty="0">
                <a:latin typeface="AGaramond-Regular"/>
              </a:rPr>
              <a:t>L</a:t>
            </a:r>
            <a:r>
              <a:rPr lang="en-SG" sz="1600" b="0" i="0" u="none" strike="noStrike" baseline="0" dirty="0">
                <a:latin typeface="AGaramond-Regular"/>
              </a:rPr>
              <a:t>abor productivity increases, production possibilities expand. </a:t>
            </a:r>
            <a:r>
              <a:rPr lang="en-US" sz="1600" b="0" i="0" u="none" strike="noStrike" baseline="0" dirty="0">
                <a:latin typeface="AGaramond-Regular"/>
              </a:rPr>
              <a:t>The quantity of real GDP that any given quantity of labor can produce increases. </a:t>
            </a:r>
          </a:p>
          <a:p>
            <a:pPr algn="just"/>
            <a:r>
              <a:rPr lang="en-US" sz="1600" b="0" i="0" u="none" strike="noStrike" baseline="0" dirty="0">
                <a:latin typeface="AGaramond-Regular"/>
              </a:rPr>
              <a:t>If labor is more productive, firms are willing to pay more for a given number of hours of labor so the demand for labor also </a:t>
            </a:r>
            <a:r>
              <a:rPr lang="en-SG" sz="1600" b="0" i="0" u="none" strike="noStrike" baseline="0" dirty="0">
                <a:latin typeface="AGaramond-Regular"/>
              </a:rPr>
              <a:t>increases.</a:t>
            </a:r>
          </a:p>
          <a:p>
            <a:pPr algn="just"/>
            <a:r>
              <a:rPr lang="en-US" sz="1600" b="0" i="0" u="none" strike="noStrike" baseline="0" dirty="0">
                <a:latin typeface="AGaramond-Regular"/>
              </a:rPr>
              <a:t>So an increase in labor productivity increases potential GDP for two reasons: Labor is more productive and more labor is employed.</a:t>
            </a:r>
            <a:endParaRPr lang="en-SG" sz="1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AB89D1-2CB7-5121-ADD2-74F8DF0A9D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731" y="1112892"/>
            <a:ext cx="3554858" cy="5185166"/>
          </a:xfrm>
        </p:spPr>
      </p:pic>
    </p:spTree>
    <p:extLst>
      <p:ext uri="{BB962C8B-B14F-4D97-AF65-F5344CB8AC3E}">
        <p14:creationId xmlns:p14="http://schemas.microsoft.com/office/powerpoint/2010/main" val="2967930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2330-8A7C-2B18-8989-835E02748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Why Labour Productivity Grows?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1970F-EA0C-4AF2-39D9-A14878494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55524"/>
            <a:ext cx="9735653" cy="4058292"/>
          </a:xfrm>
        </p:spPr>
        <p:txBody>
          <a:bodyPr>
            <a:normAutofit/>
          </a:bodyPr>
          <a:lstStyle/>
          <a:p>
            <a:pPr algn="just"/>
            <a:r>
              <a:rPr lang="en-SG" dirty="0">
                <a:latin typeface="AGaramond-Regular"/>
              </a:rPr>
              <a:t>L</a:t>
            </a:r>
            <a:r>
              <a:rPr lang="en-SG" sz="1800" b="0" i="0" u="none" strike="noStrike" baseline="0" dirty="0">
                <a:latin typeface="AGaramond-Regular"/>
              </a:rPr>
              <a:t>abor productivity </a:t>
            </a:r>
            <a:r>
              <a:rPr lang="en-US" sz="1800" b="0" i="0" u="none" strike="noStrike" baseline="0" dirty="0">
                <a:latin typeface="AGaramond-Regular"/>
              </a:rPr>
              <a:t>growth is essential if real GDP per person and the standard of living are to grow.</a:t>
            </a:r>
          </a:p>
          <a:p>
            <a:pPr algn="just"/>
            <a:r>
              <a:rPr lang="en-US" sz="1800" b="1" i="0" u="none" strike="noStrike" baseline="0" dirty="0">
                <a:latin typeface="Futura-Heavy"/>
              </a:rPr>
              <a:t>Preconditions for Labor Productivity Growth</a:t>
            </a:r>
            <a:endParaRPr lang="en-US" dirty="0">
              <a:latin typeface="AGaramond-Regular"/>
            </a:endParaRP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The fundamental precondition for labor productivity growth is the </a:t>
            </a:r>
            <a:r>
              <a:rPr lang="en-US" sz="1800" b="0" i="1" u="none" strike="noStrike" baseline="0" dirty="0">
                <a:latin typeface="AGaramond-Italic"/>
              </a:rPr>
              <a:t>incentive </a:t>
            </a:r>
            <a:r>
              <a:rPr lang="en-US" sz="1800" b="0" i="0" u="none" strike="noStrike" baseline="0" dirty="0">
                <a:latin typeface="AGaramond-Regular"/>
              </a:rPr>
              <a:t>system created by firms, markets, </a:t>
            </a:r>
            <a:r>
              <a:rPr lang="en-SG" sz="1800" b="0" i="0" u="none" strike="noStrike" baseline="0" dirty="0">
                <a:latin typeface="AGaramond-Regular"/>
              </a:rPr>
              <a:t>property rights, and money.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It was the presence of secure property rights in Britain in the middle 1700s that got the Industrial </a:t>
            </a:r>
            <a:r>
              <a:rPr lang="en-SG" sz="1800" b="0" i="0" u="none" strike="noStrike" baseline="0" dirty="0">
                <a:latin typeface="AGaramond-Regular"/>
              </a:rPr>
              <a:t>Revolution going.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With the preconditions for labor productivity growth in place, three things influence its pace:</a:t>
            </a:r>
          </a:p>
          <a:p>
            <a:pPr marL="400050" lvl="1" indent="0" algn="just">
              <a:buNone/>
            </a:pPr>
            <a:r>
              <a:rPr lang="en-SG" b="0" i="0" u="none" strike="noStrike" baseline="0" dirty="0">
                <a:latin typeface="ZapfDingbats"/>
              </a:rPr>
              <a:t>■ </a:t>
            </a:r>
            <a:r>
              <a:rPr lang="en-SG" b="0" i="0" u="none" strike="noStrike" baseline="0" dirty="0">
                <a:latin typeface="AGaramond-Regular"/>
              </a:rPr>
              <a:t>Physical capital growth</a:t>
            </a:r>
          </a:p>
          <a:p>
            <a:pPr marL="400050" lvl="1" indent="0" algn="just">
              <a:buNone/>
            </a:pPr>
            <a:r>
              <a:rPr lang="en-SG" b="0" i="0" u="none" strike="noStrike" baseline="0" dirty="0">
                <a:latin typeface="ZapfDingbats"/>
              </a:rPr>
              <a:t>■ </a:t>
            </a:r>
            <a:r>
              <a:rPr lang="en-SG" b="0" i="0" u="none" strike="noStrike" baseline="0" dirty="0">
                <a:latin typeface="AGaramond-Regular"/>
              </a:rPr>
              <a:t>Human capital growth</a:t>
            </a:r>
          </a:p>
          <a:p>
            <a:pPr marL="400050" lvl="1" indent="0" algn="just">
              <a:buNone/>
            </a:pPr>
            <a:r>
              <a:rPr lang="en-SG" b="0" i="0" u="none" strike="noStrike" baseline="0" dirty="0">
                <a:latin typeface="ZapfDingbats"/>
              </a:rPr>
              <a:t>■ </a:t>
            </a:r>
            <a:r>
              <a:rPr lang="en-SG" b="0" i="0" u="none" strike="noStrike" baseline="0" dirty="0">
                <a:latin typeface="AGaramond-Regular"/>
              </a:rPr>
              <a:t>Technological advances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4497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7144C-C227-91EC-5A99-D0168C70755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69470" y="718457"/>
            <a:ext cx="10874830" cy="58293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SG" sz="1800" b="1" i="0" u="none" strike="noStrike" baseline="0" dirty="0">
                <a:latin typeface="Futura-Heavy"/>
              </a:rPr>
              <a:t>Physical Capital Growth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As the amount of capital per worker increases, labor </a:t>
            </a:r>
            <a:r>
              <a:rPr lang="en-SG" sz="1800" b="0" i="0" u="none" strike="noStrike" baseline="0" dirty="0">
                <a:latin typeface="AGaramond-Regular"/>
              </a:rPr>
              <a:t>productivity also increases.</a:t>
            </a:r>
          </a:p>
          <a:p>
            <a:pPr algn="just"/>
            <a:r>
              <a:rPr lang="en-SG" sz="1800" b="0" i="0" u="none" strike="noStrike" baseline="0" dirty="0">
                <a:latin typeface="AGaramond-Regular"/>
              </a:rPr>
              <a:t>Production processes that </a:t>
            </a:r>
            <a:r>
              <a:rPr lang="en-US" sz="1800" b="0" i="0" u="none" strike="noStrike" baseline="0" dirty="0">
                <a:latin typeface="AGaramond-Regular"/>
              </a:rPr>
              <a:t>use hand tools can create beautiful objects, but production methods that use large amounts of capital per worker are much more productive.</a:t>
            </a:r>
          </a:p>
          <a:p>
            <a:pPr marL="0" indent="0" algn="just">
              <a:buNone/>
            </a:pPr>
            <a:r>
              <a:rPr lang="en-SG" sz="1800" b="1" i="0" u="none" strike="noStrike" baseline="0" dirty="0">
                <a:latin typeface="Futura-Heavy"/>
              </a:rPr>
              <a:t>Human Capital Growth</a:t>
            </a:r>
            <a:endParaRPr lang="en-US" dirty="0">
              <a:latin typeface="AGaramond-Regular"/>
            </a:endParaRP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Human capital—the accumulated skill and knowledge of human beings—is the fundamental source of </a:t>
            </a:r>
            <a:r>
              <a:rPr lang="en-SG" sz="1800" b="0" i="0" u="none" strike="noStrike" baseline="0" dirty="0" err="1">
                <a:latin typeface="AGaramond-Regular"/>
              </a:rPr>
              <a:t>labor</a:t>
            </a:r>
            <a:r>
              <a:rPr lang="en-SG" sz="1800" b="0" i="0" u="none" strike="noStrike" baseline="0" dirty="0">
                <a:latin typeface="AGaramond-Regular"/>
              </a:rPr>
              <a:t> productivity growth.</a:t>
            </a:r>
          </a:p>
          <a:p>
            <a:pPr algn="just"/>
            <a:r>
              <a:rPr lang="en-SG" sz="1800" b="0" i="0" u="none" strike="noStrike" baseline="0" dirty="0">
                <a:latin typeface="AGaramond-Regular"/>
              </a:rPr>
              <a:t>Human capital grows </a:t>
            </a:r>
            <a:r>
              <a:rPr lang="en-US" sz="1800" b="0" i="0" u="none" strike="noStrike" baseline="0" dirty="0">
                <a:latin typeface="AGaramond-Regular"/>
              </a:rPr>
              <a:t>when a new discovery is made and it grows as more and more people learn how to use past discoveries</a:t>
            </a:r>
          </a:p>
          <a:p>
            <a:pPr marL="0" indent="0" algn="just">
              <a:buNone/>
            </a:pPr>
            <a:r>
              <a:rPr lang="en-SG" sz="1800" b="1" i="0" u="none" strike="noStrike" baseline="0" dirty="0">
                <a:latin typeface="Futura-Heavy"/>
              </a:rPr>
              <a:t>Technological Advances</a:t>
            </a:r>
            <a:endParaRPr lang="en-US" dirty="0">
              <a:latin typeface="AGaramond-Regular"/>
            </a:endParaRPr>
          </a:p>
          <a:p>
            <a:pPr algn="just"/>
            <a:r>
              <a:rPr lang="en-SG" dirty="0">
                <a:latin typeface="AGaramond-Regular"/>
              </a:rPr>
              <a:t>T</a:t>
            </a:r>
            <a:r>
              <a:rPr lang="en-SG" sz="1800" b="0" i="0" u="none" strike="noStrike" baseline="0" dirty="0">
                <a:latin typeface="AGaramond-Regular"/>
              </a:rPr>
              <a:t>echnological change—the </a:t>
            </a:r>
            <a:r>
              <a:rPr lang="en-US" sz="1800" b="0" i="0" u="none" strike="noStrike" baseline="0" dirty="0">
                <a:latin typeface="AGaramond-Regular"/>
              </a:rPr>
              <a:t>discovery and the application of new technologies— has made an even greater contribution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Technological advance arises from formal research and development programs and from informal trial and error, and it involves discovering new ways of getting more out of our resources.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To reap the benefits of technological change, capital </a:t>
            </a:r>
            <a:r>
              <a:rPr lang="en-SG" sz="1800" b="0" i="0" u="none" strike="noStrike" baseline="0" dirty="0">
                <a:latin typeface="AGaramond-Regular"/>
              </a:rPr>
              <a:t>must increase.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19469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8DFCA-B2B6-1D04-CEF1-50133DD02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Growth Theories (Self-study)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115F3-FB47-E083-716E-7D98F48B1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AGaramond-Regular"/>
              </a:rPr>
              <a:t>Alternative theories of economic growth provide insights into the process of economic growth, but none provides a complete and definite answer to the basic questions: What causes economic growth and why do growth rates vary?</a:t>
            </a:r>
            <a:endParaRPr lang="en-SG" dirty="0"/>
          </a:p>
          <a:p>
            <a:pPr algn="l"/>
            <a:r>
              <a:rPr lang="en-US" dirty="0">
                <a:latin typeface="AGaramond-Regular"/>
              </a:rPr>
              <a:t>T</a:t>
            </a:r>
            <a:r>
              <a:rPr lang="en-US" sz="1800" b="0" i="0" u="none" strike="noStrike" baseline="0" dirty="0">
                <a:latin typeface="AGaramond-Regular"/>
              </a:rPr>
              <a:t>he three main theories of </a:t>
            </a:r>
            <a:r>
              <a:rPr lang="en-SG" sz="1800" b="0" i="0" u="none" strike="noStrike" baseline="0" dirty="0">
                <a:latin typeface="AGaramond-Regular"/>
              </a:rPr>
              <a:t>economic growth:</a:t>
            </a:r>
          </a:p>
          <a:p>
            <a:pPr marL="400050" lvl="1" indent="0" algn="just">
              <a:buNone/>
            </a:pPr>
            <a:r>
              <a:rPr lang="en-SG" b="0" i="0" u="none" strike="noStrike" baseline="0" dirty="0">
                <a:latin typeface="ZapfDingbats"/>
              </a:rPr>
              <a:t>■ </a:t>
            </a:r>
            <a:r>
              <a:rPr lang="en-SG" b="0" i="0" u="none" strike="noStrike" baseline="0" dirty="0">
                <a:latin typeface="AGaramond-Regular"/>
              </a:rPr>
              <a:t>Classical growth theory</a:t>
            </a:r>
          </a:p>
          <a:p>
            <a:pPr marL="400050" lvl="1" indent="0">
              <a:buNone/>
            </a:pPr>
            <a:r>
              <a:rPr lang="en-SG" b="0" i="0" u="none" strike="noStrike" baseline="0" dirty="0">
                <a:latin typeface="ZapfDingbats"/>
              </a:rPr>
              <a:t>■ </a:t>
            </a:r>
            <a:r>
              <a:rPr lang="en-SG" b="0" i="0" u="none" strike="noStrike" baseline="0" dirty="0">
                <a:latin typeface="AGaramond-Regular"/>
              </a:rPr>
              <a:t>Neoclassical growth theory</a:t>
            </a:r>
          </a:p>
          <a:p>
            <a:pPr marL="400050" lvl="1" indent="0">
              <a:buNone/>
            </a:pPr>
            <a:r>
              <a:rPr lang="en-SG" b="0" i="0" u="none" strike="noStrike" baseline="0" dirty="0">
                <a:latin typeface="ZapfDingbats"/>
              </a:rPr>
              <a:t>■ </a:t>
            </a:r>
            <a:r>
              <a:rPr lang="en-SG" b="0" i="0" u="none" strike="noStrike" baseline="0" dirty="0">
                <a:latin typeface="AGaramond-Regular"/>
              </a:rPr>
              <a:t>New growth theory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57240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0BDD6-CABC-2EC3-4F87-6D834BB8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Classical Growth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EC1ED-28BA-2876-BE57-3F9D56AD0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i="0" u="none" strike="noStrike" baseline="0" dirty="0">
                <a:latin typeface="Futura-Heavy"/>
              </a:rPr>
              <a:t>Classical growth theory </a:t>
            </a:r>
            <a:r>
              <a:rPr lang="en-US" sz="1800" b="0" i="0" u="none" strike="noStrike" baseline="0" dirty="0">
                <a:latin typeface="AGaramond-Regular"/>
              </a:rPr>
              <a:t>is the view that the growth of real GDP per person is temporary and that when it rises above the subsistence level, a population explosion eventually brings it back to the subsistence level.</a:t>
            </a:r>
          </a:p>
          <a:p>
            <a:pPr algn="l"/>
            <a:r>
              <a:rPr lang="en-US" sz="1800" b="0" i="0" u="none" strike="noStrike" baseline="0" dirty="0">
                <a:latin typeface="AGaramond-Regular"/>
              </a:rPr>
              <a:t>Adam Smith, Thomas Robert Malthus, and David Ricardo—the leading economists of the late eighteenth century and early nineteenth century—proposed </a:t>
            </a:r>
            <a:r>
              <a:rPr lang="en-SG" sz="1800" b="0" i="0" u="none" strike="noStrike" baseline="0" dirty="0">
                <a:latin typeface="AGaramond-Regular"/>
              </a:rPr>
              <a:t>this theory.</a:t>
            </a:r>
          </a:p>
          <a:p>
            <a:pPr algn="l"/>
            <a:r>
              <a:rPr lang="en-US" dirty="0">
                <a:latin typeface="AGaramond-Regular"/>
              </a:rPr>
              <a:t>T</a:t>
            </a:r>
            <a:r>
              <a:rPr lang="en-US" sz="1800" b="0" i="0" u="none" strike="noStrike" baseline="0" dirty="0">
                <a:latin typeface="AGaramond-Regular"/>
              </a:rPr>
              <a:t>he view is most closely associated with the name of Malthus and is sometimes </a:t>
            </a:r>
            <a:r>
              <a:rPr lang="en-SG" sz="1800" b="0" i="0" u="none" strike="noStrike" baseline="0" dirty="0">
                <a:latin typeface="AGaramond-Regular"/>
              </a:rPr>
              <a:t>called the </a:t>
            </a:r>
            <a:r>
              <a:rPr lang="en-SG" sz="1800" b="0" i="1" u="none" strike="noStrike" baseline="0" dirty="0">
                <a:latin typeface="AGaramond-Italic"/>
              </a:rPr>
              <a:t>Malthusian theory</a:t>
            </a:r>
            <a:r>
              <a:rPr lang="en-SG" sz="1800" b="0" i="0" u="none" strike="noStrike" baseline="0" dirty="0">
                <a:latin typeface="AGaramond-Regular"/>
              </a:rPr>
              <a:t>.</a:t>
            </a:r>
          </a:p>
          <a:p>
            <a:pPr algn="l"/>
            <a:r>
              <a:rPr lang="en-US" dirty="0">
                <a:latin typeface="AGaramond-Regular"/>
              </a:rPr>
              <a:t>The theory suggests that population growth can outpace resources, and real GDP per person would decline, and we would return to a primitive standard of living.</a:t>
            </a:r>
          </a:p>
          <a:p>
            <a:pPr algn="l"/>
            <a:r>
              <a:rPr lang="en-US" sz="1800" b="0" i="0" u="none" strike="noStrike" baseline="0" dirty="0">
                <a:latin typeface="AGaramond-Regular"/>
              </a:rPr>
              <a:t>Modern-day Malthusians also point to global warming and climate change as reasons to believe that eventually, real GDP per person will decrease.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38743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D482C-C518-6C97-EE2D-7470A074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Neoclassical Growth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06265-060E-DFD2-B46F-D81C96B16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sz="1800" b="1" i="0" u="none" strike="noStrike" baseline="0" dirty="0">
                <a:latin typeface="Futura-Heavy"/>
              </a:rPr>
              <a:t>Neoclassical growth theory </a:t>
            </a:r>
            <a:r>
              <a:rPr lang="en-US" sz="1800" b="0" i="0" u="none" strike="noStrike" baseline="0" dirty="0">
                <a:latin typeface="AGaramond-Regular"/>
              </a:rPr>
              <a:t>is the proposition that real GDP per person grows because technological change induces saving and investment that make capital per </a:t>
            </a:r>
            <a:r>
              <a:rPr lang="en-SG" sz="1800" b="0" i="0" u="none" strike="noStrike" baseline="0" dirty="0">
                <a:latin typeface="AGaramond-Regular"/>
              </a:rPr>
              <a:t>hour of </a:t>
            </a:r>
            <a:r>
              <a:rPr lang="en-SG" sz="1800" b="0" i="0" u="none" strike="noStrike" baseline="0" dirty="0" err="1">
                <a:latin typeface="AGaramond-Regular"/>
              </a:rPr>
              <a:t>labor</a:t>
            </a:r>
            <a:r>
              <a:rPr lang="en-SG" sz="1800" b="0" i="0" u="none" strike="noStrike" baseline="0" dirty="0">
                <a:latin typeface="AGaramond-Regular"/>
              </a:rPr>
              <a:t> grow.</a:t>
            </a:r>
          </a:p>
          <a:p>
            <a:pPr algn="just"/>
            <a:r>
              <a:rPr lang="en-SG" sz="1800" b="0" i="0" u="none" strike="noStrike" baseline="0" dirty="0">
                <a:latin typeface="AGaramond-Regular"/>
              </a:rPr>
              <a:t>Growth ends if technological </a:t>
            </a:r>
            <a:r>
              <a:rPr lang="en-US" sz="1800" b="0" i="0" u="none" strike="noStrike" baseline="0" dirty="0">
                <a:latin typeface="AGaramond-Regular"/>
              </a:rPr>
              <a:t>change stops because of diminishing marginal returns to both labor and capital.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Robert Solow of MIT suggested the most popular version of this growth theory </a:t>
            </a:r>
            <a:r>
              <a:rPr lang="en-SG" sz="1800" b="0" i="0" u="none" strike="noStrike" baseline="0" dirty="0">
                <a:latin typeface="AGaramond-Regular"/>
              </a:rPr>
              <a:t>in the 1950s.</a:t>
            </a:r>
          </a:p>
          <a:p>
            <a:pPr algn="just"/>
            <a:r>
              <a:rPr lang="en-SG" dirty="0">
                <a:latin typeface="AGaramond-Regular"/>
              </a:rPr>
              <a:t>The neoclassical theory of population growth focuses in the relationship between population growth and economic development. As society undergoes industrialisation there is a shift from high birth and death rates to low birth and death rates. </a:t>
            </a:r>
          </a:p>
          <a:p>
            <a:pPr algn="just"/>
            <a:r>
              <a:rPr lang="en-SG" sz="1800" b="0" i="0" u="none" strike="noStrike" baseline="0" dirty="0">
                <a:latin typeface="AGaramond-Regular"/>
              </a:rPr>
              <a:t>In </a:t>
            </a:r>
            <a:r>
              <a:rPr lang="en-US" sz="1800" b="0" i="0" u="none" strike="noStrike" baseline="0" dirty="0">
                <a:latin typeface="AGaramond-Regular"/>
              </a:rPr>
              <a:t>neoclassical growth theory, the pace of technological change influences the economic growth rate but economic growth does not influence the pace of technological </a:t>
            </a:r>
            <a:r>
              <a:rPr lang="en-SG" sz="1800" b="0" i="0" u="none" strike="noStrike" baseline="0" dirty="0">
                <a:latin typeface="AGaramond-Regular"/>
              </a:rPr>
              <a:t>change.</a:t>
            </a:r>
            <a:endParaRPr lang="en-SG" dirty="0">
              <a:latin typeface="AGaramond-Regular"/>
            </a:endParaRPr>
          </a:p>
          <a:p>
            <a:pPr algn="l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05800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C663F-FEB9-DF92-DDEC-B90B7A0E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New Growth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A1EDE-BF10-749B-D50B-C6C6F85AC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046446" cy="34163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1800" b="1" i="0" u="none" strike="noStrike" baseline="0" dirty="0">
                <a:latin typeface="Futura-Heavy"/>
              </a:rPr>
              <a:t>New growth theory </a:t>
            </a:r>
            <a:r>
              <a:rPr lang="en-US" sz="1800" b="0" i="0" u="none" strike="noStrike" baseline="0" dirty="0">
                <a:latin typeface="AGaramond-Regular"/>
              </a:rPr>
              <a:t>holds that real GDP per person grows because of the choices people make in the pursuit of profit and that growth will persist indefinitely.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Paul Romer of Stanford University developed this theory during the 1980s, based on ideas of Joseph Schumpeter during the 1930s and 1940s.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According to the new growth theory, the pace at which new discoveries are made—and at which technology advances—is not determined by chance.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It depends on how many people are looking for a new technology and how intensively they are looking. The search for new technologies is driven by </a:t>
            </a:r>
            <a:r>
              <a:rPr lang="en-SG" sz="1800" b="0" i="0" u="none" strike="noStrike" baseline="0" dirty="0">
                <a:latin typeface="AGaramond-Regular"/>
              </a:rPr>
              <a:t>incentives.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Two facts about discoveries and technological knowledge play a key role in the new growth theory: Discoveries are (at least eventually) a public capital good; and knowledge is capital that is not subject to </a:t>
            </a:r>
            <a:r>
              <a:rPr lang="en-SG" sz="1800" b="0" i="0" u="none" strike="noStrike" baseline="0" dirty="0">
                <a:latin typeface="AGaramond-Regular"/>
              </a:rPr>
              <a:t>diminishing marginal returns.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939341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55</TotalTime>
  <Words>883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AGaramond-Italic</vt:lpstr>
      <vt:lpstr>AGaramond-Regular</vt:lpstr>
      <vt:lpstr>Arial</vt:lpstr>
      <vt:lpstr>Century Gothic</vt:lpstr>
      <vt:lpstr>Futura-Heavy</vt:lpstr>
      <vt:lpstr>Wingdings 3</vt:lpstr>
      <vt:lpstr>ZapfDingbats</vt:lpstr>
      <vt:lpstr>Ion Boardroom</vt:lpstr>
      <vt:lpstr>ECO102: Introduction to Macroeconomics</vt:lpstr>
      <vt:lpstr>Growth of Labor Productivity</vt:lpstr>
      <vt:lpstr>Why Labour Productivity Grows? </vt:lpstr>
      <vt:lpstr>PowerPoint Presentation</vt:lpstr>
      <vt:lpstr>Growth Theories (Self-study)</vt:lpstr>
      <vt:lpstr>Classical Growth Theory</vt:lpstr>
      <vt:lpstr>Neoclassical Growth Theory</vt:lpstr>
      <vt:lpstr>New Growth Theory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Addrita Shams</dc:creator>
  <cp:lastModifiedBy>Addrita Shams</cp:lastModifiedBy>
  <cp:revision>12</cp:revision>
  <dcterms:created xsi:type="dcterms:W3CDTF">2024-02-13T05:48:06Z</dcterms:created>
  <dcterms:modified xsi:type="dcterms:W3CDTF">2024-11-10T16:51:01Z</dcterms:modified>
</cp:coreProperties>
</file>