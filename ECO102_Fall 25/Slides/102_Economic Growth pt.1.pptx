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57" r:id="rId3"/>
    <p:sldId id="258" r:id="rId4"/>
    <p:sldId id="259" r:id="rId5"/>
    <p:sldId id="260" r:id="rId6"/>
    <p:sldId id="261" r:id="rId7"/>
    <p:sldId id="262"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SG"/>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3526903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660326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3193722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5FEFD4-F5CD-4433-B679-9FA3CD726573}" type="datetimeFigureOut">
              <a:rPr lang="en-SG" smtClean="0"/>
              <a:t>10/11/2024</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1364906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5FEFD4-F5CD-4433-B679-9FA3CD726573}" type="datetimeFigureOut">
              <a:rPr lang="en-SG" smtClean="0"/>
              <a:t>10/11/2024</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12537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5FEFD4-F5CD-4433-B679-9FA3CD726573}" type="datetimeFigureOut">
              <a:rPr lang="en-SG" smtClean="0"/>
              <a:t>10/11/2024</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335048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5FEFD4-F5CD-4433-B679-9FA3CD726573}" type="datetimeFigureOut">
              <a:rPr lang="en-SG" smtClean="0"/>
              <a:t>10/11/2024</a:t>
            </a:fld>
            <a:endParaRPr lang="en-SG"/>
          </a:p>
        </p:txBody>
      </p:sp>
      <p:sp>
        <p:nvSpPr>
          <p:cNvPr id="3" name="Footer Placeholder 2"/>
          <p:cNvSpPr>
            <a:spLocks noGrp="1"/>
          </p:cNvSpPr>
          <p:nvPr>
            <p:ph type="ftr" sz="quarter" idx="11"/>
          </p:nvPr>
        </p:nvSpPr>
        <p:spPr/>
        <p:txBody>
          <a:bodyPr/>
          <a:lstStyle/>
          <a:p>
            <a:endParaRPr lang="en-SG"/>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2541355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5FEFD4-F5CD-4433-B679-9FA3CD726573}" type="datetimeFigureOut">
              <a:rPr lang="en-SG" smtClean="0"/>
              <a:t>10/11/2024</a:t>
            </a:fld>
            <a:endParaRPr lang="en-SG"/>
          </a:p>
        </p:txBody>
      </p:sp>
      <p:sp>
        <p:nvSpPr>
          <p:cNvPr id="6" name="Footer Placeholder 5"/>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353136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5FEFD4-F5CD-4433-B679-9FA3CD726573}" type="datetimeFigureOut">
              <a:rPr lang="en-SG" smtClean="0"/>
              <a:t>10/11/2024</a:t>
            </a:fld>
            <a:endParaRPr lang="en-SG"/>
          </a:p>
        </p:txBody>
      </p:sp>
      <p:sp>
        <p:nvSpPr>
          <p:cNvPr id="6" name="Footer Placeholder 5"/>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3865584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5FEFD4-F5CD-4433-B679-9FA3CD726573}" type="datetimeFigureOut">
              <a:rPr lang="en-SG" smtClean="0"/>
              <a:t>10/11/2024</a:t>
            </a:fld>
            <a:endParaRPr lang="en-SG"/>
          </a:p>
        </p:txBody>
      </p:sp>
      <p:sp>
        <p:nvSpPr>
          <p:cNvPr id="6" name="Footer Placeholder 5"/>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818983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p:txBody>
          <a:bodyPr/>
          <a:lstStyle/>
          <a:p>
            <a:endParaRPr lang="en-SG"/>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914387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p:txBody>
          <a:bodyPr/>
          <a:lstStyle/>
          <a:p>
            <a:endParaRPr lang="en-SG"/>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18925091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p:txBody>
          <a:bodyPr/>
          <a:lstStyle/>
          <a:p>
            <a:endParaRPr lang="en-SG"/>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32307666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B5FEFD4-F5CD-4433-B679-9FA3CD726573}" type="datetimeFigureOut">
              <a:rPr lang="en-SG" smtClean="0"/>
              <a:t>10/11/2024</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1802557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B5FEFD4-F5CD-4433-B679-9FA3CD726573}" type="datetimeFigureOut">
              <a:rPr lang="en-SG" smtClean="0"/>
              <a:t>10/11/2024</a:t>
            </a:fld>
            <a:endParaRPr lang="en-SG"/>
          </a:p>
        </p:txBody>
      </p:sp>
      <p:sp>
        <p:nvSpPr>
          <p:cNvPr id="8" name="Footer Placeholder 7"/>
          <p:cNvSpPr>
            <a:spLocks noGrp="1"/>
          </p:cNvSpPr>
          <p:nvPr>
            <p:ph type="ftr" sz="quarter" idx="11"/>
          </p:nvPr>
        </p:nvSpPr>
        <p:spPr>
          <a:xfrm>
            <a:off x="561111" y="6391838"/>
            <a:ext cx="3644282" cy="304801"/>
          </a:xfrm>
        </p:spPr>
        <p:txBody>
          <a:bodyPr/>
          <a:lstStyle/>
          <a:p>
            <a:endParaRPr lang="en-SG"/>
          </a:p>
        </p:txBody>
      </p:sp>
      <p:sp>
        <p:nvSpPr>
          <p:cNvPr id="9" name="Slide Number Placeholder 8"/>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9507903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3282843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B5FEFD4-F5CD-4433-B679-9FA3CD726573}" type="datetimeFigureOut">
              <a:rPr lang="en-SG" smtClean="0"/>
              <a:t>10/11/2024</a:t>
            </a:fld>
            <a:endParaRPr lang="en-SG"/>
          </a:p>
        </p:txBody>
      </p:sp>
      <p:sp>
        <p:nvSpPr>
          <p:cNvPr id="5" name="Footer Placeholder 4"/>
          <p:cNvSpPr>
            <a:spLocks noGrp="1"/>
          </p:cNvSpPr>
          <p:nvPr>
            <p:ph type="ftr" sz="quarter" idx="11"/>
          </p:nvPr>
        </p:nvSpPr>
        <p:spPr/>
        <p:txBody>
          <a:bodyPr/>
          <a:lstStyle/>
          <a:p>
            <a:endParaRPr lang="en-SG"/>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F242EF-FB04-4B6C-A139-406885410577}" type="slidenum">
              <a:rPr lang="en-SG" smtClean="0"/>
              <a:t>‹#›</a:t>
            </a:fld>
            <a:endParaRPr lang="en-SG"/>
          </a:p>
        </p:txBody>
      </p:sp>
    </p:spTree>
    <p:extLst>
      <p:ext uri="{BB962C8B-B14F-4D97-AF65-F5344CB8AC3E}">
        <p14:creationId xmlns:p14="http://schemas.microsoft.com/office/powerpoint/2010/main" val="2189432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B5FEFD4-F5CD-4433-B679-9FA3CD726573}" type="datetimeFigureOut">
              <a:rPr lang="en-SG" smtClean="0"/>
              <a:t>10/11/2024</a:t>
            </a:fld>
            <a:endParaRPr lang="en-SG"/>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SG"/>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DF242EF-FB04-4B6C-A139-406885410577}" type="slidenum">
              <a:rPr lang="en-SG" smtClean="0"/>
              <a:t>‹#›</a:t>
            </a:fld>
            <a:endParaRPr lang="en-SG"/>
          </a:p>
        </p:txBody>
      </p:sp>
    </p:spTree>
    <p:extLst>
      <p:ext uri="{BB962C8B-B14F-4D97-AF65-F5344CB8AC3E}">
        <p14:creationId xmlns:p14="http://schemas.microsoft.com/office/powerpoint/2010/main" val="1318176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D7A00-9125-B0BF-D2B8-12FD7182054E}"/>
              </a:ext>
            </a:extLst>
          </p:cNvPr>
          <p:cNvSpPr>
            <a:spLocks noGrp="1"/>
          </p:cNvSpPr>
          <p:nvPr>
            <p:ph type="ctrTitle"/>
          </p:nvPr>
        </p:nvSpPr>
        <p:spPr>
          <a:xfrm>
            <a:off x="1154955" y="904127"/>
            <a:ext cx="8825658" cy="2722652"/>
          </a:xfrm>
        </p:spPr>
        <p:txBody>
          <a:bodyPr/>
          <a:lstStyle/>
          <a:p>
            <a:r>
              <a:rPr lang="en-SG" dirty="0"/>
              <a:t>ECO102: Introduction to Macroeconomics</a:t>
            </a:r>
          </a:p>
        </p:txBody>
      </p:sp>
      <p:sp>
        <p:nvSpPr>
          <p:cNvPr id="3" name="Subtitle 2">
            <a:extLst>
              <a:ext uri="{FF2B5EF4-FFF2-40B4-BE49-F238E27FC236}">
                <a16:creationId xmlns:a16="http://schemas.microsoft.com/office/drawing/2014/main" id="{B4EAA975-DE50-A324-6452-99B681E1A745}"/>
              </a:ext>
            </a:extLst>
          </p:cNvPr>
          <p:cNvSpPr>
            <a:spLocks noGrp="1"/>
          </p:cNvSpPr>
          <p:nvPr>
            <p:ph type="subTitle" idx="1"/>
          </p:nvPr>
        </p:nvSpPr>
        <p:spPr>
          <a:xfrm>
            <a:off x="1154955" y="3821987"/>
            <a:ext cx="8825658" cy="1816813"/>
          </a:xfrm>
        </p:spPr>
        <p:txBody>
          <a:bodyPr/>
          <a:lstStyle/>
          <a:p>
            <a:r>
              <a:rPr lang="en-SG" dirty="0"/>
              <a:t>Lecturer: </a:t>
            </a:r>
            <a:r>
              <a:rPr lang="en-SG"/>
              <a:t>Addrita Shams (RTA)</a:t>
            </a:r>
            <a:endParaRPr lang="en-SG" dirty="0"/>
          </a:p>
          <a:p>
            <a:endParaRPr lang="en-SG" dirty="0"/>
          </a:p>
          <a:p>
            <a:r>
              <a:rPr lang="en-SG" dirty="0"/>
              <a:t>Week 03, Lecture 06</a:t>
            </a:r>
          </a:p>
          <a:p>
            <a:r>
              <a:rPr lang="en-SG" dirty="0"/>
              <a:t>Chapter 23: Economic Growth</a:t>
            </a:r>
          </a:p>
        </p:txBody>
      </p:sp>
    </p:spTree>
    <p:extLst>
      <p:ext uri="{BB962C8B-B14F-4D97-AF65-F5344CB8AC3E}">
        <p14:creationId xmlns:p14="http://schemas.microsoft.com/office/powerpoint/2010/main" val="1792763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4A8F-BD75-3397-2A23-100987DC7D77}"/>
              </a:ext>
            </a:extLst>
          </p:cNvPr>
          <p:cNvSpPr>
            <a:spLocks noGrp="1"/>
          </p:cNvSpPr>
          <p:nvPr>
            <p:ph type="title"/>
          </p:nvPr>
        </p:nvSpPr>
        <p:spPr/>
        <p:txBody>
          <a:bodyPr/>
          <a:lstStyle/>
          <a:p>
            <a:r>
              <a:rPr lang="en-SG" dirty="0"/>
              <a:t>The Basics of Economic Growth</a:t>
            </a:r>
          </a:p>
        </p:txBody>
      </p:sp>
      <p:sp>
        <p:nvSpPr>
          <p:cNvPr id="3" name="Content Placeholder 2">
            <a:extLst>
              <a:ext uri="{FF2B5EF4-FFF2-40B4-BE49-F238E27FC236}">
                <a16:creationId xmlns:a16="http://schemas.microsoft.com/office/drawing/2014/main" id="{13497F23-BC0F-12EC-BD1D-C43F10130328}"/>
              </a:ext>
            </a:extLst>
          </p:cNvPr>
          <p:cNvSpPr>
            <a:spLocks noGrp="1"/>
          </p:cNvSpPr>
          <p:nvPr>
            <p:ph idx="1"/>
          </p:nvPr>
        </p:nvSpPr>
        <p:spPr>
          <a:xfrm>
            <a:off x="1138625" y="2334987"/>
            <a:ext cx="8761413" cy="4327070"/>
          </a:xfrm>
        </p:spPr>
        <p:txBody>
          <a:bodyPr>
            <a:normAutofit/>
          </a:bodyPr>
          <a:lstStyle/>
          <a:p>
            <a:pPr algn="just"/>
            <a:r>
              <a:rPr lang="en-US" sz="1800" b="0" i="0" u="none" strike="noStrike" baseline="0" dirty="0">
                <a:latin typeface="AGaramond-Regular"/>
              </a:rPr>
              <a:t>Economic growth is a sustained expansion of production possibilities measured as the increase in real GDP over a given period.</a:t>
            </a:r>
          </a:p>
          <a:p>
            <a:pPr algn="just"/>
            <a:r>
              <a:rPr lang="en-SG" sz="1800" b="0" i="0" u="none" strike="noStrike" baseline="0" dirty="0">
                <a:latin typeface="AGaramond-Regular"/>
              </a:rPr>
              <a:t>Rapid economic growth </a:t>
            </a:r>
            <a:r>
              <a:rPr lang="en-US" sz="1800" b="0" i="0" u="none" strike="noStrike" baseline="0" dirty="0">
                <a:latin typeface="AGaramond-Regular"/>
              </a:rPr>
              <a:t>maintained over a number of years can transform a poor nation into a rich one. Slow economic growth or the absence of growth can condemn a nation to </a:t>
            </a:r>
            <a:r>
              <a:rPr lang="en-SG" sz="1800" b="0" i="0" u="none" strike="noStrike" baseline="0" dirty="0">
                <a:latin typeface="AGaramond-Regular"/>
              </a:rPr>
              <a:t>devastating poverty.</a:t>
            </a:r>
          </a:p>
          <a:p>
            <a:pPr algn="just"/>
            <a:r>
              <a:rPr lang="en-SG" sz="1800" b="1" i="0" u="none" strike="noStrike" baseline="0" dirty="0">
                <a:latin typeface="AGaramond-Regular"/>
              </a:rPr>
              <a:t>Calculating Growth Rates </a:t>
            </a:r>
            <a:r>
              <a:rPr lang="en-US" sz="1800" b="0" i="0" u="none" strike="noStrike" baseline="0" dirty="0">
                <a:latin typeface="AGaramond-Regular"/>
              </a:rPr>
              <a:t>We express the </a:t>
            </a:r>
            <a:r>
              <a:rPr lang="en-US" sz="1800" b="1" i="0" u="none" strike="noStrike" baseline="0" dirty="0">
                <a:latin typeface="AGaramond-Regular"/>
              </a:rPr>
              <a:t>economic growth rate </a:t>
            </a:r>
            <a:r>
              <a:rPr lang="en-US" sz="1800" b="0" i="0" u="none" strike="noStrike" baseline="0" dirty="0">
                <a:latin typeface="AGaramond-Regular"/>
              </a:rPr>
              <a:t>as the annual percentage change of real GDP. To calculate this growth rate, we use the formula:</a:t>
            </a:r>
          </a:p>
          <a:p>
            <a:pPr algn="just"/>
            <a:r>
              <a:rPr lang="en-US" dirty="0">
                <a:latin typeface="AGaramond-Regular"/>
              </a:rPr>
              <a:t>Real GDP growth rate= [ (Real GDP in current year – Real GDP in previous year)/ (real GDP in previous year) ] x100</a:t>
            </a:r>
          </a:p>
          <a:p>
            <a:pPr algn="just"/>
            <a:r>
              <a:rPr lang="en-US" sz="1800" b="0" i="0" u="none" strike="noStrike" baseline="0" dirty="0">
                <a:latin typeface="AGaramond-Regular"/>
              </a:rPr>
              <a:t>The growth rate of real GDP tells us how rapidly the </a:t>
            </a:r>
            <a:r>
              <a:rPr lang="en-US" sz="1800" b="0" i="1" u="none" strike="noStrike" baseline="0" dirty="0">
                <a:latin typeface="AGaramond-Regular"/>
              </a:rPr>
              <a:t>total </a:t>
            </a:r>
            <a:r>
              <a:rPr lang="en-US" sz="1800" b="0" i="0" u="none" strike="noStrike" baseline="0" dirty="0">
                <a:latin typeface="AGaramond-Regular"/>
              </a:rPr>
              <a:t>economy is expanding. </a:t>
            </a:r>
          </a:p>
          <a:p>
            <a:pPr algn="just"/>
            <a:r>
              <a:rPr lang="en-US" sz="1800" b="0" i="0" u="none" strike="noStrike" baseline="0" dirty="0">
                <a:latin typeface="AGaramond-Regular"/>
              </a:rPr>
              <a:t>The standard of living depends on </a:t>
            </a:r>
            <a:r>
              <a:rPr lang="en-US" sz="1800" b="1" i="0" u="none" strike="noStrike" baseline="0" dirty="0">
                <a:latin typeface="AGaramond-Regular"/>
              </a:rPr>
              <a:t>real GDP per person </a:t>
            </a:r>
            <a:r>
              <a:rPr lang="en-US" sz="1800" b="0" i="0" u="none" strike="noStrike" baseline="0" dirty="0">
                <a:latin typeface="AGaramond-Regular"/>
              </a:rPr>
              <a:t>(also called </a:t>
            </a:r>
            <a:r>
              <a:rPr lang="en-US" sz="1800" b="0" i="1" u="none" strike="noStrike" baseline="0" dirty="0">
                <a:latin typeface="AGaramond-Regular"/>
              </a:rPr>
              <a:t>per capita </a:t>
            </a:r>
            <a:r>
              <a:rPr lang="en-US" sz="1800" b="0" i="0" u="none" strike="noStrike" baseline="0" dirty="0">
                <a:latin typeface="AGaramond-Regular"/>
              </a:rPr>
              <a:t>real GDP), which is real GDP divided by the population.</a:t>
            </a:r>
            <a:endParaRPr lang="en-SG" dirty="0">
              <a:latin typeface="AGaramond-Regular"/>
            </a:endParaRPr>
          </a:p>
        </p:txBody>
      </p:sp>
    </p:spTree>
    <p:extLst>
      <p:ext uri="{BB962C8B-B14F-4D97-AF65-F5344CB8AC3E}">
        <p14:creationId xmlns:p14="http://schemas.microsoft.com/office/powerpoint/2010/main" val="4260515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8156B-5D88-59BB-D982-6F932173988B}"/>
              </a:ext>
            </a:extLst>
          </p:cNvPr>
          <p:cNvSpPr>
            <a:spLocks noGrp="1"/>
          </p:cNvSpPr>
          <p:nvPr>
            <p:ph type="title"/>
          </p:nvPr>
        </p:nvSpPr>
        <p:spPr/>
        <p:txBody>
          <a:bodyPr/>
          <a:lstStyle/>
          <a:p>
            <a:r>
              <a:rPr lang="en-SG" dirty="0"/>
              <a:t>How Potential GDP Grows</a:t>
            </a:r>
          </a:p>
        </p:txBody>
      </p:sp>
      <p:sp>
        <p:nvSpPr>
          <p:cNvPr id="3" name="Content Placeholder 2">
            <a:extLst>
              <a:ext uri="{FF2B5EF4-FFF2-40B4-BE49-F238E27FC236}">
                <a16:creationId xmlns:a16="http://schemas.microsoft.com/office/drawing/2014/main" id="{83819C22-AA33-C5D4-A2F1-6C0F6A56C215}"/>
              </a:ext>
            </a:extLst>
          </p:cNvPr>
          <p:cNvSpPr>
            <a:spLocks noGrp="1"/>
          </p:cNvSpPr>
          <p:nvPr>
            <p:ph idx="1"/>
          </p:nvPr>
        </p:nvSpPr>
        <p:spPr>
          <a:xfrm>
            <a:off x="1154954" y="2383971"/>
            <a:ext cx="9848668" cy="4098472"/>
          </a:xfrm>
        </p:spPr>
        <p:txBody>
          <a:bodyPr>
            <a:normAutofit fontScale="92500" lnSpcReduction="10000"/>
          </a:bodyPr>
          <a:lstStyle/>
          <a:p>
            <a:pPr algn="just"/>
            <a:r>
              <a:rPr lang="en-US" sz="1800" b="0" i="0" u="none" strike="noStrike" baseline="0" dirty="0">
                <a:latin typeface="AGaramond-Regular"/>
              </a:rPr>
              <a:t>Economic growth occurs when real GDP increases. </a:t>
            </a:r>
          </a:p>
          <a:p>
            <a:pPr algn="just"/>
            <a:r>
              <a:rPr lang="en-US" sz="1800" b="0" i="0" u="none" strike="noStrike" baseline="0" dirty="0">
                <a:latin typeface="AGaramond-Regular"/>
              </a:rPr>
              <a:t>But a one-shot rise in real GDP or a recovery from recession isn’t economic growth. Economic growth is a sustained, year-after-year increase in </a:t>
            </a:r>
            <a:r>
              <a:rPr lang="en-US" sz="1800" b="0" i="1" u="none" strike="noStrike" baseline="0" dirty="0">
                <a:latin typeface="AGaramond-Regular"/>
              </a:rPr>
              <a:t>potential GDP</a:t>
            </a:r>
            <a:r>
              <a:rPr lang="en-US" sz="1800" b="0" i="0" u="none" strike="noStrike" baseline="0" dirty="0">
                <a:latin typeface="AGaramond-Regular"/>
              </a:rPr>
              <a:t>.</a:t>
            </a:r>
          </a:p>
          <a:p>
            <a:pPr algn="just"/>
            <a:r>
              <a:rPr lang="en-US" sz="1800" b="0" i="0" u="none" strike="noStrike" baseline="0" dirty="0">
                <a:latin typeface="AGaramond-Regular"/>
              </a:rPr>
              <a:t>Labor, capital, land, and entrepreneurship produce real GDP, and the productivity of the factors of production determines the quantity of real GDP that </a:t>
            </a:r>
            <a:r>
              <a:rPr lang="en-SG" sz="1800" b="0" i="0" u="none" strike="noStrike" baseline="0" dirty="0">
                <a:latin typeface="AGaramond-Regular"/>
              </a:rPr>
              <a:t>can be produced.</a:t>
            </a:r>
          </a:p>
          <a:p>
            <a:pPr algn="just"/>
            <a:r>
              <a:rPr lang="en-US" sz="1800" b="0" i="0" u="none" strike="noStrike" baseline="0" dirty="0">
                <a:latin typeface="AGaramond-Regular"/>
              </a:rPr>
              <a:t>The quantity of land is fixed and on any given day, the quantities of entrepreneurial ability and capital are also fixed and their productivities are given. The quantity of labor employed is the only </a:t>
            </a:r>
            <a:r>
              <a:rPr lang="en-US" sz="1800" b="0" i="1" u="none" strike="noStrike" baseline="0" dirty="0">
                <a:latin typeface="AGaramond-Regular"/>
              </a:rPr>
              <a:t>variable </a:t>
            </a:r>
            <a:r>
              <a:rPr lang="en-US" sz="1800" b="0" i="0" u="none" strike="noStrike" baseline="0" dirty="0">
                <a:latin typeface="AGaramond-Regular"/>
              </a:rPr>
              <a:t>factor of production.</a:t>
            </a:r>
          </a:p>
          <a:p>
            <a:pPr algn="just"/>
            <a:r>
              <a:rPr lang="en-US" sz="1800" b="0" i="0" u="none" strike="noStrike" baseline="0" dirty="0">
                <a:latin typeface="AGaramond-Regular"/>
              </a:rPr>
              <a:t>Potential GDP is the level of real GDP when the quantity of labor employed is the </a:t>
            </a:r>
            <a:r>
              <a:rPr lang="en-SG" sz="1800" b="0" i="0" u="none" strike="noStrike" baseline="0" dirty="0">
                <a:latin typeface="AGaramond-Regular"/>
              </a:rPr>
              <a:t>full-employment quantity.</a:t>
            </a:r>
          </a:p>
          <a:p>
            <a:pPr algn="l"/>
            <a:r>
              <a:rPr lang="en-US" sz="1800" b="0" i="0" u="none" strike="noStrike" baseline="0" dirty="0">
                <a:latin typeface="AGaramond-Regular"/>
              </a:rPr>
              <a:t>To determine potential GDP, we use a model with </a:t>
            </a:r>
            <a:r>
              <a:rPr lang="en-SG" sz="1800" b="0" i="0" u="none" strike="noStrike" baseline="0" dirty="0">
                <a:latin typeface="AGaramond-Regular"/>
              </a:rPr>
              <a:t>two components:</a:t>
            </a:r>
          </a:p>
          <a:p>
            <a:pPr marL="400050" lvl="1" indent="0">
              <a:buNone/>
            </a:pPr>
            <a:r>
              <a:rPr lang="en-SG" b="0" i="0" u="none" strike="noStrike" baseline="0" dirty="0">
                <a:latin typeface="AGaramond-Regular"/>
              </a:rPr>
              <a:t>■ An aggregate production function</a:t>
            </a:r>
          </a:p>
          <a:p>
            <a:pPr marL="400050" lvl="1" indent="0">
              <a:buNone/>
            </a:pPr>
            <a:r>
              <a:rPr lang="en-SG" b="0" i="0" u="none" strike="noStrike" baseline="0" dirty="0">
                <a:latin typeface="AGaramond-Regular"/>
              </a:rPr>
              <a:t>■ An aggregate </a:t>
            </a:r>
            <a:r>
              <a:rPr lang="en-SG" b="0" i="0" u="none" strike="noStrike" baseline="0" dirty="0" err="1">
                <a:latin typeface="AGaramond-Regular"/>
              </a:rPr>
              <a:t>labor</a:t>
            </a:r>
            <a:r>
              <a:rPr lang="en-SG" b="0" i="0" u="none" strike="noStrike" baseline="0" dirty="0">
                <a:latin typeface="AGaramond-Regular"/>
              </a:rPr>
              <a:t> market</a:t>
            </a:r>
            <a:endParaRPr lang="en-SG" dirty="0">
              <a:latin typeface="AGaramond-Regular"/>
            </a:endParaRPr>
          </a:p>
        </p:txBody>
      </p:sp>
    </p:spTree>
    <p:extLst>
      <p:ext uri="{BB962C8B-B14F-4D97-AF65-F5344CB8AC3E}">
        <p14:creationId xmlns:p14="http://schemas.microsoft.com/office/powerpoint/2010/main" val="1302486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0DE9A-2D52-CD6A-B870-0E6906E6ED9A}"/>
              </a:ext>
            </a:extLst>
          </p:cNvPr>
          <p:cNvSpPr>
            <a:spLocks noGrp="1"/>
          </p:cNvSpPr>
          <p:nvPr>
            <p:ph type="title"/>
          </p:nvPr>
        </p:nvSpPr>
        <p:spPr/>
        <p:txBody>
          <a:bodyPr/>
          <a:lstStyle/>
          <a:p>
            <a:r>
              <a:rPr lang="en-SG" dirty="0"/>
              <a:t>Aggregate Production Function </a:t>
            </a:r>
          </a:p>
        </p:txBody>
      </p:sp>
      <p:sp>
        <p:nvSpPr>
          <p:cNvPr id="3" name="Content Placeholder 2">
            <a:extLst>
              <a:ext uri="{FF2B5EF4-FFF2-40B4-BE49-F238E27FC236}">
                <a16:creationId xmlns:a16="http://schemas.microsoft.com/office/drawing/2014/main" id="{3D723860-9D06-8BDD-8BCD-4BBD7F7AA2A9}"/>
              </a:ext>
            </a:extLst>
          </p:cNvPr>
          <p:cNvSpPr>
            <a:spLocks noGrp="1"/>
          </p:cNvSpPr>
          <p:nvPr>
            <p:ph sz="half" idx="1"/>
          </p:nvPr>
        </p:nvSpPr>
        <p:spPr>
          <a:xfrm>
            <a:off x="1154954" y="2603500"/>
            <a:ext cx="5821199" cy="3416301"/>
          </a:xfrm>
        </p:spPr>
        <p:txBody>
          <a:bodyPr>
            <a:normAutofit fontScale="92500" lnSpcReduction="20000"/>
          </a:bodyPr>
          <a:lstStyle/>
          <a:p>
            <a:pPr algn="just"/>
            <a:r>
              <a:rPr lang="en-US" sz="1800" b="0" i="0" u="none" strike="noStrike" baseline="0" dirty="0">
                <a:latin typeface="AGaramond-Regular"/>
              </a:rPr>
              <a:t>We’re now going to think about the production possibilities frontier for two special “goods”: real GDP and the </a:t>
            </a:r>
            <a:r>
              <a:rPr lang="en-SG" sz="1800" b="0" i="0" u="none" strike="noStrike" baseline="0" dirty="0">
                <a:latin typeface="AGaramond-Regular"/>
              </a:rPr>
              <a:t>quantity of leisure time.</a:t>
            </a:r>
          </a:p>
          <a:p>
            <a:pPr algn="just"/>
            <a:r>
              <a:rPr lang="en-US" sz="1800" b="0" i="0" u="none" strike="noStrike" baseline="0" dirty="0">
                <a:latin typeface="AGaramond-Regular"/>
              </a:rPr>
              <a:t>The quantity of leisure time is the number of </a:t>
            </a:r>
            <a:r>
              <a:rPr lang="en-SG" sz="1800" b="0" i="0" u="none" strike="noStrike" baseline="0" dirty="0">
                <a:latin typeface="AGaramond-Regular"/>
              </a:rPr>
              <a:t>hours spent not working.  </a:t>
            </a:r>
            <a:r>
              <a:rPr lang="en-US" sz="1800" b="0" i="0" u="none" strike="noStrike" baseline="0" dirty="0">
                <a:latin typeface="AGaramond-Regular"/>
              </a:rPr>
              <a:t>If we spent all our time taking leisure, we would do no work and produce nothing. Real GDP would be zero. </a:t>
            </a:r>
          </a:p>
          <a:p>
            <a:pPr algn="just"/>
            <a:r>
              <a:rPr lang="en-US" sz="1800" b="0" i="0" u="none" strike="noStrike" baseline="0" dirty="0">
                <a:latin typeface="AGaramond-Regular"/>
              </a:rPr>
              <a:t>The more leisure we forgo, the greater is the quantity of labor we supply and the greater is the quantity of real GDP produced.</a:t>
            </a:r>
          </a:p>
          <a:p>
            <a:pPr algn="just"/>
            <a:r>
              <a:rPr lang="en-US" sz="1800" b="0" i="0" u="none" strike="noStrike" baseline="0" dirty="0">
                <a:latin typeface="AGaramond-Regular"/>
              </a:rPr>
              <a:t>The </a:t>
            </a:r>
            <a:r>
              <a:rPr lang="en-US" sz="1800" b="1" i="0" u="none" strike="noStrike" baseline="0" dirty="0">
                <a:latin typeface="Futura-Heavy"/>
              </a:rPr>
              <a:t>aggregate production function </a:t>
            </a:r>
            <a:r>
              <a:rPr lang="en-US" sz="1800" b="0" i="0" u="none" strike="noStrike" baseline="0" dirty="0">
                <a:latin typeface="AGaramond-Regular"/>
              </a:rPr>
              <a:t>is the relationship that tells us how real GDP changes as the quantity of labor changes when all other influences on production </a:t>
            </a:r>
            <a:r>
              <a:rPr lang="en-SG" sz="1800" b="0" i="0" u="none" strike="noStrike" baseline="0" dirty="0">
                <a:latin typeface="AGaramond-Regular"/>
              </a:rPr>
              <a:t>remain the same.</a:t>
            </a:r>
            <a:endParaRPr lang="en-SG" dirty="0"/>
          </a:p>
        </p:txBody>
      </p:sp>
      <p:pic>
        <p:nvPicPr>
          <p:cNvPr id="6" name="Content Placeholder 5">
            <a:extLst>
              <a:ext uri="{FF2B5EF4-FFF2-40B4-BE49-F238E27FC236}">
                <a16:creationId xmlns:a16="http://schemas.microsoft.com/office/drawing/2014/main" id="{8C3BD6E8-A7B4-A83A-F296-03BA1EDD80B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233558" y="2603500"/>
            <a:ext cx="3346290" cy="3280832"/>
          </a:xfrm>
        </p:spPr>
      </p:pic>
    </p:spTree>
    <p:extLst>
      <p:ext uri="{BB962C8B-B14F-4D97-AF65-F5344CB8AC3E}">
        <p14:creationId xmlns:p14="http://schemas.microsoft.com/office/powerpoint/2010/main" val="2425190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8BD10-1B9B-DB29-4171-5E63F5E2ADA9}"/>
              </a:ext>
            </a:extLst>
          </p:cNvPr>
          <p:cNvSpPr>
            <a:spLocks noGrp="1"/>
          </p:cNvSpPr>
          <p:nvPr>
            <p:ph type="title"/>
          </p:nvPr>
        </p:nvSpPr>
        <p:spPr/>
        <p:txBody>
          <a:bodyPr/>
          <a:lstStyle/>
          <a:p>
            <a:r>
              <a:rPr lang="en-SG" dirty="0"/>
              <a:t>Aggregate Labour Market</a:t>
            </a:r>
          </a:p>
        </p:txBody>
      </p:sp>
      <p:sp>
        <p:nvSpPr>
          <p:cNvPr id="3" name="Content Placeholder 2">
            <a:extLst>
              <a:ext uri="{FF2B5EF4-FFF2-40B4-BE49-F238E27FC236}">
                <a16:creationId xmlns:a16="http://schemas.microsoft.com/office/drawing/2014/main" id="{5F0884AE-05C2-403B-34BB-90D6E1E2228B}"/>
              </a:ext>
            </a:extLst>
          </p:cNvPr>
          <p:cNvSpPr>
            <a:spLocks noGrp="1"/>
          </p:cNvSpPr>
          <p:nvPr>
            <p:ph sz="half" idx="1"/>
          </p:nvPr>
        </p:nvSpPr>
        <p:spPr>
          <a:xfrm>
            <a:off x="636998" y="2496620"/>
            <a:ext cx="5343114" cy="4017196"/>
          </a:xfrm>
        </p:spPr>
        <p:txBody>
          <a:bodyPr>
            <a:noAutofit/>
          </a:bodyPr>
          <a:lstStyle/>
          <a:p>
            <a:pPr algn="just"/>
            <a:r>
              <a:rPr lang="en-US" sz="1600" b="1" dirty="0">
                <a:latin typeface="AGaramond-Regular"/>
              </a:rPr>
              <a:t>The Demand for Labor : </a:t>
            </a:r>
            <a:r>
              <a:rPr lang="en-US" sz="1600" b="0" i="0" u="none" strike="noStrike" baseline="0" dirty="0">
                <a:latin typeface="AGaramond-Regular"/>
              </a:rPr>
              <a:t>The </a:t>
            </a:r>
            <a:r>
              <a:rPr lang="en-US" sz="1600" b="0" i="1" u="none" strike="noStrike" baseline="0" dirty="0">
                <a:latin typeface="AGaramond-Regular"/>
              </a:rPr>
              <a:t>demand for labor </a:t>
            </a:r>
            <a:r>
              <a:rPr lang="en-US" sz="1600" b="0" i="0" u="none" strike="noStrike" baseline="0" dirty="0">
                <a:latin typeface="AGaramond-Regular"/>
              </a:rPr>
              <a:t>is the relationship between the quantity of labor demanded and the real wage rate. The quantity of labor demanded is the number of labor hours hired by all the firms in the economy during a given period. </a:t>
            </a:r>
            <a:endParaRPr lang="en-US" sz="1600" dirty="0">
              <a:latin typeface="AGaramond-Regular"/>
            </a:endParaRPr>
          </a:p>
          <a:p>
            <a:pPr algn="just"/>
            <a:r>
              <a:rPr lang="en-US" sz="1600" b="0" i="0" u="none" strike="noStrike" baseline="0" dirty="0">
                <a:latin typeface="AGaramond-Regular"/>
              </a:rPr>
              <a:t>This quantity depends o</a:t>
            </a:r>
            <a:r>
              <a:rPr lang="en-US" sz="1600" dirty="0">
                <a:latin typeface="AGaramond-Regular"/>
              </a:rPr>
              <a:t>n the price of labor, which is the real wage rate.</a:t>
            </a:r>
            <a:endParaRPr lang="en-US" sz="1600" b="0" i="0" u="none" strike="noStrike" baseline="0" dirty="0">
              <a:latin typeface="AGaramond-Regular"/>
            </a:endParaRPr>
          </a:p>
          <a:p>
            <a:pPr algn="just"/>
            <a:r>
              <a:rPr lang="en-US" sz="1600" b="0" i="0" u="none" strike="noStrike" baseline="0" dirty="0">
                <a:latin typeface="AGaramond-Regular"/>
              </a:rPr>
              <a:t>The </a:t>
            </a:r>
            <a:r>
              <a:rPr lang="en-US" sz="1600" b="1" i="0" u="none" strike="noStrike" baseline="0" dirty="0">
                <a:latin typeface="AGaramond-Regular"/>
              </a:rPr>
              <a:t>real wage rate </a:t>
            </a:r>
            <a:r>
              <a:rPr lang="en-US" sz="1600" b="0" i="0" u="none" strike="noStrike" baseline="0" dirty="0">
                <a:latin typeface="AGaramond-Regular"/>
              </a:rPr>
              <a:t>is the money wage rate divided by the price level. The real wage rate is the quantity of goods and services that an hour of labor earns. </a:t>
            </a:r>
          </a:p>
          <a:p>
            <a:pPr algn="just"/>
            <a:r>
              <a:rPr lang="en-US" sz="1600" b="0" i="0" u="none" strike="noStrike" baseline="0" dirty="0">
                <a:latin typeface="AGaramond-Regular"/>
              </a:rPr>
              <a:t>The quantity of labor demanded </a:t>
            </a:r>
            <a:r>
              <a:rPr lang="en-US" sz="1600" b="0" i="1" u="none" strike="noStrike" baseline="0" dirty="0">
                <a:latin typeface="AGaramond-Regular"/>
              </a:rPr>
              <a:t>increases </a:t>
            </a:r>
            <a:r>
              <a:rPr lang="en-US" sz="1600" b="0" i="0" u="none" strike="noStrike" baseline="0" dirty="0">
                <a:latin typeface="AGaramond-Regular"/>
              </a:rPr>
              <a:t>as the real wage rate </a:t>
            </a:r>
            <a:r>
              <a:rPr lang="en-US" sz="1600" b="0" i="1" u="none" strike="noStrike" baseline="0" dirty="0">
                <a:latin typeface="AGaramond-Regular"/>
              </a:rPr>
              <a:t>decreases</a:t>
            </a:r>
            <a:r>
              <a:rPr lang="en-US" sz="1600" b="0" i="0" u="none" strike="noStrike" baseline="0" dirty="0">
                <a:latin typeface="AGaramond-Regular"/>
              </a:rPr>
              <a:t>—the demand for labor curve </a:t>
            </a:r>
            <a:r>
              <a:rPr lang="en-SG" sz="1600" b="0" i="0" u="none" strike="noStrike" baseline="0" dirty="0">
                <a:latin typeface="AGaramond-Regular"/>
              </a:rPr>
              <a:t>slopes downward. </a:t>
            </a:r>
            <a:endParaRPr lang="en-SG" sz="1600" b="1" dirty="0">
              <a:latin typeface="AGaramond-Regular"/>
            </a:endParaRPr>
          </a:p>
        </p:txBody>
      </p:sp>
      <p:sp>
        <p:nvSpPr>
          <p:cNvPr id="7" name="Content Placeholder 6">
            <a:extLst>
              <a:ext uri="{FF2B5EF4-FFF2-40B4-BE49-F238E27FC236}">
                <a16:creationId xmlns:a16="http://schemas.microsoft.com/office/drawing/2014/main" id="{DB72857B-4E59-3E54-B3BA-7CFE36BE675F}"/>
              </a:ext>
            </a:extLst>
          </p:cNvPr>
          <p:cNvSpPr>
            <a:spLocks noGrp="1"/>
          </p:cNvSpPr>
          <p:nvPr>
            <p:ph sz="half" idx="2"/>
          </p:nvPr>
        </p:nvSpPr>
        <p:spPr>
          <a:xfrm>
            <a:off x="6208712" y="2496620"/>
            <a:ext cx="4825159" cy="3523180"/>
          </a:xfrm>
        </p:spPr>
        <p:txBody>
          <a:bodyPr>
            <a:noAutofit/>
          </a:bodyPr>
          <a:lstStyle/>
          <a:p>
            <a:pPr algn="just"/>
            <a:r>
              <a:rPr lang="en-US" sz="1600" b="1" i="0" u="none" strike="noStrike" baseline="0" dirty="0">
                <a:latin typeface="AGaramond-Regular"/>
              </a:rPr>
              <a:t>The Supply of Labor </a:t>
            </a:r>
            <a:r>
              <a:rPr lang="en-US" sz="1600" b="0" i="0" u="none" strike="noStrike" baseline="0" dirty="0">
                <a:latin typeface="AGaramond-Regular"/>
              </a:rPr>
              <a:t>The </a:t>
            </a:r>
            <a:r>
              <a:rPr lang="en-US" sz="1600" b="0" i="1" u="none" strike="noStrike" baseline="0" dirty="0">
                <a:latin typeface="AGaramond-Regular"/>
              </a:rPr>
              <a:t>supply of labor </a:t>
            </a:r>
            <a:r>
              <a:rPr lang="en-US" sz="1600" b="0" i="0" u="none" strike="noStrike" baseline="0" dirty="0">
                <a:latin typeface="AGaramond-Regular"/>
              </a:rPr>
              <a:t>is the relationship between the quantity of labor supplied and the real wage rate.</a:t>
            </a:r>
          </a:p>
          <a:p>
            <a:pPr algn="just"/>
            <a:r>
              <a:rPr lang="en-US" sz="1600" b="0" i="0" u="none" strike="noStrike" baseline="0" dirty="0">
                <a:latin typeface="AGaramond-Regular"/>
              </a:rPr>
              <a:t>The quantity of labor supplied is the number of labor hours that all the households in the economy plan to work during a given period.</a:t>
            </a:r>
          </a:p>
          <a:p>
            <a:pPr algn="just"/>
            <a:r>
              <a:rPr lang="en-US" sz="1600" b="0" i="0" u="none" strike="noStrike" baseline="0" dirty="0">
                <a:latin typeface="AGaramond-Regular"/>
              </a:rPr>
              <a:t>This quantity depends on the real wage rate.</a:t>
            </a:r>
          </a:p>
          <a:p>
            <a:pPr algn="just"/>
            <a:r>
              <a:rPr lang="en-US" sz="1600" b="0" i="0" u="none" strike="noStrike" baseline="0" dirty="0">
                <a:latin typeface="AGaramond-Regular"/>
              </a:rPr>
              <a:t>The </a:t>
            </a:r>
            <a:r>
              <a:rPr lang="en-US" sz="1600" b="0" i="1" u="none" strike="noStrike" baseline="0" dirty="0">
                <a:latin typeface="AGaramond-Regular"/>
              </a:rPr>
              <a:t>real </a:t>
            </a:r>
            <a:r>
              <a:rPr lang="en-US" sz="1600" b="0" i="0" u="none" strike="noStrike" baseline="0" dirty="0">
                <a:latin typeface="AGaramond-Regular"/>
              </a:rPr>
              <a:t>wage rate influences the quantity of labor supplied because what matters to households is not the number of dollars they earn (money wage rate) but what they can buy with those dollars.</a:t>
            </a:r>
          </a:p>
          <a:p>
            <a:pPr algn="just"/>
            <a:r>
              <a:rPr lang="en-US" sz="1600" b="0" i="0" u="none" strike="noStrike" baseline="0" dirty="0">
                <a:latin typeface="AGaramond-Regular"/>
              </a:rPr>
              <a:t>The quantity of labor supplied </a:t>
            </a:r>
            <a:r>
              <a:rPr lang="en-US" sz="1600" b="0" i="1" u="none" strike="noStrike" baseline="0" dirty="0">
                <a:latin typeface="AGaramond-Regular"/>
              </a:rPr>
              <a:t>increases </a:t>
            </a:r>
            <a:r>
              <a:rPr lang="en-US" sz="1600" b="0" i="0" u="none" strike="noStrike" baseline="0" dirty="0">
                <a:latin typeface="AGaramond-Regular"/>
              </a:rPr>
              <a:t>as the real wage rate </a:t>
            </a:r>
            <a:r>
              <a:rPr lang="en-US" sz="1600" b="0" i="1" u="none" strike="noStrike" baseline="0" dirty="0">
                <a:latin typeface="AGaramond-Regular"/>
              </a:rPr>
              <a:t>increases</a:t>
            </a:r>
            <a:r>
              <a:rPr lang="en-US" sz="1600" b="0" i="0" u="none" strike="noStrike" baseline="0" dirty="0">
                <a:latin typeface="AGaramond-Regular"/>
              </a:rPr>
              <a:t>—the supply of labor curve slopes </a:t>
            </a:r>
            <a:r>
              <a:rPr lang="en-SG" sz="1600" b="0" i="0" u="none" strike="noStrike" baseline="0" dirty="0">
                <a:latin typeface="AGaramond-Regular"/>
              </a:rPr>
              <a:t>upward.</a:t>
            </a:r>
            <a:endParaRPr lang="en-SG" sz="1600" dirty="0">
              <a:latin typeface="AGaramond-Regular"/>
            </a:endParaRPr>
          </a:p>
        </p:txBody>
      </p:sp>
    </p:spTree>
    <p:extLst>
      <p:ext uri="{BB962C8B-B14F-4D97-AF65-F5344CB8AC3E}">
        <p14:creationId xmlns:p14="http://schemas.microsoft.com/office/powerpoint/2010/main" val="655291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3764-442F-E04F-52E2-6FCF5AE0EF9E}"/>
              </a:ext>
            </a:extLst>
          </p:cNvPr>
          <p:cNvSpPr>
            <a:spLocks noGrp="1"/>
          </p:cNvSpPr>
          <p:nvPr>
            <p:ph type="title"/>
          </p:nvPr>
        </p:nvSpPr>
        <p:spPr/>
        <p:txBody>
          <a:bodyPr/>
          <a:lstStyle/>
          <a:p>
            <a:r>
              <a:rPr lang="en-SG" dirty="0"/>
              <a:t>Labour Market Equilibrium</a:t>
            </a:r>
          </a:p>
        </p:txBody>
      </p:sp>
      <p:sp>
        <p:nvSpPr>
          <p:cNvPr id="3" name="Content Placeholder 2">
            <a:extLst>
              <a:ext uri="{FF2B5EF4-FFF2-40B4-BE49-F238E27FC236}">
                <a16:creationId xmlns:a16="http://schemas.microsoft.com/office/drawing/2014/main" id="{12919FA1-4995-9536-4E92-AFBEA147CF0C}"/>
              </a:ext>
            </a:extLst>
          </p:cNvPr>
          <p:cNvSpPr>
            <a:spLocks noGrp="1"/>
          </p:cNvSpPr>
          <p:nvPr>
            <p:ph sz="half" idx="1"/>
          </p:nvPr>
        </p:nvSpPr>
        <p:spPr>
          <a:xfrm>
            <a:off x="708917" y="2301411"/>
            <a:ext cx="6390526" cy="4556589"/>
          </a:xfrm>
        </p:spPr>
        <p:txBody>
          <a:bodyPr>
            <a:normAutofit lnSpcReduction="10000"/>
          </a:bodyPr>
          <a:lstStyle/>
          <a:p>
            <a:pPr algn="just"/>
            <a:r>
              <a:rPr lang="en-US" sz="1800" b="0" i="0" u="none" strike="noStrike" baseline="0" dirty="0">
                <a:latin typeface="AGaramond-Regular"/>
              </a:rPr>
              <a:t>The price of labor is the real wage rate.</a:t>
            </a:r>
          </a:p>
          <a:p>
            <a:pPr algn="just"/>
            <a:r>
              <a:rPr lang="en-US" sz="1800" b="0" i="0" u="none" strike="noStrike" baseline="0" dirty="0">
                <a:latin typeface="AGaramond-Regular"/>
              </a:rPr>
              <a:t>The forces of supply and demand operate in labor markets just as they do in the markets for goods and services to eliminate a shortage or a surplus.</a:t>
            </a:r>
          </a:p>
          <a:p>
            <a:pPr algn="just"/>
            <a:r>
              <a:rPr lang="en-US" dirty="0">
                <a:latin typeface="AGaramond-Regular"/>
              </a:rPr>
              <a:t>A</a:t>
            </a:r>
            <a:r>
              <a:rPr lang="en-US" sz="1800" b="0" i="0" u="none" strike="noStrike" baseline="0" dirty="0">
                <a:latin typeface="AGaramond-Regular"/>
              </a:rPr>
              <a:t> shortage or a surplus of labor brings only a gradual change in the real wage rate. </a:t>
            </a:r>
          </a:p>
          <a:p>
            <a:pPr lvl="1" algn="just"/>
            <a:r>
              <a:rPr lang="en-US" b="0" i="0" u="none" strike="noStrike" baseline="0" dirty="0">
                <a:latin typeface="AGaramond-Regular"/>
              </a:rPr>
              <a:t>If there is a shortage of labor, the real wage rate rises to eliminate it; and</a:t>
            </a:r>
          </a:p>
          <a:p>
            <a:pPr lvl="1" algn="just"/>
            <a:r>
              <a:rPr lang="en-US" b="0" i="0" u="none" strike="noStrike" baseline="0" dirty="0">
                <a:latin typeface="AGaramond-Regular"/>
              </a:rPr>
              <a:t> if there is a surplus of labor, the real wage rate eventually falls to eliminate it. </a:t>
            </a:r>
          </a:p>
          <a:p>
            <a:pPr algn="just"/>
            <a:r>
              <a:rPr lang="en-US" b="0" i="0" u="none" strike="noStrike" baseline="0" dirty="0">
                <a:latin typeface="AGaramond-Regular"/>
              </a:rPr>
              <a:t>When there is neither a shortage nor a surplus, the labor market is in equilibrium— </a:t>
            </a:r>
            <a:r>
              <a:rPr lang="en-SG" b="0" i="0" u="none" strike="noStrike" baseline="0" dirty="0">
                <a:latin typeface="AGaramond-Regular"/>
              </a:rPr>
              <a:t>a full-employment equilibrium.</a:t>
            </a:r>
          </a:p>
          <a:p>
            <a:pPr algn="just"/>
            <a:r>
              <a:rPr lang="en-SG" sz="1800" b="0" i="0" u="none" strike="noStrike" baseline="0" dirty="0">
                <a:latin typeface="AGaramond-Regular"/>
              </a:rPr>
              <a:t>At this </a:t>
            </a:r>
            <a:r>
              <a:rPr lang="en-US" sz="1800" b="0" i="0" u="none" strike="noStrike" baseline="0" dirty="0">
                <a:latin typeface="AGaramond-Regular"/>
              </a:rPr>
              <a:t>equilibrium real wage rate and level of employment, the economy is at </a:t>
            </a:r>
            <a:r>
              <a:rPr lang="en-US" sz="1800" b="0" i="1" u="none" strike="noStrike" baseline="0" dirty="0">
                <a:latin typeface="AGaramond-Regular"/>
              </a:rPr>
              <a:t>full employment</a:t>
            </a:r>
            <a:r>
              <a:rPr lang="en-US" sz="1800" b="0" i="0" u="none" strike="noStrike" baseline="0" dirty="0">
                <a:latin typeface="AGaramond-Regular"/>
              </a:rPr>
              <a:t>.</a:t>
            </a:r>
            <a:endParaRPr lang="en-SG" dirty="0">
              <a:latin typeface="AGaramond-Regular"/>
            </a:endParaRPr>
          </a:p>
        </p:txBody>
      </p:sp>
      <p:pic>
        <p:nvPicPr>
          <p:cNvPr id="6" name="Content Placeholder 5">
            <a:extLst>
              <a:ext uri="{FF2B5EF4-FFF2-40B4-BE49-F238E27FC236}">
                <a16:creationId xmlns:a16="http://schemas.microsoft.com/office/drawing/2014/main" id="{1F39934E-B61F-A58A-642B-E4D66BB4733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57009" y="2468031"/>
            <a:ext cx="3575957" cy="3416301"/>
          </a:xfrm>
        </p:spPr>
      </p:pic>
    </p:spTree>
    <p:extLst>
      <p:ext uri="{BB962C8B-B14F-4D97-AF65-F5344CB8AC3E}">
        <p14:creationId xmlns:p14="http://schemas.microsoft.com/office/powerpoint/2010/main" val="3062691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6A888-C667-601B-4108-50FA3FE4BC0F}"/>
              </a:ext>
            </a:extLst>
          </p:cNvPr>
          <p:cNvSpPr>
            <a:spLocks noGrp="1"/>
          </p:cNvSpPr>
          <p:nvPr>
            <p:ph type="title"/>
          </p:nvPr>
        </p:nvSpPr>
        <p:spPr/>
        <p:txBody>
          <a:bodyPr/>
          <a:lstStyle/>
          <a:p>
            <a:r>
              <a:rPr lang="en-SG" dirty="0"/>
              <a:t>Potential GDP </a:t>
            </a:r>
          </a:p>
        </p:txBody>
      </p:sp>
      <p:sp>
        <p:nvSpPr>
          <p:cNvPr id="4" name="Content Placeholder 3">
            <a:extLst>
              <a:ext uri="{FF2B5EF4-FFF2-40B4-BE49-F238E27FC236}">
                <a16:creationId xmlns:a16="http://schemas.microsoft.com/office/drawing/2014/main" id="{E10D273A-D57F-9F37-51E4-6F0501BE20E6}"/>
              </a:ext>
            </a:extLst>
          </p:cNvPr>
          <p:cNvSpPr>
            <a:spLocks noGrp="1"/>
          </p:cNvSpPr>
          <p:nvPr>
            <p:ph sz="half" idx="1"/>
          </p:nvPr>
        </p:nvSpPr>
        <p:spPr>
          <a:xfrm>
            <a:off x="1154954" y="2253344"/>
            <a:ext cx="6335956" cy="4212770"/>
          </a:xfrm>
        </p:spPr>
        <p:txBody>
          <a:bodyPr>
            <a:normAutofit/>
          </a:bodyPr>
          <a:lstStyle/>
          <a:p>
            <a:pPr algn="just"/>
            <a:r>
              <a:rPr lang="en-SG" sz="1800" b="0" i="0" u="none" strike="noStrike" baseline="0" dirty="0">
                <a:latin typeface="AGaramond-Regular"/>
              </a:rPr>
              <a:t>The </a:t>
            </a:r>
            <a:r>
              <a:rPr lang="en-US" sz="1800" b="0" i="0" u="none" strike="noStrike" baseline="0" dirty="0">
                <a:latin typeface="AGaramond-Regular"/>
              </a:rPr>
              <a:t>quantity of real GDP produced increases as the quantity of labor increases.</a:t>
            </a:r>
          </a:p>
          <a:p>
            <a:pPr algn="just"/>
            <a:r>
              <a:rPr lang="en-US" sz="1800" b="0" i="0" u="none" strike="noStrike" baseline="0" dirty="0">
                <a:latin typeface="AGaramond-Regular"/>
              </a:rPr>
              <a:t> At the equilibrium quantity of labor, the economy is at full employment, and the quantity of real GDP at full employment is potential GDP.</a:t>
            </a:r>
          </a:p>
          <a:p>
            <a:pPr algn="just"/>
            <a:r>
              <a:rPr lang="en-US" sz="1800" b="0" i="0" u="none" strike="noStrike" baseline="0" dirty="0">
                <a:latin typeface="AGaramond-Regular"/>
              </a:rPr>
              <a:t> So the full-employment quantity of labor produces </a:t>
            </a:r>
            <a:r>
              <a:rPr lang="en-SG" sz="1800" b="0" i="0" u="none" strike="noStrike" baseline="0" dirty="0">
                <a:latin typeface="AGaramond-Regular"/>
              </a:rPr>
              <a:t>potential GDP. </a:t>
            </a:r>
          </a:p>
          <a:p>
            <a:pPr algn="just"/>
            <a:r>
              <a:rPr lang="en-US" sz="1800" b="0" i="0" u="none" strike="noStrike" baseline="0" dirty="0">
                <a:latin typeface="AGaramond-Regular"/>
              </a:rPr>
              <a:t>We can divide all the forces that make potential GDP </a:t>
            </a:r>
            <a:r>
              <a:rPr lang="en-SG" sz="1800" b="0" i="0" u="none" strike="noStrike" baseline="0" dirty="0">
                <a:latin typeface="AGaramond-Regular"/>
              </a:rPr>
              <a:t>grow into two categories:</a:t>
            </a:r>
          </a:p>
          <a:p>
            <a:pPr marL="400050" lvl="1" indent="0" algn="just">
              <a:buNone/>
            </a:pPr>
            <a:r>
              <a:rPr lang="en-US" b="0" i="0" u="none" strike="noStrike" baseline="0" dirty="0">
                <a:latin typeface="ZapfDingbats"/>
              </a:rPr>
              <a:t>■ </a:t>
            </a:r>
            <a:r>
              <a:rPr lang="en-US" b="0" i="0" u="none" strike="noStrike" baseline="0" dirty="0">
                <a:latin typeface="AGaramond-Regular"/>
              </a:rPr>
              <a:t>Growth of the supply of labor</a:t>
            </a:r>
          </a:p>
          <a:p>
            <a:pPr marL="400050" lvl="1" indent="0" algn="just">
              <a:buNone/>
            </a:pPr>
            <a:r>
              <a:rPr lang="en-SG" b="0" i="0" u="none" strike="noStrike" baseline="0" dirty="0">
                <a:latin typeface="ZapfDingbats"/>
              </a:rPr>
              <a:t>■ </a:t>
            </a:r>
            <a:r>
              <a:rPr lang="en-SG" b="0" i="0" u="none" strike="noStrike" baseline="0" dirty="0">
                <a:latin typeface="AGaramond-Regular"/>
              </a:rPr>
              <a:t>Growth of </a:t>
            </a:r>
            <a:r>
              <a:rPr lang="en-SG" b="0" i="0" u="none" strike="noStrike" baseline="0" dirty="0" err="1">
                <a:latin typeface="AGaramond-Regular"/>
              </a:rPr>
              <a:t>labor</a:t>
            </a:r>
            <a:r>
              <a:rPr lang="en-SG" b="0" i="0" u="none" strike="noStrike" baseline="0" dirty="0">
                <a:latin typeface="AGaramond-Regular"/>
              </a:rPr>
              <a:t> productivity</a:t>
            </a:r>
            <a:endParaRPr lang="en-SG" dirty="0"/>
          </a:p>
        </p:txBody>
      </p:sp>
      <p:pic>
        <p:nvPicPr>
          <p:cNvPr id="7" name="Content Placeholder 6">
            <a:extLst>
              <a:ext uri="{FF2B5EF4-FFF2-40B4-BE49-F238E27FC236}">
                <a16:creationId xmlns:a16="http://schemas.microsoft.com/office/drawing/2014/main" id="{1C2BEBFA-1540-58FC-4EA1-8F6DF97E966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224408" y="1136946"/>
            <a:ext cx="3383918" cy="5339442"/>
          </a:xfrm>
        </p:spPr>
      </p:pic>
    </p:spTree>
    <p:extLst>
      <p:ext uri="{BB962C8B-B14F-4D97-AF65-F5344CB8AC3E}">
        <p14:creationId xmlns:p14="http://schemas.microsoft.com/office/powerpoint/2010/main" val="3876521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4BD7-0C41-1418-4E89-692154590A4F}"/>
              </a:ext>
            </a:extLst>
          </p:cNvPr>
          <p:cNvSpPr>
            <a:spLocks noGrp="1"/>
          </p:cNvSpPr>
          <p:nvPr>
            <p:ph type="title"/>
          </p:nvPr>
        </p:nvSpPr>
        <p:spPr>
          <a:xfrm>
            <a:off x="4294598" y="973668"/>
            <a:ext cx="7191909" cy="706964"/>
          </a:xfrm>
        </p:spPr>
        <p:txBody>
          <a:bodyPr/>
          <a:lstStyle/>
          <a:p>
            <a:r>
              <a:rPr lang="en-SG" dirty="0"/>
              <a:t> Growth of the Supply of Labor</a:t>
            </a:r>
          </a:p>
        </p:txBody>
      </p:sp>
      <p:pic>
        <p:nvPicPr>
          <p:cNvPr id="8" name="Content Placeholder 7">
            <a:extLst>
              <a:ext uri="{FF2B5EF4-FFF2-40B4-BE49-F238E27FC236}">
                <a16:creationId xmlns:a16="http://schemas.microsoft.com/office/drawing/2014/main" id="{EE89E490-2E36-A296-C33E-665DDD4D12F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28773" y="791111"/>
            <a:ext cx="3802171" cy="5748208"/>
          </a:xfrm>
        </p:spPr>
      </p:pic>
      <p:sp>
        <p:nvSpPr>
          <p:cNvPr id="4" name="Content Placeholder 3">
            <a:extLst>
              <a:ext uri="{FF2B5EF4-FFF2-40B4-BE49-F238E27FC236}">
                <a16:creationId xmlns:a16="http://schemas.microsoft.com/office/drawing/2014/main" id="{B651768A-876E-811C-8B84-E1E25835B21F}"/>
              </a:ext>
            </a:extLst>
          </p:cNvPr>
          <p:cNvSpPr>
            <a:spLocks noGrp="1"/>
          </p:cNvSpPr>
          <p:nvPr>
            <p:ph sz="half" idx="2"/>
          </p:nvPr>
        </p:nvSpPr>
        <p:spPr>
          <a:xfrm>
            <a:off x="4602822" y="2603499"/>
            <a:ext cx="6431050" cy="3935819"/>
          </a:xfrm>
        </p:spPr>
        <p:txBody>
          <a:bodyPr>
            <a:normAutofit/>
          </a:bodyPr>
          <a:lstStyle/>
          <a:p>
            <a:pPr algn="l"/>
            <a:r>
              <a:rPr lang="en-SG" sz="1800" b="0" i="0" u="none" strike="noStrike" baseline="0" dirty="0">
                <a:latin typeface="AGaramond-Regular"/>
              </a:rPr>
              <a:t>When the supply of </a:t>
            </a:r>
            <a:r>
              <a:rPr lang="en-US" sz="1800" b="0" i="0" u="none" strike="noStrike" baseline="0" dirty="0">
                <a:latin typeface="AGaramond-Regular"/>
              </a:rPr>
              <a:t>labor grows, the supply of labor curve shifts rightward. The quantity of labor at a given real wage rate </a:t>
            </a:r>
            <a:r>
              <a:rPr lang="en-SG" sz="1800" b="0" i="0" u="none" strike="noStrike" baseline="0" dirty="0">
                <a:latin typeface="AGaramond-Regular"/>
              </a:rPr>
              <a:t>increases.</a:t>
            </a:r>
          </a:p>
          <a:p>
            <a:pPr algn="l"/>
            <a:r>
              <a:rPr lang="en-US" sz="1800" b="0" i="0" u="none" strike="noStrike" baseline="0" dirty="0">
                <a:latin typeface="AGaramond-Regular"/>
              </a:rPr>
              <a:t>The quantity of labor is the number of workers employed multiplied by average hours per worker; and</a:t>
            </a:r>
          </a:p>
          <a:p>
            <a:pPr algn="l"/>
            <a:r>
              <a:rPr lang="en-US" sz="1800" b="0" i="0" u="none" strike="noStrike" baseline="0" dirty="0">
                <a:latin typeface="AGaramond-Regular"/>
              </a:rPr>
              <a:t>the number employed equals the employment-to-population ratio multiplied by the working-age </a:t>
            </a:r>
            <a:r>
              <a:rPr lang="en-SG" sz="1800" b="0" i="0" u="none" strike="noStrike" baseline="0" dirty="0">
                <a:latin typeface="AGaramond-Regular"/>
              </a:rPr>
              <a:t>population. </a:t>
            </a:r>
          </a:p>
          <a:p>
            <a:pPr algn="l"/>
            <a:r>
              <a:rPr lang="en-SG" sz="1800" b="0" i="0" u="none" strike="noStrike" baseline="0" dirty="0">
                <a:latin typeface="AGaramond-Regular"/>
              </a:rPr>
              <a:t>So the quantity </a:t>
            </a:r>
            <a:r>
              <a:rPr lang="en-US" sz="1800" b="0" i="0" u="none" strike="noStrike" baseline="0" dirty="0">
                <a:latin typeface="AGaramond-Regular"/>
              </a:rPr>
              <a:t>of labor changes as a result of changes in</a:t>
            </a:r>
          </a:p>
          <a:p>
            <a:pPr marL="400050" lvl="1" indent="0">
              <a:buNone/>
            </a:pPr>
            <a:r>
              <a:rPr lang="en-US" b="0" i="0" u="none" strike="noStrike" baseline="0" dirty="0">
                <a:latin typeface="AGaramond-Regular"/>
              </a:rPr>
              <a:t>1. Average hours per worker</a:t>
            </a:r>
          </a:p>
          <a:p>
            <a:pPr marL="400050" lvl="1" indent="0">
              <a:buNone/>
            </a:pPr>
            <a:r>
              <a:rPr lang="en-SG" b="0" i="0" u="none" strike="noStrike" baseline="0" dirty="0">
                <a:latin typeface="AGaramond-Regular"/>
              </a:rPr>
              <a:t>2. The employment-to-population ratio</a:t>
            </a:r>
          </a:p>
          <a:p>
            <a:pPr marL="400050" lvl="1" indent="0">
              <a:buNone/>
            </a:pPr>
            <a:r>
              <a:rPr lang="en-SG" b="0" i="0" u="none" strike="noStrike" baseline="0" dirty="0">
                <a:latin typeface="AGaramond-Regular"/>
              </a:rPr>
              <a:t>3. The working-age population</a:t>
            </a:r>
            <a:endParaRPr lang="en-SG" dirty="0"/>
          </a:p>
        </p:txBody>
      </p:sp>
    </p:spTree>
    <p:extLst>
      <p:ext uri="{BB962C8B-B14F-4D97-AF65-F5344CB8AC3E}">
        <p14:creationId xmlns:p14="http://schemas.microsoft.com/office/powerpoint/2010/main" val="10166344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330</TotalTime>
  <Words>1007</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AGaramond-Regular</vt:lpstr>
      <vt:lpstr>Arial</vt:lpstr>
      <vt:lpstr>Century Gothic</vt:lpstr>
      <vt:lpstr>Futura-Heavy</vt:lpstr>
      <vt:lpstr>Wingdings 3</vt:lpstr>
      <vt:lpstr>ZapfDingbats</vt:lpstr>
      <vt:lpstr>Ion Boardroom</vt:lpstr>
      <vt:lpstr>ECO102: Introduction to Macroeconomics</vt:lpstr>
      <vt:lpstr>The Basics of Economic Growth</vt:lpstr>
      <vt:lpstr>How Potential GDP Grows</vt:lpstr>
      <vt:lpstr>Aggregate Production Function </vt:lpstr>
      <vt:lpstr>Aggregate Labour Market</vt:lpstr>
      <vt:lpstr>Labour Market Equilibrium</vt:lpstr>
      <vt:lpstr>Potential GDP </vt:lpstr>
      <vt:lpstr> Growth of the Supply of Labor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Addrita Shams</dc:creator>
  <cp:lastModifiedBy>Addrita Shams</cp:lastModifiedBy>
  <cp:revision>20</cp:revision>
  <dcterms:created xsi:type="dcterms:W3CDTF">2024-02-07T13:19:23Z</dcterms:created>
  <dcterms:modified xsi:type="dcterms:W3CDTF">2024-11-10T16:50:06Z</dcterms:modified>
</cp:coreProperties>
</file>