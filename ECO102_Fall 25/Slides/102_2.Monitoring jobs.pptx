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63F978A-9A00-494D-8851-F5E3C8DA911E}">
          <p14:sldIdLst>
            <p14:sldId id="266"/>
            <p14:sldId id="258"/>
            <p14:sldId id="257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810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3786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8748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920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735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2651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216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415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958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648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5427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0973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7629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1330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0004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1172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964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3803469-D74F-4639-9376-CDEE2558714A}" type="datetimeFigureOut">
              <a:rPr lang="en-SG" smtClean="0"/>
              <a:t>4/11/2024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SG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CB6069B-48F3-4731-BB20-E1591CB91EF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33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7A00-9125-B0BF-D2B8-12FD71820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04127"/>
            <a:ext cx="8825658" cy="2722652"/>
          </a:xfrm>
        </p:spPr>
        <p:txBody>
          <a:bodyPr/>
          <a:lstStyle/>
          <a:p>
            <a:r>
              <a:rPr lang="en-SG" dirty="0"/>
              <a:t>ECO102: Introduction to Macroeconomics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AA975-DE50-A324-6452-99B681E1A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821987"/>
            <a:ext cx="8825658" cy="1816813"/>
          </a:xfrm>
        </p:spPr>
        <p:txBody>
          <a:bodyPr/>
          <a:lstStyle/>
          <a:p>
            <a:r>
              <a:rPr lang="en-SG" dirty="0"/>
              <a:t>Lecturer: </a:t>
            </a:r>
            <a:r>
              <a:rPr lang="en-SG"/>
              <a:t>Addrita Shams</a:t>
            </a:r>
            <a:endParaRPr lang="en-SG" dirty="0"/>
          </a:p>
          <a:p>
            <a:r>
              <a:rPr lang="en-SG" dirty="0"/>
              <a:t>Week 02, Lecture 03</a:t>
            </a:r>
          </a:p>
          <a:p>
            <a:r>
              <a:rPr lang="en-SG" dirty="0"/>
              <a:t>Chapter 22: Monitoring jobs and inflation</a:t>
            </a:r>
          </a:p>
        </p:txBody>
      </p:sp>
    </p:spTree>
    <p:extLst>
      <p:ext uri="{BB962C8B-B14F-4D97-AF65-F5344CB8AC3E}">
        <p14:creationId xmlns:p14="http://schemas.microsoft.com/office/powerpoint/2010/main" val="179276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D65C-EDAE-74AA-0F5C-79586630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Population Labor Force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21BB1-C7B3-E1B2-B57A-D0405749F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48475" cy="3416300"/>
          </a:xfrm>
        </p:spPr>
        <p:txBody>
          <a:bodyPr>
            <a:normAutofit/>
          </a:bodyPr>
          <a:lstStyle/>
          <a:p>
            <a:pPr algn="just"/>
            <a:r>
              <a:rPr lang="en-US" sz="1800" b="0" i="0" u="none" strike="noStrike" baseline="0" dirty="0">
                <a:latin typeface="AGaramond-Regular"/>
              </a:rPr>
              <a:t>The population divides into two broad groups: the working-age population and others who are too young to work or who live in institutions and are </a:t>
            </a:r>
            <a:r>
              <a:rPr lang="en-SG" sz="1800" b="0" i="0" u="none" strike="noStrike" baseline="0" dirty="0">
                <a:latin typeface="AGaramond-Regular"/>
              </a:rPr>
              <a:t>unable to work.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</a:t>
            </a:r>
            <a:r>
              <a:rPr lang="en-US" sz="1800" b="1" i="0" u="none" strike="noStrike" baseline="0" dirty="0">
                <a:latin typeface="Futura-Heavy"/>
              </a:rPr>
              <a:t>working-age population </a:t>
            </a:r>
            <a:r>
              <a:rPr lang="en-US" sz="1800" b="0" i="0" u="none" strike="noStrike" baseline="0" dirty="0">
                <a:latin typeface="AGaramond-Regular"/>
              </a:rPr>
              <a:t>is the total number of people aged 16 years and over who are not in jail, hospital, or some other form of institutional </a:t>
            </a:r>
            <a:r>
              <a:rPr lang="en-SG" sz="1800" b="0" i="0" u="none" strike="noStrike" baseline="0" dirty="0">
                <a:latin typeface="AGaramond-Regular"/>
              </a:rPr>
              <a:t>care.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Census Bureau divides the working-age population into two groups: those in the labor force and those not in the labor force.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It also divides the labor force into two groups: the employed and the unemployed. So the </a:t>
            </a:r>
            <a:r>
              <a:rPr lang="en-US" sz="1800" b="1" i="0" u="none" strike="noStrike" baseline="0" dirty="0">
                <a:latin typeface="Futura-Heavy"/>
              </a:rPr>
              <a:t>labor force </a:t>
            </a:r>
            <a:r>
              <a:rPr lang="en-US" sz="1800" b="0" i="0" u="none" strike="noStrike" baseline="0" dirty="0">
                <a:latin typeface="AGaramond-Regular"/>
              </a:rPr>
              <a:t>is the sum of the employed a</a:t>
            </a:r>
            <a:r>
              <a:rPr lang="en-SG" sz="1800" b="0" i="0" u="none" strike="noStrike" baseline="0" dirty="0" err="1">
                <a:latin typeface="AGaramond-Regular"/>
              </a:rPr>
              <a:t>nd</a:t>
            </a:r>
            <a:r>
              <a:rPr lang="en-SG" sz="1800" b="0" i="0" u="none" strike="noStrike" baseline="0" dirty="0">
                <a:latin typeface="AGaramond-Regular"/>
              </a:rPr>
              <a:t> the unemployed. 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To be counted as employed in the Current Population Survey, a person must have either a full-time job </a:t>
            </a:r>
            <a:r>
              <a:rPr lang="en-SG" sz="1800" b="0" i="0" u="none" strike="noStrike" baseline="0" dirty="0">
                <a:latin typeface="AGaramond-Regular"/>
              </a:rPr>
              <a:t>or a part-time job.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220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3E15-06D6-CD28-46EE-B1219A15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EA22-D20A-1E66-ABC3-20F1D87EA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653459" cy="3416300"/>
          </a:xfrm>
        </p:spPr>
        <p:txBody>
          <a:bodyPr>
            <a:normAutofit/>
          </a:bodyPr>
          <a:lstStyle/>
          <a:p>
            <a:pPr algn="just"/>
            <a:r>
              <a:rPr lang="en-US" sz="1800" b="0" i="0" u="none" strike="noStrike" baseline="0" dirty="0">
                <a:latin typeface="AGaramond-Regular"/>
              </a:rPr>
              <a:t>To be counted as </a:t>
            </a:r>
            <a:r>
              <a:rPr lang="en-US" sz="1800" b="0" i="1" u="none" strike="noStrike" baseline="0" dirty="0">
                <a:latin typeface="AGaramond-Italic"/>
              </a:rPr>
              <a:t>un</a:t>
            </a:r>
            <a:r>
              <a:rPr lang="en-US" sz="1800" b="0" i="0" u="none" strike="noStrike" baseline="0" dirty="0">
                <a:latin typeface="AGaramond-Regular"/>
              </a:rPr>
              <a:t>employed, a person must be available for work and must be in one </a:t>
            </a:r>
            <a:r>
              <a:rPr lang="en-SG" sz="1800" b="0" i="0" u="none" strike="noStrike" baseline="0" dirty="0">
                <a:latin typeface="AGaramond-Regular"/>
              </a:rPr>
              <a:t>of three categories: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1. Without work but has made specific efforts to find a job within the previous four weeks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2. Waiting to be called back to a job from which he or she has been laid off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3. Waiting to start a new job within 30 days</a:t>
            </a:r>
            <a:endParaRPr lang="en-US" b="1" i="0" u="none" strike="noStrike" baseline="0" dirty="0">
              <a:latin typeface="Futura-Heavy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i="0" u="none" strike="noStrike" baseline="0" dirty="0">
                <a:latin typeface="Futura-Heavy"/>
              </a:rPr>
              <a:t>Why Unemployment Is a Problem?</a:t>
            </a:r>
          </a:p>
          <a:p>
            <a:pPr marL="0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Unemployment is a serious personal and social economic problem for two main reasons. It results in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Lost incomes and production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Lost human capital</a:t>
            </a:r>
          </a:p>
          <a:p>
            <a:pPr>
              <a:buFont typeface="Wingdings" panose="05000000000000000000" pitchFamily="2" charset="2"/>
              <a:buChar char="Ø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107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1F69-AC48-CA9C-3C37-8F3B53410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Labor Market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9DE5-6524-45F2-2841-E7A54756F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93879"/>
            <a:ext cx="9951410" cy="4006921"/>
          </a:xfrm>
        </p:spPr>
        <p:txBody>
          <a:bodyPr>
            <a:normAutofit/>
          </a:bodyPr>
          <a:lstStyle/>
          <a:p>
            <a:pPr algn="just"/>
            <a:r>
              <a:rPr lang="en-SG" sz="1800" b="1" i="0" u="none" strike="noStrike" baseline="0" dirty="0">
                <a:latin typeface="Futura-Heavy"/>
              </a:rPr>
              <a:t>Three Labor Market Indicators</a:t>
            </a:r>
          </a:p>
          <a:p>
            <a:pPr marL="0" indent="0" algn="just">
              <a:buNone/>
            </a:pPr>
            <a:r>
              <a:rPr lang="en-US" sz="1800" b="0" i="0" u="none" strike="noStrike" baseline="0" dirty="0">
                <a:latin typeface="AGaramond-Regular"/>
              </a:rPr>
              <a:t>The Census Bureau calculates three indicators of the state of the labor market. They are-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The unemployment rate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ZapfDingbats"/>
              </a:rPr>
              <a:t>■ </a:t>
            </a:r>
            <a:r>
              <a:rPr lang="en-SG" b="0" i="0" u="none" strike="noStrike" baseline="0" dirty="0">
                <a:latin typeface="AGaramond-Regular"/>
              </a:rPr>
              <a:t>The employment-to-population ratio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ZapfDingbats"/>
              </a:rPr>
              <a:t>■ </a:t>
            </a:r>
            <a:r>
              <a:rPr lang="en-US" b="0" i="0" u="none" strike="noStrike" baseline="0" dirty="0">
                <a:latin typeface="AGaramond-Regular"/>
              </a:rPr>
              <a:t>The labor force participation rate</a:t>
            </a:r>
          </a:p>
          <a:p>
            <a:pPr algn="just"/>
            <a:r>
              <a:rPr lang="en-US" sz="1800" b="1" i="0" u="none" strike="noStrike" baseline="0" dirty="0">
                <a:latin typeface="Futura-Heavy"/>
              </a:rPr>
              <a:t>The Unemployment Rate </a:t>
            </a:r>
            <a:r>
              <a:rPr lang="en-US" sz="1800" b="0" i="0" u="none" strike="noStrike" baseline="0" dirty="0">
                <a:latin typeface="AGaramond-Regular"/>
              </a:rPr>
              <a:t>The amount of unemployment is an indicator of the extent to which people who want jobs can’t find them. The </a:t>
            </a:r>
            <a:r>
              <a:rPr lang="en-US" sz="1800" b="1" i="0" u="none" strike="noStrike" baseline="0" dirty="0">
                <a:latin typeface="Futura-Heavy"/>
              </a:rPr>
              <a:t>unemployment rate </a:t>
            </a:r>
            <a:r>
              <a:rPr lang="en-US" sz="1800" b="0" i="0" u="none" strike="noStrike" baseline="0" dirty="0">
                <a:latin typeface="AGaramond-Regular"/>
              </a:rPr>
              <a:t>is the percentage of the people in the labor force who are unemployed. That is,</a:t>
            </a:r>
          </a:p>
          <a:p>
            <a:pPr marL="0" indent="0" algn="just">
              <a:buNone/>
            </a:pPr>
            <a:r>
              <a:rPr lang="en-US" dirty="0">
                <a:highlight>
                  <a:srgbClr val="00FFFF"/>
                </a:highlight>
                <a:latin typeface="AGaramond-Regular"/>
              </a:rPr>
              <a:t>Unemployment Rate= (Number of people unemployed/ Labor Force)* 100</a:t>
            </a:r>
          </a:p>
          <a:p>
            <a:pPr marL="0" indent="0" algn="just">
              <a:buNone/>
            </a:pPr>
            <a:r>
              <a:rPr lang="en-US" b="0" i="0" u="none" strike="noStrike" baseline="0" dirty="0">
                <a:highlight>
                  <a:srgbClr val="00FFFF"/>
                </a:highlight>
                <a:latin typeface="AGaramond-Regular"/>
              </a:rPr>
              <a:t>Labor Force= Number of</a:t>
            </a:r>
            <a:r>
              <a:rPr lang="en-US" dirty="0">
                <a:highlight>
                  <a:srgbClr val="00FFFF"/>
                </a:highlight>
                <a:latin typeface="AGaramond-Regular"/>
              </a:rPr>
              <a:t> people employed+ Number of people unemployed</a:t>
            </a:r>
            <a:endParaRPr lang="en-US" b="0" i="0" u="none" strike="noStrike" baseline="0" dirty="0">
              <a:highlight>
                <a:srgbClr val="00FFFF"/>
              </a:highlight>
              <a:latin typeface="AGaramond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30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E5759-32AA-6E6B-F9C4-89251C88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Labor Market Indicators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B7BE7-7117-2B54-8126-B2070923F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603499"/>
            <a:ext cx="10043877" cy="3848671"/>
          </a:xfrm>
        </p:spPr>
        <p:txBody>
          <a:bodyPr>
            <a:normAutofit/>
          </a:bodyPr>
          <a:lstStyle/>
          <a:p>
            <a:pPr algn="just"/>
            <a:r>
              <a:rPr lang="en-US" sz="1800" b="1" i="0" u="none" strike="noStrike" baseline="0" dirty="0">
                <a:latin typeface="Futura-Heavy"/>
              </a:rPr>
              <a:t>The Employment-to-Population Ratio </a:t>
            </a:r>
            <a:r>
              <a:rPr lang="en-US" sz="1800" b="0" i="0" u="none" strike="noStrike" baseline="0" dirty="0">
                <a:latin typeface="AGaramond-Regular"/>
              </a:rPr>
              <a:t>The number of people of working age who have jobs is an indicator of both the availability of jobs and the degree of match between people’s skills and jobs. The </a:t>
            </a:r>
            <a:r>
              <a:rPr lang="en-US" sz="1800" b="1" i="0" u="none" strike="noStrike" baseline="0" dirty="0">
                <a:latin typeface="Futura-Heavy"/>
              </a:rPr>
              <a:t>employment-to-population ratio </a:t>
            </a:r>
            <a:r>
              <a:rPr lang="en-US" sz="1800" b="0" i="0" u="none" strike="noStrike" baseline="0" dirty="0">
                <a:latin typeface="AGaramond-Regular"/>
              </a:rPr>
              <a:t>is the percentage of people of working age who have jobs.</a:t>
            </a:r>
          </a:p>
          <a:p>
            <a:pPr marL="0" indent="0" algn="just">
              <a:buNone/>
            </a:pPr>
            <a:r>
              <a:rPr lang="en-US" sz="1800" b="0" i="0" u="none" strike="noStrike" baseline="0" dirty="0">
                <a:highlight>
                  <a:srgbClr val="00FFFF"/>
                </a:highlight>
                <a:latin typeface="AGaramond-Regular"/>
              </a:rPr>
              <a:t>Employment to population Ratio= (Number of people employed/Working ago population)*100</a:t>
            </a:r>
          </a:p>
          <a:p>
            <a:pPr algn="just"/>
            <a:endParaRPr lang="en-US" dirty="0">
              <a:latin typeface="AGaramond-Regular"/>
            </a:endParaRPr>
          </a:p>
          <a:p>
            <a:pPr algn="just"/>
            <a:r>
              <a:rPr lang="en-US" sz="1800" b="1" i="0" u="none" strike="noStrike" baseline="0" dirty="0">
                <a:latin typeface="Futura-Heavy"/>
              </a:rPr>
              <a:t>The Labor Force Participation Rate </a:t>
            </a:r>
            <a:r>
              <a:rPr lang="en-US" sz="1800" b="0" i="0" u="none" strike="noStrike" baseline="0" dirty="0">
                <a:latin typeface="AGaramond-Regular"/>
              </a:rPr>
              <a:t>The number of people in the labor force is an indicator of the willingness of people of working age to take jobs. The </a:t>
            </a:r>
            <a:r>
              <a:rPr lang="en-US" sz="1800" b="1" i="0" u="none" strike="noStrike" baseline="0" dirty="0">
                <a:latin typeface="Futura-Heavy"/>
              </a:rPr>
              <a:t>labor force participation rate </a:t>
            </a:r>
            <a:r>
              <a:rPr lang="en-US" sz="1800" b="0" i="0" u="none" strike="noStrike" baseline="0" dirty="0">
                <a:latin typeface="AGaramond-Regular"/>
              </a:rPr>
              <a:t>is the percentage of the working-age population who are members of the </a:t>
            </a:r>
            <a:r>
              <a:rPr lang="en-SG" sz="1800" b="0" i="0" u="none" strike="noStrike" baseline="0" dirty="0" err="1">
                <a:latin typeface="AGaramond-Regular"/>
              </a:rPr>
              <a:t>labor</a:t>
            </a:r>
            <a:r>
              <a:rPr lang="en-SG" sz="1800" b="0" i="0" u="none" strike="noStrike" baseline="0" dirty="0">
                <a:latin typeface="AGaramond-Regular"/>
              </a:rPr>
              <a:t> force.</a:t>
            </a:r>
          </a:p>
          <a:p>
            <a:pPr marL="0" indent="0" algn="just">
              <a:buNone/>
            </a:pPr>
            <a:r>
              <a:rPr lang="en-SG" dirty="0">
                <a:highlight>
                  <a:srgbClr val="00FFFF"/>
                </a:highlight>
                <a:latin typeface="AGaramond-Regular"/>
              </a:rPr>
              <a:t>Labor force participation rate= (Labor Force/ Working age population)*100</a:t>
            </a:r>
            <a:endParaRPr lang="en-SG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7177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0064-5F40-8A92-BE26-ACAC2F71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Different Types of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0D06B-8F3C-E930-5D9F-99101E50A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800" b="0" i="0" u="none" strike="noStrike" baseline="0" dirty="0">
                <a:latin typeface="AGaramond-Regular"/>
              </a:rPr>
              <a:t>There is always someone without a job who is searching for one, so there is always some unemployment.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key reason is that the economy is a complex mechanism that is always changing—it experiences </a:t>
            </a:r>
            <a:r>
              <a:rPr lang="en-SG" sz="1800" b="0" i="0" u="none" strike="noStrike" baseline="0" dirty="0">
                <a:latin typeface="AGaramond-Regular"/>
              </a:rPr>
              <a:t>frictions, structural change, and cycles.</a:t>
            </a:r>
          </a:p>
          <a:p>
            <a:pPr algn="just"/>
            <a:r>
              <a:rPr lang="en-SG" b="1" dirty="0">
                <a:latin typeface="AGaramond-Regular"/>
              </a:rPr>
              <a:t>There are four types of unemployment:</a:t>
            </a:r>
          </a:p>
          <a:p>
            <a:pPr lvl="1" algn="just"/>
            <a:r>
              <a:rPr lang="en-SG" b="0" i="0" u="none" strike="noStrike" baseline="0" dirty="0">
                <a:latin typeface="AGaramond-Regular"/>
              </a:rPr>
              <a:t>Frictional Unemployment</a:t>
            </a:r>
          </a:p>
          <a:p>
            <a:pPr lvl="1" algn="just"/>
            <a:r>
              <a:rPr lang="en-SG" dirty="0">
                <a:latin typeface="AGaramond-Regular"/>
              </a:rPr>
              <a:t>Structural Unemployment</a:t>
            </a:r>
          </a:p>
          <a:p>
            <a:pPr lvl="1" algn="just"/>
            <a:r>
              <a:rPr lang="en-SG" b="0" i="0" u="none" strike="noStrike" baseline="0" dirty="0">
                <a:latin typeface="AGaramond-Regular"/>
              </a:rPr>
              <a:t>Cyclical Unemployment</a:t>
            </a:r>
          </a:p>
          <a:p>
            <a:pPr lvl="1" algn="just"/>
            <a:r>
              <a:rPr lang="en-SG" b="0" i="0" u="none" strike="noStrike" baseline="0" dirty="0">
                <a:latin typeface="AGaramond-Regular"/>
              </a:rPr>
              <a:t>Natural Unemployment</a:t>
            </a:r>
          </a:p>
          <a:p>
            <a:pPr algn="l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321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E8944-7667-4C31-585F-AF6EBD91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Frictional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688D-9C64-B035-EF62-DE9700FF9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768860" cy="3416300"/>
          </a:xfrm>
        </p:spPr>
        <p:txBody>
          <a:bodyPr>
            <a:normAutofit/>
          </a:bodyPr>
          <a:lstStyle/>
          <a:p>
            <a:pPr algn="just"/>
            <a:r>
              <a:rPr lang="en-US" sz="1800" b="0" i="0" u="none" strike="noStrike" baseline="0" dirty="0">
                <a:latin typeface="AGaramond-Regular"/>
              </a:rPr>
              <a:t>There is an unending flow of people into and out of the labor force as people move through the stages of life—from being in school to finding a job, to working, perhaps to becoming unhappy with a job and looking for a new one, and finally, to retiring from </a:t>
            </a:r>
            <a:r>
              <a:rPr lang="en-SG" sz="1800" b="0" i="0" u="none" strike="noStrike" baseline="0" dirty="0">
                <a:latin typeface="AGaramond-Regular"/>
              </a:rPr>
              <a:t>full-time work.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There is also an unending process of job creation and job destruction as new firms are born, firms expand or contract, and some firms fail and go out of </a:t>
            </a:r>
            <a:r>
              <a:rPr lang="en-SG" sz="1800" b="0" i="0" u="none" strike="noStrike" baseline="0" dirty="0">
                <a:latin typeface="AGaramond-Regular"/>
              </a:rPr>
              <a:t>business.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unemployment that arises from the normal labor turnover—from people entering and leaving the labor force and from the ongoing creation and destruction of jobs—is called </a:t>
            </a:r>
            <a:r>
              <a:rPr lang="en-US" sz="1800" b="1" i="0" u="none" strike="noStrike" baseline="0" dirty="0">
                <a:latin typeface="Futura-Heavy"/>
              </a:rPr>
              <a:t>frictional unemployment</a:t>
            </a:r>
            <a:r>
              <a:rPr lang="en-US" sz="1800" b="0" i="0" u="none" strike="noStrike" baseline="0" dirty="0">
                <a:latin typeface="AGaramond-Regular"/>
              </a:rPr>
              <a:t>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Frictional unemployment is a permanent and healthy phenomenon in a dynamic, </a:t>
            </a:r>
            <a:r>
              <a:rPr lang="en-SG" sz="1800" b="0" i="0" u="none" strike="noStrike" baseline="0" dirty="0">
                <a:latin typeface="AGaramond-Regular"/>
              </a:rPr>
              <a:t>growing economy.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75048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057D-3890-E8AF-EE4D-4B746F0D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148375" cy="706964"/>
          </a:xfrm>
        </p:spPr>
        <p:txBody>
          <a:bodyPr/>
          <a:lstStyle/>
          <a:p>
            <a:r>
              <a:rPr lang="en-SG" dirty="0"/>
              <a:t>Structural Unemployment and Cyclical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C3FCB-A577-C797-25F7-AF1D63BB8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13" y="2434975"/>
            <a:ext cx="10633753" cy="41404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i="1" dirty="0">
                <a:latin typeface="AGaramond-Regular"/>
              </a:rPr>
              <a:t>S</a:t>
            </a:r>
            <a:r>
              <a:rPr lang="en-US" sz="2000" b="1" i="1" u="none" strike="noStrike" baseline="0" dirty="0">
                <a:latin typeface="AGaramond-Regular"/>
              </a:rPr>
              <a:t>tructural unemployment </a:t>
            </a:r>
            <a:r>
              <a:rPr lang="en-SG" dirty="0">
                <a:latin typeface="AGaramond-Regular"/>
              </a:rPr>
              <a:t>: </a:t>
            </a:r>
            <a:r>
              <a:rPr lang="en-US" sz="1800" b="0" i="0" u="none" strike="noStrike" baseline="0" dirty="0">
                <a:latin typeface="AGaramond-Regular"/>
              </a:rPr>
              <a:t>The unemployment that arises when changes in technology or international competition change the skills needed to perform jobs or change the locations of jobs is called </a:t>
            </a:r>
            <a:r>
              <a:rPr lang="en-US" sz="1800" b="1" i="0" u="none" strike="noStrike" baseline="0" dirty="0">
                <a:latin typeface="AGaramond-Regular"/>
              </a:rPr>
              <a:t>structural unemployment</a:t>
            </a:r>
            <a:r>
              <a:rPr lang="en-US" sz="1800" b="0" i="0" u="none" strike="noStrike" baseline="0" dirty="0">
                <a:latin typeface="AGaramond-Regular"/>
              </a:rPr>
              <a:t>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Structural </a:t>
            </a:r>
            <a:r>
              <a:rPr lang="en-US" sz="1800" b="0" i="0" u="none" strike="noStrike" baseline="0" dirty="0">
                <a:latin typeface="AGaramond-Regular"/>
              </a:rPr>
              <a:t>unemployment usually lasts longer than frictional unemployment because workers must retrain and possibly relocate to find a job.</a:t>
            </a:r>
          </a:p>
          <a:p>
            <a:pPr marL="0" indent="0" algn="just">
              <a:buNone/>
            </a:pPr>
            <a:r>
              <a:rPr lang="en-US" sz="2000" b="1" i="1" dirty="0">
                <a:latin typeface="AGaramond-Regular"/>
              </a:rPr>
              <a:t>Cyclical Unemployment: </a:t>
            </a:r>
            <a:endParaRPr lang="en-US" sz="2000" b="1" i="1" u="none" strike="noStrike" baseline="0" dirty="0">
              <a:latin typeface="AGaramond-Regular"/>
            </a:endParaRP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higher than normal unemployment at a business cycle trough and the lower than normal unemployment at a business cycle peak is called </a:t>
            </a:r>
            <a:r>
              <a:rPr lang="en-US" sz="1800" b="1" i="0" u="none" strike="noStrike" baseline="0" dirty="0">
                <a:latin typeface="Futura-Heavy"/>
              </a:rPr>
              <a:t>cyclical unemployment</a:t>
            </a:r>
            <a:r>
              <a:rPr lang="en-US" sz="1800" b="0" i="0" u="none" strike="noStrike" baseline="0" dirty="0">
                <a:latin typeface="AGaramond-Regular"/>
              </a:rPr>
              <a:t>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A worker who is laid off because the economy is in a recession and who gets rehired some months later when the expansion begins has experienced </a:t>
            </a:r>
            <a:r>
              <a:rPr lang="en-SG" sz="1800" b="0" i="0" u="none" strike="noStrike" baseline="0" dirty="0">
                <a:latin typeface="AGaramond-Regular"/>
              </a:rPr>
              <a:t>cyclical unemployment.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1935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2ED9-D4A0-CAD5-D5E1-A3F9BBA4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Natural Unemployment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B177-4B46-5032-3834-1FD549A43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643" y="2603500"/>
            <a:ext cx="10335801" cy="3787026"/>
          </a:xfrm>
        </p:spPr>
        <p:txBody>
          <a:bodyPr>
            <a:normAutofit/>
          </a:bodyPr>
          <a:lstStyle/>
          <a:p>
            <a:pPr algn="just"/>
            <a:r>
              <a:rPr lang="en-US" sz="1800" b="1" i="1" u="none" strike="noStrike" baseline="0" dirty="0">
                <a:latin typeface="AGaramond-Regular"/>
              </a:rPr>
              <a:t>Natural unemployment is the unemployment that arises from frictions and structural change when there is no cyclical unemployment—when all the unemployment </a:t>
            </a:r>
            <a:r>
              <a:rPr lang="en-SG" sz="1800" b="1" i="1" u="none" strike="noStrike" baseline="0" dirty="0">
                <a:latin typeface="AGaramond-Regular"/>
              </a:rPr>
              <a:t>is frictional and structural.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Natural unemployment </a:t>
            </a:r>
            <a:r>
              <a:rPr lang="en-US" sz="1800" b="0" i="0" u="none" strike="noStrike" baseline="0" dirty="0">
                <a:latin typeface="AGaramond-Regular"/>
              </a:rPr>
              <a:t>as a percentage of the labor force is called </a:t>
            </a:r>
            <a:r>
              <a:rPr lang="en-SG" sz="1800" b="0" i="0" u="none" strike="noStrike" baseline="0" dirty="0">
                <a:latin typeface="AGaramond-Regular"/>
              </a:rPr>
              <a:t>the </a:t>
            </a:r>
            <a:r>
              <a:rPr lang="en-SG" sz="1800" b="1" i="0" u="none" strike="noStrike" baseline="0" dirty="0">
                <a:latin typeface="AGaramond-Regular"/>
              </a:rPr>
              <a:t>natural unemployment rate</a:t>
            </a:r>
            <a:r>
              <a:rPr lang="en-SG" sz="1800" b="0" i="0" u="none" strike="noStrike" baseline="0" dirty="0">
                <a:latin typeface="AGaramond-Regular"/>
              </a:rPr>
              <a:t>.</a:t>
            </a:r>
          </a:p>
          <a:p>
            <a:pPr algn="just"/>
            <a:r>
              <a:rPr lang="en-US" sz="2000" b="1" i="1" u="none" strike="noStrike" baseline="0" dirty="0">
                <a:latin typeface="AGaramond-Regular"/>
              </a:rPr>
              <a:t>Full employment </a:t>
            </a:r>
            <a:r>
              <a:rPr lang="en-US" sz="1800" b="0" i="0" u="none" strike="noStrike" baseline="0" dirty="0">
                <a:latin typeface="AGaramond-Regular"/>
              </a:rPr>
              <a:t>is defined as a situation in which the unemployment rate equals the natural unemployment </a:t>
            </a:r>
            <a:r>
              <a:rPr lang="en-SG" sz="1800" b="0" i="0" u="none" strike="noStrike" baseline="0" dirty="0">
                <a:latin typeface="AGaramond-Regular"/>
              </a:rPr>
              <a:t>rate.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The natural unemployment rate is influenced by many factors but the most important ones are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■ The age distribution of the population</a:t>
            </a:r>
          </a:p>
          <a:p>
            <a:pPr marL="400050" lvl="1" indent="0" algn="just">
              <a:buNone/>
            </a:pPr>
            <a:r>
              <a:rPr lang="en-US" b="0" i="0" u="none" strike="noStrike" baseline="0" dirty="0">
                <a:latin typeface="AGaramond-Regular"/>
              </a:rPr>
              <a:t>■ The scale of structural change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AGaramond-Regular"/>
              </a:rPr>
              <a:t>■ The real wage rate</a:t>
            </a:r>
          </a:p>
          <a:p>
            <a:pPr marL="400050" lvl="1" indent="0" algn="just">
              <a:buNone/>
            </a:pPr>
            <a:r>
              <a:rPr lang="en-SG" b="0" i="0" u="none" strike="noStrike" baseline="0" dirty="0">
                <a:latin typeface="AGaramond-Regular"/>
              </a:rPr>
              <a:t>■ Unemployment benefits</a:t>
            </a:r>
            <a:endParaRPr lang="en-SG" dirty="0">
              <a:latin typeface="AGaramond-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14619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3C1E8-6C36-2FB9-7EE4-73867812D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063" y="506187"/>
            <a:ext cx="7222733" cy="1534884"/>
          </a:xfrm>
        </p:spPr>
        <p:txBody>
          <a:bodyPr/>
          <a:lstStyle/>
          <a:p>
            <a:r>
              <a:rPr lang="en-SG" dirty="0">
                <a:latin typeface="+mn-lt"/>
              </a:rPr>
              <a:t>Real GDP and Unemployment Over the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31EF-4F1A-A662-A5F9-02B7CE68C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2129" y="2342508"/>
            <a:ext cx="6825341" cy="413993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1800" b="1" i="1" u="none" strike="noStrike" baseline="0" dirty="0">
                <a:latin typeface="AGaramond-Regular"/>
              </a:rPr>
              <a:t>The quantity of real GDP at full employment is </a:t>
            </a:r>
            <a:r>
              <a:rPr lang="en-SG" sz="1800" b="1" i="1" u="none" strike="noStrike" baseline="0" dirty="0">
                <a:latin typeface="AGaramond-Regular"/>
              </a:rPr>
              <a:t>potential GDP. 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Over the business cycle, real GDP fluctuates around potential GDP.</a:t>
            </a:r>
          </a:p>
          <a:p>
            <a:pPr algn="just"/>
            <a:r>
              <a:rPr lang="en-SG" sz="1800" b="0" i="0" u="none" strike="noStrike" baseline="0" dirty="0">
                <a:latin typeface="AGaramond-Regular"/>
              </a:rPr>
              <a:t>The gap </a:t>
            </a:r>
            <a:r>
              <a:rPr lang="en-US" sz="1800" b="0" i="0" u="none" strike="noStrike" baseline="0" dirty="0">
                <a:latin typeface="AGaramond-Regular"/>
              </a:rPr>
              <a:t>between real GDP and potential GDP is called the </a:t>
            </a:r>
            <a:r>
              <a:rPr lang="en-SG" sz="1800" b="1" i="0" u="none" strike="noStrike" baseline="0" dirty="0">
                <a:latin typeface="AGaramond-Regular"/>
              </a:rPr>
              <a:t>output gap</a:t>
            </a:r>
            <a:r>
              <a:rPr lang="en-SG" sz="1800" b="0" i="0" u="none" strike="noStrike" baseline="0" dirty="0">
                <a:latin typeface="AGaramond-Regular"/>
              </a:rPr>
              <a:t>.</a:t>
            </a:r>
          </a:p>
          <a:p>
            <a:pPr algn="just"/>
            <a:r>
              <a:rPr lang="en-US" sz="1800" b="0" i="0" u="none" strike="noStrike" baseline="0" dirty="0">
                <a:latin typeface="AGaramond-Regular"/>
              </a:rPr>
              <a:t>As the output gap fluctuates over the business cycle, the unemployment rate fluctuates around </a:t>
            </a:r>
            <a:r>
              <a:rPr lang="en-SG" sz="1800" b="0" i="0" u="none" strike="noStrike" baseline="0" dirty="0">
                <a:latin typeface="AGaramond-Regular"/>
              </a:rPr>
              <a:t>the natural unemployment rate.</a:t>
            </a:r>
          </a:p>
          <a:p>
            <a:pPr marL="0" indent="0" algn="just">
              <a:buNone/>
            </a:pPr>
            <a:r>
              <a:rPr lang="en-US" sz="1800" b="1" i="1" u="none" strike="noStrike" baseline="0" dirty="0">
                <a:latin typeface="AGaramond-Regular"/>
              </a:rPr>
              <a:t>When the economy is at full employment, the unemployment rate equals the natural unemployment rate and real GDP equals potential GDP so the output gap is zero.</a:t>
            </a:r>
          </a:p>
          <a:p>
            <a:pPr algn="just"/>
            <a:r>
              <a:rPr lang="en-SG" sz="1800" b="0" i="1" u="none" strike="noStrike" baseline="0" dirty="0">
                <a:latin typeface="AGaramond-Regular"/>
              </a:rPr>
              <a:t>When the unemployment </a:t>
            </a:r>
            <a:r>
              <a:rPr lang="en-US" sz="1800" b="0" i="1" u="none" strike="noStrike" baseline="0" dirty="0">
                <a:latin typeface="AGaramond-Regular"/>
              </a:rPr>
              <a:t>rate is less than the natural unemployment rate, real GDP is greater than potential GDP and the </a:t>
            </a:r>
            <a:r>
              <a:rPr lang="en-SG" sz="1800" b="0" i="1" u="none" strike="noStrike" baseline="0" dirty="0">
                <a:latin typeface="AGaramond-Regular"/>
              </a:rPr>
              <a:t>output gap is positive.</a:t>
            </a:r>
          </a:p>
          <a:p>
            <a:pPr algn="just"/>
            <a:r>
              <a:rPr lang="en-SG" sz="1800" b="0" i="1" u="none" strike="noStrike" baseline="0" dirty="0">
                <a:latin typeface="AGaramond-Regular"/>
              </a:rPr>
              <a:t>And when the unemployment </a:t>
            </a:r>
            <a:r>
              <a:rPr lang="en-US" sz="1800" b="0" i="1" u="none" strike="noStrike" baseline="0" dirty="0">
                <a:latin typeface="AGaramond-Regular"/>
              </a:rPr>
              <a:t>rate is greater than the natural unemployment rate, real GDP is less than potential GDP and the </a:t>
            </a:r>
            <a:r>
              <a:rPr lang="en-SG" sz="1800" b="0" i="1" u="none" strike="noStrike" baseline="0" dirty="0">
                <a:latin typeface="AGaramond-Regular"/>
              </a:rPr>
              <a:t>output gap is negative.</a:t>
            </a:r>
            <a:endParaRPr lang="en-SG" i="1" dirty="0">
              <a:latin typeface="AGaramond-Regular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AD6B19-B206-74E0-11EB-5685AC69DA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470" y="375557"/>
            <a:ext cx="4327073" cy="5812971"/>
          </a:xfrm>
        </p:spPr>
      </p:pic>
    </p:spTree>
    <p:extLst>
      <p:ext uri="{BB962C8B-B14F-4D97-AF65-F5344CB8AC3E}">
        <p14:creationId xmlns:p14="http://schemas.microsoft.com/office/powerpoint/2010/main" val="3206698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226</TotalTime>
  <Words>1072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AGaramond-Italic</vt:lpstr>
      <vt:lpstr>AGaramond-Regular</vt:lpstr>
      <vt:lpstr>Arial</vt:lpstr>
      <vt:lpstr>Century Gothic</vt:lpstr>
      <vt:lpstr>Futura-Heavy</vt:lpstr>
      <vt:lpstr>Wingdings</vt:lpstr>
      <vt:lpstr>Wingdings 3</vt:lpstr>
      <vt:lpstr>ZapfDingbats</vt:lpstr>
      <vt:lpstr>Ion Boardroom</vt:lpstr>
      <vt:lpstr>ECO102: Introduction to Macroeconomics</vt:lpstr>
      <vt:lpstr>Population Labor Force Categories</vt:lpstr>
      <vt:lpstr>Unemployment</vt:lpstr>
      <vt:lpstr>Labor Market Indicators</vt:lpstr>
      <vt:lpstr>Labor Market Indicators (Contd.)</vt:lpstr>
      <vt:lpstr>Different Types of Unemployment</vt:lpstr>
      <vt:lpstr>Frictional Unemployment</vt:lpstr>
      <vt:lpstr>Structural Unemployment and Cyclical Unemployment</vt:lpstr>
      <vt:lpstr>Natural Unemployment </vt:lpstr>
      <vt:lpstr>Real GDP and Unemployment Over the 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Addrita Shams</dc:creator>
  <cp:lastModifiedBy>Addrita Shams</cp:lastModifiedBy>
  <cp:revision>19</cp:revision>
  <dcterms:created xsi:type="dcterms:W3CDTF">2024-01-26T11:50:18Z</dcterms:created>
  <dcterms:modified xsi:type="dcterms:W3CDTF">2024-11-04T00:10:38Z</dcterms:modified>
</cp:coreProperties>
</file>