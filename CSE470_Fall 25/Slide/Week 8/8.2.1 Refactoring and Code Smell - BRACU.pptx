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</p:sldIdLst>
  <p:sldSz cx="10160000" cy="7874000"/>
  <p:notesSz cx="6858000" cy="9144000"/>
  <p:embeddedFontLst>
    <p:embeddedFont>
      <p:font typeface="Calibri" panose="020F0502020204030204"/>
      <p:regular r:id="rId72"/>
    </p:embeddedFont>
    <p:embeddedFont>
      <p:font typeface="Helvetica Neue" panose="020B0403020202020204"/>
      <p:regular r:id="rId73"/>
      <p:bold r:id="rId74"/>
      <p:italic r:id="rId75"/>
    </p:embeddedFont>
    <p:embeddedFont>
      <p:font typeface="Verdana" panose="020B0604030504040204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4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font" Target="fonts/font8.fntdata"/><Relationship Id="rId78" Type="http://schemas.openxmlformats.org/officeDocument/2006/relationships/font" Target="fonts/font7.fntdata"/><Relationship Id="rId77" Type="http://schemas.openxmlformats.org/officeDocument/2006/relationships/font" Target="fonts/font6.fntdata"/><Relationship Id="rId76" Type="http://schemas.openxmlformats.org/officeDocument/2006/relationships/font" Target="fonts/font5.fntdata"/><Relationship Id="rId75" Type="http://schemas.openxmlformats.org/officeDocument/2006/relationships/font" Target="fonts/font4.fntdata"/><Relationship Id="rId74" Type="http://schemas.openxmlformats.org/officeDocument/2006/relationships/font" Target="fonts/font3.fntdata"/><Relationship Id="rId73" Type="http://schemas.openxmlformats.org/officeDocument/2006/relationships/font" Target="fonts/font2.fntdata"/><Relationship Id="rId72" Type="http://schemas.openxmlformats.org/officeDocument/2006/relationships/font" Target="fonts/font1.fntdata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0" name="Google Shape;100;p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9" name="Google Shape;149;p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1" name="Google Shape;171;p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6" name="Google Shape;196;p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32" name="Google Shape;232;p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82" name="Google Shape;282;p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98" name="Google Shape;298;p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18" name="Google Shape;318;p1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33" name="Google Shape;333;p1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54" name="Google Shape;354;p1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90" name="Google Shape;390;p1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15" name="Google Shape;415;p1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39" name="Google Shape;439;p1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56" name="Google Shape;456;p1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74" name="Google Shape;474;p1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91" name="Google Shape;491;p1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09" name="Google Shape;509;p1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34" name="Google Shape;534;p2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50" name="Google Shape;550;p2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66" name="Google Shape;566;p2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90" name="Google Shape;590;p2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17" name="Google Shape;617;p2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33" name="Google Shape;633;p2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50" name="Google Shape;650;p2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70" name="Google Shape;670;p2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91" name="Google Shape;691;p2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13" name="Google Shape;713;p2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30" name="Google Shape;730;p3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48" name="Google Shape;748;p3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65" name="Google Shape;765;p3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84" name="Google Shape;784;p3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07" name="Google Shape;807;p3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23" name="Google Shape;823;p3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46" name="Google Shape;846;p3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1" name="Google Shape;861;p3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82" name="Google Shape;882;p3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11" name="Google Shape;911;p3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27" name="Google Shape;927;p4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43" name="Google Shape;943;p4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59" name="Google Shape;959;p4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74" name="Google Shape;974;p4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2" name="Google Shape;992;p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93" name="Google Shape;993;p44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16" name="Google Shape;1016;p4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31" name="Google Shape;1031;p4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" name="Google Shape;1048;p4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65" name="Google Shape;1065;p4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9" name="Google Shape;1089;p4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05" name="Google Shape;1105;p5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21" name="Google Shape;1121;p5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35" name="Google Shape;1135;p5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48" name="Google Shape;1148;p5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63" name="Google Shape;1163;p5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81" name="Google Shape;1181;p5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96" name="Google Shape;1196;p56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11" name="Google Shape;1211;p57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26" name="Google Shape;1226;p58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43" name="Google Shape;1243;p59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60" name="Google Shape;1260;p60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77" name="Google Shape;1277;p61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96" name="Google Shape;1296;p62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18" name="Google Shape;1318;p63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37" name="Google Shape;1337;p64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55" name="Google Shape;1355;p65:notes"/>
          <p:cNvSpPr/>
          <p:nvPr>
            <p:ph type="sldImg" idx="2"/>
          </p:nvPr>
        </p:nvSpPr>
        <p:spPr>
          <a:xfrm>
            <a:off x="1216025" y="685800"/>
            <a:ext cx="4425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type="subTitle" idx="1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type="body" idx="1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 panose="020F0502020204030204"/>
              <a:buNone/>
              <a:defRPr sz="4445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type="body" idx="1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5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5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5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5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5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type="body" idx="1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type="body" idx="2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i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type="body" idx="1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sz="3040" b="1"/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9pPr>
          </a:lstStyle>
          <a:p/>
        </p:txBody>
      </p:sp>
      <p:sp>
        <p:nvSpPr>
          <p:cNvPr id="43" name="Google Shape;43;p71"/>
          <p:cNvSpPr txBox="1"/>
          <p:nvPr>
            <p:ph type="body" idx="2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sz="3040" b="1"/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9pPr>
          </a:lstStyle>
          <a:p/>
        </p:txBody>
      </p:sp>
      <p:sp>
        <p:nvSpPr>
          <p:cNvPr id="44" name="Google Shape;44;p71"/>
          <p:cNvSpPr txBox="1"/>
          <p:nvPr>
            <p:ph type="body" idx="3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2164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4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type="body" idx="4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2164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4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 panose="020F0502020204030204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type="body" idx="1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212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marL="914400" lvl="1" indent="-42164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40"/>
            </a:lvl2pPr>
            <a:lvl3pPr marL="1371600" lvl="2" indent="-39624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40"/>
            </a:lvl3pPr>
            <a:lvl4pPr marL="1828800" lvl="3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type="body" idx="2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20"/>
            </a:lvl1pPr>
            <a:lvl2pPr marL="914400" lvl="1" indent="-228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marL="1371600" lvl="2" indent="-228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5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 panose="020F0502020204030204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type="pic" idx="2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type="body" idx="1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20"/>
            </a:lvl1pPr>
            <a:lvl2pPr marL="914400" lvl="1" indent="-228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marL="1371600" lvl="2" indent="-228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5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type="body" idx="1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type="body" idx="1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type="body" idx="1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type="dt" idx="10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type="ftr" idx="11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type="sldNum" idx="12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hyperlink" Target="https://colab.research.google.com/drive/1mDlmASeBU9lKodWUyvvmaAAQcO2Jcs-T?usp=drive_link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thectoclub.com/tools/best-code-analysis-tools/" TargetMode="Externa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hyperlink" Target="https://www.techtarget.com/whatis/definition/technical-debt" TargetMode="Externa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w3schools.com/python/ref_keyword_assert.asp" TargetMode="External"/><Relationship Id="rId3" Type="http://schemas.openxmlformats.org/officeDocument/2006/relationships/image" Target="../media/image4.jpe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w="38100" cap="flat" cmpd="sng">
            <a:solidFill>
              <a:srgbClr val="FF1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1"/>
          <p:cNvSpPr/>
          <p:nvPr/>
        </p:nvSpPr>
        <p:spPr>
          <a:xfrm>
            <a:off x="-16275" y="4"/>
            <a:ext cx="10160100" cy="44412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21590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 panose="020B0604020202020204"/>
              <a:buNone/>
            </a:pPr>
            <a:endParaRPr sz="773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75" y="5161116"/>
            <a:ext cx="9616500" cy="15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406400" algn="r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CSE 470 – </a:t>
            </a:r>
            <a:r>
              <a:rPr lang="en-US" sz="4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Refactoring Code Smells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406400" algn="r" rtl="0">
              <a:lnSpc>
                <a:spcPct val="82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BRAC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82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Python Example Sheet: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b="1" i="0" u="sng" strike="noStrike" cap="none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Code Smells (SHRR Version).ipynb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406400" algn="l" rtl="0">
              <a:lnSpc>
                <a:spcPct val="106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 panose="020B0604020202020204"/>
              <a:buNone/>
            </a:pPr>
            <a:endParaRPr sz="3395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9400" y="515900"/>
            <a:ext cx="10101374" cy="39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74800" y="151825"/>
            <a:ext cx="10077287" cy="7277100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43000" y="2191250"/>
              <a:ext cx="9451500" cy="53427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457200" marR="0" lvl="0" indent="-4191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 panose="020F0502020204030204"/>
                <a:buChar char="❏"/>
              </a:pPr>
              <a:r>
                <a:rPr lang="en-US" sz="3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 series of </a:t>
              </a:r>
              <a:r>
                <a:rPr lang="en-US" sz="30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small steps</a:t>
              </a:r>
              <a:r>
                <a:rPr lang="en-US" sz="3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, each of which changes the program’s  </a:t>
              </a:r>
              <a:r>
                <a:rPr lang="en-US" sz="30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internal structure</a:t>
              </a:r>
              <a:r>
                <a:rPr lang="en-US" sz="3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without changing its </a:t>
              </a:r>
              <a:r>
                <a:rPr lang="en-US" sz="30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external  behavior</a:t>
              </a:r>
              <a:r>
                <a:rPr lang="en-US" sz="3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- Martin Fowler</a:t>
              </a:r>
              <a:endPara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 panose="020B0604020202020204"/>
                <a:buNone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Verify no change in external behavior by -</a:t>
              </a:r>
              <a:endParaRPr sz="2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412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 panose="020F0502020204030204"/>
                <a:buChar char="●"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Testing</a:t>
              </a:r>
              <a:endParaRPr sz="2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412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 panose="020F0502020204030204"/>
                <a:buChar char="●"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Using the right tool - IDE</a:t>
              </a:r>
              <a:endParaRPr sz="2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412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 panose="020F0502020204030204"/>
                <a:buChar char="●"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Formal code analysis by </a:t>
              </a:r>
              <a:r>
                <a:rPr lang="en-US" sz="2900" b="0" i="0" u="sng" strike="noStrike" cap="none">
                  <a:solidFill>
                    <a:schemeClr val="hlink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  <a:hlinkClick r:id="rId3"/>
                </a:rPr>
                <a:t>any tool</a:t>
              </a: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or team</a:t>
              </a:r>
              <a:endParaRPr sz="2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412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 panose="020F0502020204030204"/>
                <a:buChar char="●"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Being very, very careful</a:t>
              </a:r>
              <a:endParaRPr sz="2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700560" y="643100"/>
            <a:ext cx="5742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is Refactoring?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w="127000" cap="flat" cmpd="sng">
              <a:solidFill>
                <a:srgbClr val="FF221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3"/>
            <p:cNvCxnSpPr/>
            <p:nvPr/>
          </p:nvCxnSpPr>
          <p:spPr>
            <a:xfrm rot="10800000" flipH="1">
              <a:off x="5885271" y="3174884"/>
              <a:ext cx="904057" cy="825499"/>
            </a:xfrm>
            <a:prstGeom prst="straightConnector1">
              <a:avLst/>
            </a:prstGeom>
            <a:noFill/>
            <a:ln w="127000" cap="flat" cmpd="sng">
              <a:solidFill>
                <a:srgbClr val="FF000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w="127000" cap="flat" cmpd="sng">
              <a:solidFill>
                <a:srgbClr val="FF221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3"/>
            <p:cNvCxnSpPr/>
            <p:nvPr/>
          </p:nvCxnSpPr>
          <p:spPr>
            <a:xfrm rot="10800000" flipH="1">
              <a:off x="1135470" y="5575184"/>
              <a:ext cx="904058" cy="825499"/>
            </a:xfrm>
            <a:prstGeom prst="straightConnector1">
              <a:avLst/>
            </a:prstGeom>
            <a:noFill/>
            <a:ln w="127000" cap="flat" cmpd="sng">
              <a:solidFill>
                <a:srgbClr val="FF000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if you hear...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We’ll just refactor the code to support logging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9800" y="3576950"/>
            <a:ext cx="86754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 you refactor the code so that it authenticates against LDAP instead of Database?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9800" y="3898900"/>
            <a:ext cx="1309044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39800" y="4441050"/>
            <a:ext cx="9001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 have too much duplicate code, we need to refactor the code to eliminate duplication </a:t>
            </a: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class is too big, we need to refactor it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Caching?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w="127000" cap="flat" cmpd="sng">
              <a:solidFill>
                <a:srgbClr val="FF221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3"/>
            <p:cNvCxnSpPr/>
            <p:nvPr/>
          </p:nvCxnSpPr>
          <p:spPr>
            <a:xfrm rot="10800000" flipH="1">
              <a:off x="5885271" y="3174884"/>
              <a:ext cx="904057" cy="825499"/>
            </a:xfrm>
            <a:prstGeom prst="straightConnector1">
              <a:avLst/>
            </a:prstGeom>
            <a:noFill/>
            <a:ln w="127000" cap="flat" cmpd="sng">
              <a:solidFill>
                <a:srgbClr val="FF000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46" name="Google Shape;146;p3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Why do we Refactor?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Helps us deliver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more business value faster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Improves the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design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of our software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Minimizes </a:t>
              </a:r>
              <a:r>
                <a:rPr lang="en-US" sz="2500" b="1" i="0" u="sng" strike="noStrike" cap="none">
                  <a:solidFill>
                    <a:schemeClr val="hlink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  <a:hlinkClick r:id="rId3"/>
                </a:rPr>
                <a:t>technical debt</a:t>
              </a:r>
              <a:endParaRPr sz="25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Keep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development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at </a:t>
              </a:r>
              <a:r>
                <a:rPr lang="en-US" sz="1905" b="0" i="1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speed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To make the software easier to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understand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5240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Write for people, not the compiler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52400" algn="l" rtl="0">
                <a:lnSpc>
                  <a:spcPct val="83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To help find 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bugs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5240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endParaRPr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endParaRPr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1841500" algn="l" rtl="0">
                <a:lnSpc>
                  <a:spcPct val="97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70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68" name="Google Shape;168;p4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45725" y="0"/>
            <a:ext cx="10096891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Readability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Which code segment is easier to read?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 panose="020B0604020202020204"/>
                <a:buNone/>
              </a:pP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Sample 1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if (date.Before(Summer_Start) || date.After(Summer_End)){</a:t>
              </a:r>
              <a:endParaRPr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charge = quantity * winterRate + winterServiceCharge;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else</a:t>
              </a:r>
              <a:r>
                <a:rPr lang="en-US" sz="2075" b="0" i="0" u="none" strike="noStrike" cap="none" baseline="-2500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	charge = quantity * summerRate;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 panose="020B0604020202020204"/>
                <a:buNone/>
              </a:pP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Sample 2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if (IsSummer(date)) { </a:t>
              </a:r>
              <a:endParaRPr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charge = SummerCharge(quantity);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890" y="6017806"/>
              <a:ext cx="44775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else</a:t>
              </a:r>
              <a:endParaRPr sz="205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72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92" name="Google Shape;192;p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101300" y="5780775"/>
            <a:ext cx="3470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3000" b="0" i="0" u="none" strike="noStrike" cap="none" baseline="-25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charge = WinterCharge(quantity); </a:t>
            </a:r>
            <a:endParaRPr sz="30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0" name="Google Shape;200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03" name="Google Shape;203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When should you refactor?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To add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new functionality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refactor existing code until you understand it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 panose="020B0604020202020204"/>
                <a:buNone/>
              </a:pPr>
              <a:r>
                <a:rPr lang="en-US" sz="3600" b="0" i="0" u="none" strike="noStrike" cap="none">
                  <a:solidFill>
                    <a:srgbClr val="FFFAF4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Like championship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refactor the design to make it simple to add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 panose="020B0604020202020204"/>
                <a:buNone/>
              </a:pPr>
              <a:r>
                <a:rPr lang="en-US" sz="3600" b="0" i="0" u="none" strike="noStrike" cap="none">
                  <a:solidFill>
                    <a:srgbClr val="FFFAF4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snooker players we are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To find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bugs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 panose="020B0604020202020204"/>
                <a:buNone/>
              </a:pPr>
              <a:r>
                <a:rPr lang="en-US" sz="3600" b="0" i="0" u="none" strike="noStrike" cap="none">
                  <a:solidFill>
                    <a:srgbClr val="FFFAF4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setting ourselves up for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refactor to understand the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 panose="020B0604020202020204"/>
                <a:buNone/>
              </a:pPr>
              <a:r>
                <a:rPr lang="en-US" sz="3600" b="0" i="0" u="none" strike="noStrike" cap="none">
                  <a:solidFill>
                    <a:srgbClr val="FFFAF4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our next shot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For </a:t>
              </a:r>
              <a:r>
                <a:rPr lang="en-US" sz="2505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code reviews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immediate effect of code review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allows for higher level suggestions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73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229" name="Google Shape;229;p6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6" name="Google Shape;236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7" name="Google Shape;237;p7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39" name="Google Shape;239;p7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43" name="Google Shape;243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1354670" y="2883119"/>
              <a:ext cx="1232476" cy="924186"/>
            </a:xfrm>
            <a:custGeom>
              <a:avLst/>
              <a:gdLst/>
              <a:ahLst/>
              <a:cxnLst/>
              <a:rect l="l" t="t" r="r" b="b"/>
              <a:pathLst>
                <a:path w="1232475" h="924185" extrusionOk="0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94478" y="3424238"/>
              <a:ext cx="1018919" cy="363864"/>
            </a:xfrm>
            <a:custGeom>
              <a:avLst/>
              <a:gdLst/>
              <a:ahLst/>
              <a:cxnLst/>
              <a:rect l="l" t="t" r="r" b="b"/>
              <a:pathLst>
                <a:path w="1018918" h="363863" extrusionOk="0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w="12700" cap="flat" cmpd="sng">
              <a:solidFill>
                <a:srgbClr val="CEB0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460544" y="3461166"/>
              <a:ext cx="619858" cy="279175"/>
            </a:xfrm>
            <a:custGeom>
              <a:avLst/>
              <a:gdLst/>
              <a:ahLst/>
              <a:cxnLst/>
              <a:rect l="l" t="t" r="r" b="b"/>
              <a:pathLst>
                <a:path w="619857" h="279175" extrusionOk="0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w="12700" cap="flat" cmpd="sng">
              <a:solidFill>
                <a:srgbClr val="CEB0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715726" y="3695043"/>
              <a:ext cx="68772" cy="20188"/>
            </a:xfrm>
            <a:custGeom>
              <a:avLst/>
              <a:gdLst/>
              <a:ahLst/>
              <a:cxnLst/>
              <a:rect l="l" t="t" r="r" b="b"/>
              <a:pathLst>
                <a:path w="68771" h="20187" extrusionOk="0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71839" y="3657131"/>
              <a:ext cx="280067" cy="38405"/>
            </a:xfrm>
            <a:custGeom>
              <a:avLst/>
              <a:gdLst/>
              <a:ahLst/>
              <a:cxnLst/>
              <a:rect l="l" t="t" r="r" b="b"/>
              <a:pathLst>
                <a:path w="280066" h="38404" extrusionOk="0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376841" y="3389279"/>
              <a:ext cx="95467" cy="257512"/>
            </a:xfrm>
            <a:custGeom>
              <a:avLst/>
              <a:gdLst/>
              <a:ahLst/>
              <a:cxnLst/>
              <a:rect l="l" t="t" r="r" b="b"/>
              <a:pathLst>
                <a:path w="95467" h="257511" extrusionOk="0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w="12700" cap="flat" cmpd="sng">
              <a:solidFill>
                <a:srgbClr val="CEB0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946476" y="3343489"/>
              <a:ext cx="301784" cy="257019"/>
            </a:xfrm>
            <a:custGeom>
              <a:avLst/>
              <a:gdLst/>
              <a:ahLst/>
              <a:cxnLst/>
              <a:rect l="l" t="t" r="r" b="b"/>
              <a:pathLst>
                <a:path w="301783" h="257018" extrusionOk="0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2286718" y="3312962"/>
              <a:ext cx="41174" cy="183655"/>
            </a:xfrm>
            <a:custGeom>
              <a:avLst/>
              <a:gdLst/>
              <a:ahLst/>
              <a:cxnLst/>
              <a:rect l="l" t="t" r="r" b="b"/>
              <a:pathLst>
                <a:path w="41173" h="183654" extrusionOk="0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911184" y="3396665"/>
              <a:ext cx="25790" cy="4924"/>
            </a:xfrm>
            <a:custGeom>
              <a:avLst/>
              <a:gdLst/>
              <a:ahLst/>
              <a:cxnLst/>
              <a:rect l="l" t="t" r="r" b="b"/>
              <a:pathLst>
                <a:path w="25789" h="4923" extrusionOk="0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618449" y="2922017"/>
              <a:ext cx="643837" cy="443629"/>
            </a:xfrm>
            <a:custGeom>
              <a:avLst/>
              <a:gdLst/>
              <a:ahLst/>
              <a:cxnLst/>
              <a:rect l="l" t="t" r="r" b="b"/>
              <a:pathLst>
                <a:path w="643836" h="443628" extrusionOk="0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w="12700" cap="flat" cmpd="sng">
              <a:solidFill>
                <a:srgbClr val="CEB0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675664" y="2871937"/>
              <a:ext cx="1150484" cy="880467"/>
            </a:xfrm>
            <a:custGeom>
              <a:avLst/>
              <a:gdLst/>
              <a:ahLst/>
              <a:cxnLst/>
              <a:rect l="l" t="t" r="r" b="b"/>
              <a:pathLst>
                <a:path w="1150484" h="880466" extrusionOk="0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757141" y="3443778"/>
              <a:ext cx="1035733" cy="290937"/>
            </a:xfrm>
            <a:custGeom>
              <a:avLst/>
              <a:gdLst/>
              <a:ahLst/>
              <a:cxnLst/>
              <a:rect l="l" t="t" r="r" b="b"/>
              <a:pathLst>
                <a:path w="1035733" h="290936" extrusionOk="0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w="12700" cap="flat" cmpd="sng">
              <a:solidFill>
                <a:srgbClr val="003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6821554" y="3257652"/>
              <a:ext cx="899229" cy="248961"/>
            </a:xfrm>
            <a:custGeom>
              <a:avLst/>
              <a:gdLst/>
              <a:ahLst/>
              <a:cxnLst/>
              <a:rect l="l" t="t" r="r" b="b"/>
              <a:pathLst>
                <a:path w="899228" h="248960" extrusionOk="0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w="12700" cap="flat" cmpd="sng">
              <a:solidFill>
                <a:srgbClr val="003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488723" y="3504237"/>
              <a:ext cx="215850" cy="53330"/>
            </a:xfrm>
            <a:custGeom>
              <a:avLst/>
              <a:gdLst/>
              <a:ahLst/>
              <a:cxnLst/>
              <a:rect l="l" t="t" r="r" b="b"/>
              <a:pathLst>
                <a:path w="215849" h="53329" extrusionOk="0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w="12700" cap="flat" cmpd="sng">
              <a:solidFill>
                <a:srgbClr val="D90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6788" y="3668977"/>
              <a:ext cx="95127" cy="70491"/>
            </a:xfrm>
            <a:custGeom>
              <a:avLst/>
              <a:gdLst/>
              <a:ahLst/>
              <a:cxnLst/>
              <a:rect l="l" t="t" r="r" b="b"/>
              <a:pathLst>
                <a:path w="95126" h="70490" extrusionOk="0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7568068" y="3653929"/>
              <a:ext cx="22608" cy="9769"/>
            </a:xfrm>
            <a:custGeom>
              <a:avLst/>
              <a:gdLst/>
              <a:ahLst/>
              <a:cxnLst/>
              <a:rect l="l" t="t" r="r" b="b"/>
              <a:pathLst>
                <a:path w="22608" h="9768" extrusionOk="0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735813" y="3435330"/>
              <a:ext cx="771680" cy="217016"/>
            </a:xfrm>
            <a:custGeom>
              <a:avLst/>
              <a:gdLst/>
              <a:ahLst/>
              <a:cxnLst/>
              <a:rect l="l" t="t" r="r" b="b"/>
              <a:pathLst>
                <a:path w="771679" h="217015" extrusionOk="0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w="12700" cap="flat" cmpd="sng">
              <a:solidFill>
                <a:srgbClr val="D90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64639" y="3215939"/>
              <a:ext cx="640295" cy="195103"/>
            </a:xfrm>
            <a:custGeom>
              <a:avLst/>
              <a:gdLst/>
              <a:ahLst/>
              <a:cxnLst/>
              <a:rect l="l" t="t" r="r" b="b"/>
              <a:pathLst>
                <a:path w="640294" h="195102" extrusionOk="0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w="12700" cap="flat" cmpd="sng">
              <a:solidFill>
                <a:srgbClr val="D90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850136" y="3118784"/>
              <a:ext cx="603182" cy="231535"/>
            </a:xfrm>
            <a:custGeom>
              <a:avLst/>
              <a:gdLst/>
              <a:ahLst/>
              <a:cxnLst/>
              <a:rect l="l" t="t" r="r" b="b"/>
              <a:pathLst>
                <a:path w="603182" h="231534" extrusionOk="0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w="12700" cap="flat" cmpd="sng">
              <a:solidFill>
                <a:srgbClr val="003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7281833" y="3644689"/>
              <a:ext cx="150582" cy="64418"/>
            </a:xfrm>
            <a:custGeom>
              <a:avLst/>
              <a:gdLst/>
              <a:ahLst/>
              <a:cxnLst/>
              <a:rect l="l" t="t" r="r" b="b"/>
              <a:pathLst>
                <a:path w="150582" h="64418" extrusionOk="0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77864" y="3045654"/>
              <a:ext cx="424445" cy="157349"/>
            </a:xfrm>
            <a:custGeom>
              <a:avLst/>
              <a:gdLst/>
              <a:ahLst/>
              <a:cxnLst/>
              <a:rect l="l" t="t" r="r" b="b"/>
              <a:pathLst>
                <a:path w="424445" h="157349" extrusionOk="0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w="12700" cap="flat" cmpd="sng">
              <a:solidFill>
                <a:srgbClr val="003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859946" y="3127761"/>
              <a:ext cx="373684" cy="158668"/>
            </a:xfrm>
            <a:custGeom>
              <a:avLst/>
              <a:gdLst/>
              <a:ahLst/>
              <a:cxnLst/>
              <a:rect l="l" t="t" r="r" b="b"/>
              <a:pathLst>
                <a:path w="373683" h="158668" extrusionOk="0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w="12700" cap="flat" cmpd="sng">
              <a:solidFill>
                <a:srgbClr val="D90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18749" y="2906259"/>
              <a:ext cx="308844" cy="246583"/>
            </a:xfrm>
            <a:custGeom>
              <a:avLst/>
              <a:gdLst/>
              <a:ahLst/>
              <a:cxnLst/>
              <a:rect l="l" t="t" r="r" b="b"/>
              <a:pathLst>
                <a:path w="308843" h="246583" extrusionOk="0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w="12700" cap="flat" cmpd="sng">
              <a:solidFill>
                <a:srgbClr val="D900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2399" y="3095288"/>
              <a:ext cx="57589" cy="22441"/>
            </a:xfrm>
            <a:custGeom>
              <a:avLst/>
              <a:gdLst/>
              <a:ahLst/>
              <a:cxnLst/>
              <a:rect l="l" t="t" r="r" b="b"/>
              <a:pathLst>
                <a:path w="57589" h="22440" extrusionOk="0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The Two Hats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Adding Function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Refactoring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Does not add any new features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Does not add tests (but may change some)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Restructure the code to remove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redundancy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Add new capabilities to the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system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Adds new tests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 panose="020B0604020202020204"/>
                <a:buNone/>
              </a:pPr>
              <a:r>
                <a:rPr lang="en-US" sz="1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Get the test working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74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279" name="Google Shape;279;p7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6" name="Google Shape;286;p8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How do we Refactor?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 look for </a:t>
            </a:r>
            <a:r>
              <a:rPr lang="en-US" sz="4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Code-Smells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Things that we suspect are not quite right or will cause us severe pain if we  do not fix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841500" algn="l" rtl="0">
              <a:lnSpc>
                <a:spcPct val="97000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77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295" name="Google Shape;295;p8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p9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 Piece of Advice before Refactoring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The Hippocratic Oath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5240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rgbClr val="A7184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First Do No Harm!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Baby Steps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78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315" name="Google Shape;315;p9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2" name="Google Shape;322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3" name="Google Shape;323;p1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Code Smells?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728350" y="2888725"/>
              <a:ext cx="9112800" cy="41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 panose="020B0604020202020204"/>
                <a:buNone/>
              </a:pPr>
              <a:r>
                <a:rPr lang="en-US" sz="24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Code Smells identify </a:t>
              </a:r>
              <a:r>
                <a:rPr lang="en-US" sz="2255" b="0" i="1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frequently</a:t>
              </a:r>
              <a:r>
                <a:rPr lang="en-US" sz="24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occurring </a:t>
              </a:r>
              <a:r>
                <a:rPr lang="en-US" sz="2960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design problems</a:t>
              </a:r>
              <a:r>
                <a:rPr lang="en-US" sz="24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in a way that is more </a:t>
              </a:r>
              <a:r>
                <a:rPr lang="en-US" sz="2255" b="0" i="1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specific or targeted</a:t>
              </a:r>
              <a:r>
                <a:rPr lang="en-US" sz="24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than general design guidelines  (like “loosely coupled code” or “duplication-free code”). - Joshua K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22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 panose="020B0604020202020204"/>
                <a:buNone/>
              </a:pPr>
              <a:r>
                <a:rPr lang="en-US" sz="245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 code smell is a design that duplicates, complicates, bloats or tightly couples code.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79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330" name="Google Shape;330;p10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7" name="Google Shape;337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8" name="Google Shape;338;p1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340" name="Google Shape;340;p1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 short history of Code Smells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If it stinks, change it!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Kent Beck coined the term code smell to signify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something in code that needed to be changed.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80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0" name="Google Shape;350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351" name="Google Shape;351;p11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2"/>
          <p:cNvGrpSpPr/>
          <p:nvPr/>
        </p:nvGrpSpPr>
        <p:grpSpPr>
          <a:xfrm>
            <a:off x="0" y="0"/>
            <a:ext cx="10227807" cy="7873950"/>
            <a:chOff x="0" y="0"/>
            <a:chExt cx="10227807" cy="7873950"/>
          </a:xfrm>
        </p:grpSpPr>
        <p:cxnSp>
          <p:nvCxnSpPr>
            <p:cNvPr id="358" name="Google Shape;358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9" name="Google Shape;359;p1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361" name="Google Shape;361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Common Code Smells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1193800" y="2044700"/>
              <a:ext cx="3466851" cy="50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Inappropriate Naming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Comments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Dead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Duplicated code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Primitive Obsession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Large Class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Lazy Class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Alternative Class with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Different Interface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5676900" y="2152650"/>
              <a:ext cx="3291600" cy="572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Long Method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Long Parameter List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Switch Statements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Speculative Generality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Oddball Solution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Feature Envy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Refused Bequest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Black Sheep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 panose="020B0604020202020204"/>
                <a:buNone/>
              </a:pPr>
              <a:r>
                <a:rPr lang="en-US" sz="264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Train Wreck</a:t>
              </a:r>
              <a:endParaRPr sz="264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81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384" name="Google Shape;38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22876" y="67453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2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22876" y="71565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8926" y="6439008"/>
            <a:ext cx="340320" cy="30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4" name="Google Shape;394;p13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96" name="Google Shape;396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Code Smell - Inappropriate Naming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Names given to variables (fields) and methods should be clear  and meaningful.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variable name should say exactly what it is.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Which is better?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private string s; </a:t>
            </a: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 </a:t>
            </a:r>
            <a:r>
              <a:rPr lang="en-US" sz="2450" b="1" i="0" u="none" strike="noStrike" cap="none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private string salary;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method should say exactly what it does.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Which is better?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public double calc (double s)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 panose="020B0604020202020204"/>
              <a:buNone/>
            </a:pPr>
            <a:r>
              <a:rPr lang="en-US" sz="24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50" b="1" i="0" u="none" strike="noStrike" cap="none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public double calculateFederalTaxes (double salary)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422400" algn="l" rtl="0">
              <a:lnSpc>
                <a:spcPct val="97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82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412" name="Google Shape;412;p13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9" name="Google Shape;419;p14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Code Smell - Comments </a:t>
            </a:r>
            <a:endParaRPr sz="471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39800" y="2565400"/>
            <a:ext cx="8702236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Comments are often used as deodorant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Comments represent a </a:t>
            </a:r>
            <a:r>
              <a:rPr lang="en-US" sz="1905" b="0" i="1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failure to express an idea in the code</a:t>
            </a: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Try to make your  code self-documenting or intention-revealing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When you feel like writing a comment, first try "to refactor so that the comment becomes superfluous  </a:t>
            </a: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939800" y="4241800"/>
            <a:ext cx="378402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07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Remedies: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Extract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Rename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Introduce Assertion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83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436" name="Google Shape;436;p14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3" name="Google Shape;443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4" name="Google Shape;444;p1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Comment: “Grow the Array” smells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241300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49" name="Google Shape;449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0" name="Google Shape;450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sp>
        <p:nvSpPr>
          <p:cNvPr id="451" name="Google Shape;451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class MyList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int INITIAL_CAPACITY = 10;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bool m_readOnly;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int m_size = 0;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int m_capacity;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string[] m_elements;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public MyList()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m_elements = new string[INITIAL_CAPACITY];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m_capacity = INITIAL_CAPACITY;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int GetCapacity()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return m_capacity;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void AddToList(string element)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if (!m_readOnly)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int newSize = m_size + 1;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if (newSize &gt; GetCapacity())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// grow the array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m_capacity += INITIAL_CAPACITY;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string[] elements2 = new string[m_capacity];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for (int i = 0; i &lt; m_size; i++)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    elements2[i] = m_elements[i];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m_elements = elements2;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m_elements[m_size++] = element;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53" name="Google Shape;453;p1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60" name="Google Shape;460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1" name="Google Shape;461;p1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Comment Smells Make-over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void AddToList(string element)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(m_readOnly)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return;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(ShouldGrow())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Grow();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StoreElement(element);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 panose="020B0604020202020204"/>
                <a:buNone/>
              </a:pPr>
              <a:endParaRPr sz="202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101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 panose="020B0604020202020204"/>
                <a:buNone/>
              </a:pPr>
              <a:r>
                <a:rPr lang="en-US" sz="17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sz="17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Grow()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m_capacity += INITIAL_CAPACITY;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string[] elements2 = new string[m_capacity];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for (int i = 0; i &lt; m_size; i++)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elements2[i] = m_elements[i];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m_elements = elements2;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StoreElement(string element)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m_elements[m_size++] = element;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85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sp>
        <p:nvSpPr>
          <p:cNvPr id="470" name="Google Shape;470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private bool ShouldGrow()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return (m_size + 1) &gt; GetCapacity();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 panose="020B0604020202020204"/>
              <a:buNone/>
            </a:pPr>
            <a:r>
              <a:rPr lang="en-US" sz="17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78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71" name="Google Shape;471;p16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8" name="Google Shape;478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481" name="Google Shape;481;p17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Rename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488" name="Google Shape;488;p17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5" name="Google Shape;495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96" name="Google Shape;496;p18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Extract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void PrintOwning(double amount){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PrintBanner();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// print details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System.Console.Out.WriteLine(“name: “+ name);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System.Console.Out.WriteLine(“amount: “+ amount);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676400" algn="l" rtl="0">
                <a:lnSpc>
                  <a:spcPct val="97000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03" name="Google Shape;503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506" name="Google Shape;506;p18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3" name="Google Shape;513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14" name="Google Shape;514;p19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2579670" y="3759200"/>
              <a:ext cx="558800" cy="901700"/>
            </a:xfrm>
            <a:custGeom>
              <a:avLst/>
              <a:gdLst/>
              <a:ahLst/>
              <a:cxnLst/>
              <a:rect l="l" t="t" r="r" b="b"/>
              <a:pathLst>
                <a:path w="558800" h="901700" extrusionOk="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w="381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Extract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void PrintOwning(double amount){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PrintBanner();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// print details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System.Console.Out.WriteLine(“name: “+ name);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System.Console.Out.WriteLine(“amount: “+ amount);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void PrintOwning(double amount){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PrintBanner();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PrintDetails(amount);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void PrintDetails(double amount){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4445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System.Console.Out.WriteLine(“name: “+ name);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4445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System.Console.Out.WriteLine(“amount: “+ amount);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531" name="Google Shape;531;p19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8" name="Google Shape;538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9" name="Google Shape;539;p2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Assertion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547" name="Google Shape;547;p20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4" name="Google Shape;554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5" name="Google Shape;555;p2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Assertion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0" name="Google Shape;560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double getExpenseLimit()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68300" marR="0" lvl="0" indent="0" algn="l" rtl="0">
                <a:lnSpc>
                  <a:spcPct val="118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// should have either expense limit or a primary project  return (_expenseLimit != NULL_EXPENSE) ? _expenseLimit :  _primaryProject.GetMemberExpenseLimit();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146300" algn="l" rtl="0">
                <a:lnSpc>
                  <a:spcPct val="97000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61" name="Google Shape;561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2" name="Google Shape;562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563" name="Google Shape;563;p21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0" name="Google Shape;570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1" name="Google Shape;571;p2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573" name="Google Shape;573;p2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22"/>
            <p:cNvSpPr/>
            <p:nvPr/>
          </p:nvSpPr>
          <p:spPr>
            <a:xfrm>
              <a:off x="3282950" y="3327400"/>
              <a:ext cx="507640" cy="956903"/>
            </a:xfrm>
            <a:custGeom>
              <a:avLst/>
              <a:gdLst/>
              <a:ahLst/>
              <a:cxnLst/>
              <a:rect l="l" t="t" r="r" b="b"/>
              <a:pathLst>
                <a:path w="507640" h="956903" extrusionOk="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3282950" y="3327400"/>
              <a:ext cx="507640" cy="956903"/>
            </a:xfrm>
            <a:custGeom>
              <a:avLst/>
              <a:gdLst/>
              <a:ahLst/>
              <a:cxnLst/>
              <a:rect l="l" t="t" r="r" b="b"/>
              <a:pathLst>
                <a:path w="507640" h="956903" extrusionOk="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Comments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Assertion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double getExpenseLimit()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68300" marR="0" lvl="0" indent="0" algn="l" rtl="0">
                <a:lnSpc>
                  <a:spcPct val="118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// should have either expense limit or a primary project  return (_expenseLimit != NULL_EXPENSE) ? _expenseLimit :  _primaryProject.GetMemberExpenseLimit();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double getExpenseLimit() 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Assert(_expenseLimit != NULL_EXPENSE || _primaryProject != null,  “Both Expense Limit and Primary Project must not be null”);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return (_expenseLimit != NULL_EXPENSE) ? _expenseLimit :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921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_primaryProject.GetMemberExpenseLimit();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765300" algn="l" rtl="0">
                <a:lnSpc>
                  <a:spcPct val="97000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 panose="020B0604020202020204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88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586" name="Google Shape;586;p22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 txBox="1"/>
          <p:nvPr/>
        </p:nvSpPr>
        <p:spPr>
          <a:xfrm>
            <a:off x="574825" y="6789425"/>
            <a:ext cx="624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sng" strike="noStrike" cap="none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4"/>
              </a:rPr>
              <a:t>https://www.w3schools.com/python/ref_keyword_assert.asp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4" name="Google Shape;594;p23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96" name="Google Shape;596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Code Smell - Long Method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method is long when it is too hard to quickly comprehend. 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Long methods tend to hide behavior that ought to be shared, which leads to  duplicated code in other methods or classes.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Good Object Oriented code is easiest to understand and maintain with shorter methods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 good names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891700" y="4226800"/>
            <a:ext cx="42459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Remedies: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Extract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Replace Temp with Query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Introduce Parameter Object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Preserve Whole Object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 panose="020B0604020202020204"/>
              <a:buNone/>
            </a:pPr>
            <a:r>
              <a:rPr lang="en-US" sz="19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Decompose Conditional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89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614" name="Google Shape;614;p23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21" name="Google Shape;621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22" name="Google Shape;622;p24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Long Method Example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String toStringHelper(StringBuffer result)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result.append("&lt;");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result.append(name);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result.append(attributes.toString());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result.append("&gt;");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(!value.equals(""))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result.append(value);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Iterator it = children().iterator();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while (it.hasNext())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TagNode node = (TagNode)it.next();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node.toStringHelper(result);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result.append("&lt;/");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result.append(name);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result.append("&gt;");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result.toString();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90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629" name="Google Shape;629;p24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Html tag: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&lt;name&gt; Jannet Jhonson &lt;/name&gt;</a:t>
            </a:r>
            <a:endParaRPr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7" name="Google Shape;637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38" name="Google Shape;638;p2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 panose="020B0604020202020204"/>
                <a:buNone/>
              </a:pPr>
              <a:r>
                <a:rPr lang="en-US" sz="440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Long Method Makeover (Extract Method)</a:t>
              </a: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writeValueTo(StringBuffer result)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(!value.equals(""))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result.append(value);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writeChildrenTo(StringBuffer result)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Iterator it = children().iterator();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while (it.hasNext())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TagNode node = (TagNode)it.next();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node.toStringHelper(result);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String toStringHelper(StringBuffer result)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writeOpenTagTo(result);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writeValueTo(result);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writeChildrenTo(result);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writeEndTagTo(result);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result.toString();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writeOpenTagTo(StringBuffer result)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result.append("&lt;");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result.append(name);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result.append(attributes.toString());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result.append("&gt;");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writeEndTagTo(StringBuffer result)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result.append("&lt;/");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result.append(name);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result.append("&gt;");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91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647" name="Google Shape;647;p2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4" name="Google Shape;654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178300" y="4198937"/>
              <a:ext cx="975953" cy="475891"/>
            </a:xfrm>
            <a:custGeom>
              <a:avLst/>
              <a:gdLst/>
              <a:ahLst/>
              <a:cxnLst/>
              <a:rect l="l" t="t" r="r" b="b"/>
              <a:pathLst>
                <a:path w="975953" h="475890" extrusionOk="0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0" name="Google Shape;660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Replace Temp with Query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1" name="Google Shape;661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92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664" name="Google Shape;664;p26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Method2(){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double basePrice = _quanity * _itemPrice;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basePrice + 100;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1" u="none" strike="noStrike" cap="none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if the basePrice calculation equation changes ??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1" u="none" strike="noStrike" cap="none">
                <a:solidFill>
                  <a:srgbClr val="00206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-- We would need to change two lines in the code</a:t>
            </a:r>
            <a:endParaRPr sz="2400" b="1" i="1" u="none" strike="noStrike" cap="none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Method1(){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double basePrice = _quanity * _itemPrice;         if(basePrice &gt; 1000)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return basePrice * 0.95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else{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return basePrice*0.98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4" name="Google Shape;674;p27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76" name="Google Shape;676;p2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7"/>
          <p:cNvSpPr/>
          <p:nvPr/>
        </p:nvSpPr>
        <p:spPr>
          <a:xfrm>
            <a:off x="4178300" y="4198937"/>
            <a:ext cx="975953" cy="475891"/>
          </a:xfrm>
          <a:custGeom>
            <a:avLst/>
            <a:gdLst/>
            <a:ahLst/>
            <a:cxnLst/>
            <a:rect l="l" t="t" r="r" b="b"/>
            <a:pathLst>
              <a:path w="975953" h="475890" extrusionOk="0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178300" y="4198937"/>
            <a:ext cx="975953" cy="475891"/>
          </a:xfrm>
          <a:custGeom>
            <a:avLst/>
            <a:gdLst/>
            <a:ahLst/>
            <a:cxnLst/>
            <a:rect l="l" t="t" r="r" b="b"/>
            <a:pathLst>
              <a:path w="975953" h="475890" extrusionOk="0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Smell:  Long Method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Replace Temp with Query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Method1(){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if(getBasePrice() &gt; 1000)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return getBasePrice() * 0.95;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else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getBasePrice() * 0.98;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Method1(){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double basePrice = _quanity * _itemPrice;         if(basePrice &gt; 1000)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return basePrice * 0.95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else{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return basePrice*0.98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92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687" name="Google Shape;687;p27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double getBasePrice()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_quanitiy * itemPrice;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1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5" name="Google Shape;695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6" name="Google Shape;696;p28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98" name="Google Shape;698;p28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avLst/>
              <a:gdLst/>
              <a:ahLst/>
              <a:cxnLst/>
              <a:rect l="l" t="t" r="r" b="b"/>
              <a:pathLst>
                <a:path w="975953" h="475890" extrusionOk="0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avLst/>
              <a:gdLst/>
              <a:ahLst/>
              <a:cxnLst/>
              <a:rect l="l" t="t" r="r" b="b"/>
              <a:pathLst>
                <a:path w="975953" h="475890" extrusionOk="0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Replace Temp with Query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4" name="Google Shape;704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92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707" name="Google Shape;707;p28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double getBasePrice()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_quanitiy * itemPrice;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1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Method2(){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double basePrice = _quanity * _itemPrice;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basePrice + 100;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Method2(){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return getBasePrice() + 100;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2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7" name="Google Shape;717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8" name="Google Shape;718;p29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Parameter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726" name="Google Shape;726;p29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MethodTooManyParameter (Date start, Date end, int value, string month, string yearStart, string yearEnd)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// method body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}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4" name="Google Shape;734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35" name="Google Shape;735;p3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737" name="Google Shape;737;p3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Parameter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1" name="Google Shape;741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744" name="Google Shape;744;p30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 DateRange{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Date start;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Date end;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2" name="Google Shape;752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53" name="Google Shape;753;p3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Preserve Whole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8" name="Google Shape;758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low = daysTempRange().getLow();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high = daysTempRange().getHigh();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</a:t>
              </a: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withinRange</a:t>
              </a: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(low, high);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723900" algn="l" rtl="0">
                <a:lnSpc>
                  <a:spcPct val="97000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95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761" name="Google Shape;761;p31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daysTempRange(){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return someObject;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9" name="Google Shape;769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70" name="Google Shape;770;p3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4365620" y="4368800"/>
              <a:ext cx="558800" cy="901700"/>
            </a:xfrm>
            <a:custGeom>
              <a:avLst/>
              <a:gdLst/>
              <a:ahLst/>
              <a:cxnLst/>
              <a:rect l="l" t="t" r="r" b="b"/>
              <a:pathLst>
                <a:path w="558800" h="901700" extrusionOk="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4787900" y="4368800"/>
              <a:ext cx="558800" cy="901700"/>
            </a:xfrm>
            <a:custGeom>
              <a:avLst/>
              <a:gdLst/>
              <a:ahLst/>
              <a:cxnLst/>
              <a:rect l="l" t="t" r="r" b="b"/>
              <a:pathLst>
                <a:path w="558800" h="901700" extrusionOk="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w="381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Preserve Whole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low = daysTempRange().getLow();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high = daysTempRange().getHigh();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plan.withinRange(low, high);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plan.withinRange(daysTempRange());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143000" algn="l" rtl="0">
                <a:lnSpc>
                  <a:spcPct val="97000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95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781" name="Google Shape;781;p32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3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8" name="Google Shape;788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89" name="Google Shape;789;p33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791" name="Google Shape;791;p3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3"/>
            <p:cNvSpPr/>
            <p:nvPr/>
          </p:nvSpPr>
          <p:spPr>
            <a:xfrm>
              <a:off x="2446801" y="4596897"/>
              <a:ext cx="471807" cy="880328"/>
            </a:xfrm>
            <a:custGeom>
              <a:avLst/>
              <a:gdLst/>
              <a:ahLst/>
              <a:cxnLst/>
              <a:rect l="l" t="t" r="r" b="b"/>
              <a:pathLst>
                <a:path w="471807" h="880328" extrusionOk="0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2446801" y="4596897"/>
              <a:ext cx="471807" cy="880328"/>
            </a:xfrm>
            <a:custGeom>
              <a:avLst/>
              <a:gdLst/>
              <a:ahLst/>
              <a:cxnLst/>
              <a:rect l="l" t="t" r="r" b="b"/>
              <a:pathLst>
                <a:path w="471807" h="880328" extrusionOk="0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w="38100" cap="flat" cmpd="sng">
              <a:solidFill>
                <a:srgbClr val="070B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 panose="020B0604020202020204"/>
                <a:buNone/>
              </a:pPr>
              <a:r>
                <a:rPr lang="en-US" sz="490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Decompose Conditional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You have a complicated conditional (if-then-else) statement.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n-US" sz="1600" b="0" i="1" u="none" strike="noStrike" cap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if (date.before (SUMMER_START) || date.after(SUMMER_END))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 charge = quantity * _winterRate + _winterServiceCharge;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endParaRPr sz="154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     else charge = quantity * _summerRate;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endParaRPr sz="154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if (notSummer(date))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 charge = winterCharge(quantity);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 panose="020B0604020202020204"/>
                <a:buNone/>
              </a:pPr>
              <a:r>
                <a:rPr lang="en-US" sz="154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else charge = summerCharge (quantity);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400300" algn="l" rtl="0">
                <a:lnSpc>
                  <a:spcPct val="97000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804" name="Google Shape;804;p33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3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1" name="Google Shape;811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12" name="Google Shape;812;p34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814" name="Google Shape;814;p3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6" name="Google Shape;816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Example of Conditional Complexity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7" name="Google Shape;817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18" name="Google Shape;818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98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820" name="Google Shape;820;p34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3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6" name="Google Shape;826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7" name="Google Shape;827;p35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29" name="Google Shape;829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Code Smell- Long Parameter List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Methods that take too many parameters produce client code that is  awkward and difficult to work with.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Remedies: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9" name="Google Shape;839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 panose="020B0604020202020204"/>
              <a:buNone/>
            </a:pPr>
            <a:r>
              <a:rPr lang="en-US" sz="169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Introduce Parameter Object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 panose="020B0604020202020204"/>
              <a:buNone/>
            </a:pPr>
            <a:r>
              <a:rPr lang="en-US" sz="169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Replace Parameter with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 panose="020B0604020202020204"/>
              <a:buNone/>
            </a:pPr>
            <a:r>
              <a:rPr lang="en-US" sz="169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Preserve Whole Object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174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843" name="Google Shape;843;p35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0" name="Google Shape;850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51" name="Google Shape;851;p3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Example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void createUserInGroup()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GroupManager groupManager = new GroupManager();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Group group = groupManager.create(TEST_GROUP, false, 					GroupProfile.UNLIMITED_LICENSES, "",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			GroupProfile.ONE_YEAR, null);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user = userManager.create(USER_NAME, group, USER_NAME, "jack", 				USER_NAME, LANGUAGE, false, false, new Date(),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			"blah", new Date()); 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413000" algn="l" rtl="0">
                <a:lnSpc>
                  <a:spcPct val="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56" name="Google Shape;856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175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858" name="Google Shape;858;p36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5" name="Google Shape;865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66" name="Google Shape;866;p37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323850" y="2052637"/>
              <a:ext cx="4483100" cy="492369"/>
            </a:xfrm>
            <a:custGeom>
              <a:avLst/>
              <a:gdLst/>
              <a:ahLst/>
              <a:cxnLst/>
              <a:rect l="l" t="t" r="r" b="b"/>
              <a:pathLst>
                <a:path w="4483100" h="492368" extrusionOk="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323850" y="2545006"/>
              <a:ext cx="4483100" cy="1107831"/>
            </a:xfrm>
            <a:custGeom>
              <a:avLst/>
              <a:gdLst/>
              <a:ahLst/>
              <a:cxnLst/>
              <a:rect l="l" t="t" r="r" b="b"/>
              <a:pathLst>
                <a:path w="4483100" h="1107831" extrusionOk="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323850" y="2545006"/>
              <a:ext cx="4483100" cy="1107831"/>
            </a:xfrm>
            <a:custGeom>
              <a:avLst/>
              <a:gdLst/>
              <a:ahLst/>
              <a:cxnLst/>
              <a:rect l="l" t="t" r="r" b="b"/>
              <a:pathLst>
                <a:path w="4483100" h="1107831" extrusionOk="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Parameter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Customer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5" name="Google Shape;875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AmoutInvoicedIn(Date start, Date end)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AmoutRecivedIn(Date start, Date end)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AmoutOverdueIn(Date start, Date end)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879" name="Google Shape;879;p37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6" name="Google Shape;886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87" name="Google Shape;887;p38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3850" y="2052637"/>
              <a:ext cx="4483100" cy="492369"/>
            </a:xfrm>
            <a:custGeom>
              <a:avLst/>
              <a:gdLst/>
              <a:ahLst/>
              <a:cxnLst/>
              <a:rect l="l" t="t" r="r" b="b"/>
              <a:pathLst>
                <a:path w="4483100" h="492368" extrusionOk="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3850" y="2545006"/>
              <a:ext cx="4483100" cy="1107831"/>
            </a:xfrm>
            <a:custGeom>
              <a:avLst/>
              <a:gdLst/>
              <a:ahLst/>
              <a:cxnLst/>
              <a:rect l="l" t="t" r="r" b="b"/>
              <a:pathLst>
                <a:path w="4483100" h="1107831" extrusionOk="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850" y="2545006"/>
              <a:ext cx="4483100" cy="1107831"/>
            </a:xfrm>
            <a:custGeom>
              <a:avLst/>
              <a:gdLst/>
              <a:ahLst/>
              <a:cxnLst/>
              <a:rect l="l" t="t" r="r" b="b"/>
              <a:pathLst>
                <a:path w="4483100" h="1107831" extrusionOk="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405437" y="5478462"/>
              <a:ext cx="4191000" cy="496277"/>
            </a:xfrm>
            <a:custGeom>
              <a:avLst/>
              <a:gdLst/>
              <a:ahLst/>
              <a:cxnLst/>
              <a:rect l="l" t="t" r="r" b="b"/>
              <a:pathLst>
                <a:path w="4191000" h="496276" extrusionOk="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405437" y="5974739"/>
              <a:ext cx="4191000" cy="1116622"/>
            </a:xfrm>
            <a:custGeom>
              <a:avLst/>
              <a:gdLst/>
              <a:ahLst/>
              <a:cxnLst/>
              <a:rect l="l" t="t" r="r" b="b"/>
              <a:pathLst>
                <a:path w="4191000" h="1116622" extrusionOk="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405437" y="5974739"/>
              <a:ext cx="4191000" cy="1116622"/>
            </a:xfrm>
            <a:custGeom>
              <a:avLst/>
              <a:gdLst/>
              <a:ahLst/>
              <a:cxnLst/>
              <a:rect l="l" t="t" r="r" b="b"/>
              <a:pathLst>
                <a:path w="4191000" h="1116622" extrusionOk="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895" name="Google Shape;895;p38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8"/>
            <p:cNvSpPr/>
            <p:nvPr/>
          </p:nvSpPr>
          <p:spPr>
            <a:xfrm>
              <a:off x="2403475" y="4043362"/>
              <a:ext cx="2552700" cy="2628900"/>
            </a:xfrm>
            <a:custGeom>
              <a:avLst/>
              <a:gdLst/>
              <a:ahLst/>
              <a:cxnLst/>
              <a:rect l="l" t="t" r="r" b="b"/>
              <a:pathLst>
                <a:path w="2552700" h="2628900" extrusionOk="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403475" y="4043362"/>
              <a:ext cx="2552700" cy="2628900"/>
            </a:xfrm>
            <a:custGeom>
              <a:avLst/>
              <a:gdLst/>
              <a:ahLst/>
              <a:cxnLst/>
              <a:rect l="l" t="t" r="r" b="b"/>
              <a:pathLst>
                <a:path w="2552700" h="2628900" extrusionOk="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Introduce Parameter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Customer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AmoutInvoicedIn(Date start, Date end)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AmoutRecivedIn(Date start, Date end)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AmoutOverdueIn(Date start, Date end)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Customer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AmoutInvoicedIn(DateRange range)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AmoutRecivedIn(DateRange range)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AmoutOverdueIn(DateRange range)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908" name="Google Shape;908;p38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5" name="Google Shape;915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6" name="Google Shape;916;p39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0" name="Google Shape;920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Replace Parameter with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1" name="Google Shape;921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public double getPrice()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int basePrice = _quantity * _itemPrice;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int discountLevel;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(_quantity &gt; 100)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	discountLevel = 2;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else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	discountLevel = 1;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double finalPrice = discountedPrice (basePrice, discountLevel);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finalPrice;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double discountedPrice (int basePrice, int discountLevel)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(discountLevel == 2)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	return basePrice * 0.1;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else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	return basePrice * 0.05;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02870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22" name="Google Shape;922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924" name="Google Shape;924;p39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4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1" name="Google Shape;931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32" name="Google Shape;932;p4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6" name="Google Shape;936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Replace Parameter with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7" name="Google Shape;937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public double getPrice()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int basePrice = _quantity * _itemPrice;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int discountLevel = getDiscountLevel();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double finalPrice = discountedPrice (basePrice, discountLevel);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finalPrice;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int getDiscountLevel()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(_quantity &gt; 100) return 2;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else return 1;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private double discountedPrice (int basePrice, int discountLevel)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(getDiscountLevel() == 2) return basePrice * 0.1;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else return basePrice * 0.05;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102870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38" name="Google Shape;938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940" name="Google Shape;940;p40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6" name="Google Shape;946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47" name="Google Shape;947;p4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1" name="Google Shape;951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Replace Parameter with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2" name="Google Shape;952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endParaRPr sz="22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53" name="Google Shape;953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sp>
        <p:nvSpPr>
          <p:cNvPr id="955" name="Google Shape;955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double getPrice()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int basePrice = _quantity * _itemPrice;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int discountLevel = getDiscountLevel();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double finalPrice =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discountedPrice (basePrice);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return finalPrice;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private double discountedPrice (int basePrice) 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if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(getDiscountLevel()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== 2) return basePrice * 0.1;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else return basePrice * 0.05;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6" name="Google Shape;956;p41" descr="thumbnail_fdbd8478-4071-48f9-881e-7f6c58f17549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4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3" name="Google Shape;963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64" name="Google Shape;964;p4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7" name="Google Shape;967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226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Preserve Whole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low = daysTempRange().getLow();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high = daysTempRange().getHigh();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plan.withinRange(low, high);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723900" algn="l" rtl="0">
                <a:lnSpc>
                  <a:spcPct val="97000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971" name="Google Shape;971;p42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8" name="Google Shape;978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79" name="Google Shape;979;p43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4365620" y="4368800"/>
              <a:ext cx="558800" cy="901700"/>
            </a:xfrm>
            <a:custGeom>
              <a:avLst/>
              <a:gdLst/>
              <a:ahLst/>
              <a:cxnLst/>
              <a:rect l="l" t="t" r="r" b="b"/>
              <a:pathLst>
                <a:path w="558800" h="901700" extrusionOk="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4787900" y="4368800"/>
              <a:ext cx="558800" cy="901700"/>
            </a:xfrm>
            <a:custGeom>
              <a:avLst/>
              <a:gdLst/>
              <a:ahLst/>
              <a:cxnLst/>
              <a:rect l="l" t="t" r="r" b="b"/>
              <a:pathLst>
                <a:path w="558800" h="901700" extrusionOk="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w="381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Long Parameter List </a:t>
              </a:r>
              <a:endParaRPr sz="226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85" name="Google Shape;985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Preserve Whole Object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6" name="Google Shape;986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low = daysTempRange().getLow();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 high = daysTempRange().getHigh();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plan.withinRange(low, high);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7" name="Google Shape;987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withinPlan = plan.withinRange(daysTempRange());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143000" algn="l" rtl="0">
                <a:lnSpc>
                  <a:spcPct val="97000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989" name="Google Shape;989;p43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4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6" name="Google Shape;996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7" name="Google Shape;997;p44"/>
          <p:cNvSpPr/>
          <p:nvPr/>
        </p:nvSpPr>
        <p:spPr>
          <a:xfrm>
            <a:off x="63500" y="52070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8" name="Google Shape;998;p44"/>
          <p:cNvSpPr/>
          <p:nvPr/>
        </p:nvSpPr>
        <p:spPr>
          <a:xfrm>
            <a:off x="2965287" y="50800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99" name="Google Shape;999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Feature Envy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method that seems more interested in some other class than the one it is  in.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 and behavior that acts on that data belong together.  When a method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makes too many calls to other classes to obtain data or functionality, Feature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Envy is in the air.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Remedies: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Move Field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Move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 panose="020B0604020202020204"/>
              <a:buNone/>
            </a:pPr>
            <a:r>
              <a:rPr lang="en-US"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Extract Method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0" name="Google Shape;1010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178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2" name="Google Shape;1012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1013" name="Google Shape;1013;p44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4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0" name="Google Shape;1020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21" name="Google Shape;1021;p4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4" name="Google Shape;1024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Example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5" name="Google Shape;1025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Public class CapitalStrategy{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double capital(Loan loan)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(loan.getExpiry() == NO_DATE &amp;&amp; loan.getMaturity() != NO_DATE)    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return loan.getCommitmentAmount() * loan.duration() * loan.riskFactor();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if (loan.getExpiry() != NO_DATE &amp;&amp; loan.getMaturity() == NO_DATE)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if (loan.getUnusedPercentage() != 1.0)       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    return loan.getCommitmentAmount() * loan.getUnusedPercentage() * loan.duration() * loan.riskFactor();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else       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    return (loan.outstandingRiskAmount() * loan.duration() * loan.riskFactor()) +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        (loan.unusedRiskAmount() * loan.duration() * loan.unusedRiskFactor());  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}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0.0;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 panose="020B0604020202020204"/>
                <a:buNone/>
              </a:pPr>
              <a:endParaRPr sz="178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2463800" algn="l" rtl="0">
                <a:lnSpc>
                  <a:spcPct val="97000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26" name="Google Shape;1026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179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7" name="Google Shape;1027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028" name="Google Shape;1028;p4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4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5" name="Google Shape;1035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6" name="Google Shape;1036;p4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038" name="Google Shape;1038;p46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Feature Envy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Move Field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2" name="Google Shape;1042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180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045" name="Google Shape;1045;p46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4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2" name="Google Shape;1052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53" name="Google Shape;1053;p47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055" name="Google Shape;1055;p47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Feature Envy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8" name="Google Shape;1058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Move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9" name="Google Shape;1059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60" name="Google Shape;1060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181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062" name="Google Shape;1062;p47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4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9" name="Google Shape;1069;p48"/>
          <p:cNvSpPr/>
          <p:nvPr/>
        </p:nvSpPr>
        <p:spPr>
          <a:xfrm>
            <a:off x="63500" y="528610"/>
            <a:ext cx="2895600" cy="101600"/>
          </a:xfrm>
          <a:custGeom>
            <a:avLst/>
            <a:gdLst/>
            <a:ahLst/>
            <a:cxnLst/>
            <a:rect l="l" t="t" r="r" b="b"/>
            <a:pathLst>
              <a:path w="28956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2965287" y="515910"/>
            <a:ext cx="7175500" cy="101600"/>
          </a:xfrm>
          <a:custGeom>
            <a:avLst/>
            <a:gdLst/>
            <a:ahLst/>
            <a:cxnLst/>
            <a:rect l="l" t="t" r="r" b="b"/>
            <a:pathLst>
              <a:path w="7175500" h="101600" extrusionOk="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w="12700" cap="flat" cmpd="sng">
            <a:solidFill>
              <a:srgbClr val="FF00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71" name="Google Shape;1071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w="127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 panose="020B0604020202020204"/>
              <a:buNone/>
            </a:pPr>
            <a:r>
              <a:rPr lang="en-US"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Duplicated Code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</a:t>
            </a:r>
            <a:r>
              <a:rPr lang="en-US" sz="1905" b="0" i="1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most pervasive and pungent  smell</a:t>
            </a: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 software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 is obvious or blatant duplication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Such as copy and paste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 are subtle or non-obvious duplications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Similar algorithms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Remedies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Extract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Pull Up Field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 Template Method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152400" algn="l" rtl="0"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 panose="020B0604020202020204"/>
              <a:buNone/>
            </a:pPr>
            <a:r>
              <a:rPr lang="en-US" sz="207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Substitute Algorithm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2" name="Google Shape;1082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 panose="020B0604020202020204"/>
              <a:buNone/>
            </a:pPr>
            <a:endParaRPr sz="1450" b="0" i="0" u="none" strike="noStrike" cap="none">
              <a:solidFill>
                <a:srgbClr val="0812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122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4" name="Google Shape;1084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 panose="020B0403020202020204"/>
              <a:ea typeface="Helvetica Neue" panose="020B0403020202020204"/>
              <a:cs typeface="Helvetica Neue" panose="020B0403020202020204"/>
              <a:sym typeface="Helvetica Neue" panose="020B0403020202020204"/>
            </a:endParaRPr>
          </a:p>
        </p:txBody>
      </p:sp>
      <p:pic>
        <p:nvPicPr>
          <p:cNvPr id="1085" name="Google Shape;1085;p4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48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3" name="Google Shape;1093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4" name="Google Shape;1094;p49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096" name="Google Shape;1096;p4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Ctl+C Ctl+V Pattern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9" name="Google Shape;1099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00" name="Google Shape;1100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123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1" name="Google Shape;1101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02" name="Google Shape;1102;p49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5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50"/>
          <p:cNvGrpSpPr/>
          <p:nvPr/>
        </p:nvGrpSpPr>
        <p:grpSpPr>
          <a:xfrm>
            <a:off x="0" y="76200"/>
            <a:ext cx="10253202" cy="7708900"/>
            <a:chOff x="0" y="76200"/>
            <a:chExt cx="10253202" cy="7708900"/>
          </a:xfrm>
        </p:grpSpPr>
        <p:cxnSp>
          <p:nvCxnSpPr>
            <p:cNvPr id="1109" name="Google Shape;1109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0" name="Google Shape;1110;p5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112" name="Google Shape;1112;p5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4" name="Google Shape;1114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Example Of Obvious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5" name="Google Shape;1115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16" name="Google Shape;1116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7" name="Google Shape;1117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18" name="Google Shape;1118;p50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5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5" name="Google Shape;1125;p5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29" name="Google Shape;1129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0" name="Google Shape;1130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31" name="Google Shape;1131;p5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64725" y="276900"/>
            <a:ext cx="5555450" cy="74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51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9" name="Google Shape;1139;p5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0" name="Google Shape;1140;p5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1" name="Google Shape;1141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2" name="Google Shape;1142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 panose="020B0604020202020204"/>
                <a:buNone/>
              </a:pPr>
              <a:r>
                <a:rPr lang="en-US" sz="69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Levels of Duplication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676400" algn="l" rtl="0">
                <a:lnSpc>
                  <a:spcPct val="97000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43" name="Google Shape;1143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4" name="Google Shape;1144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45" name="Google Shape;1145;p52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5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2" name="Google Shape;1152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53" name="Google Shape;1153;p53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5" name="Google Shape;1155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6" name="Google Shape;1156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Literal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Same for loop in 2 places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58" name="Google Shape;1158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60" name="Google Shape;1160;p53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5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7" name="Google Shape;1167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68" name="Google Shape;1168;p54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Semantic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1st Level - For and For Each Loop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2nd Level - Loop v/s Lines repeated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endParaRPr sz="302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73" name="Google Shape;1173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 panose="020B0604020202020204"/>
                <a:buNone/>
              </a:pP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 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 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5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 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10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 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15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v/s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8000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for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200" b="1" i="0" u="none" strike="noStrike" cap="none">
                  <a:solidFill>
                    <a:srgbClr val="00006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i 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: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asList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5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10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en-US" sz="1425" b="0" i="0" u="none" strike="noStrike" cap="none">
                  <a:solidFill>
                    <a:srgbClr val="CC66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15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)) 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stack.</a:t>
              </a:r>
              <a:r>
                <a:rPr lang="en-US" sz="1425" b="0" i="0" u="none" strike="noStrike" cap="none">
                  <a:solidFill>
                    <a:srgbClr val="0066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push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en-US" sz="142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</a:t>
              </a:r>
              <a:r>
                <a:rPr lang="en-US" sz="1425" b="0" i="0" u="none" strike="noStrike" cap="none">
                  <a:solidFill>
                    <a:srgbClr val="0099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r>
                <a:rPr lang="en-US" sz="1425" b="0" i="0" u="none" strike="noStrike" cap="none">
                  <a:solidFill>
                    <a:srgbClr val="339933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4" name="Google Shape;1174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129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77" name="Google Shape;1177;p54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200" b="1" i="0" u="none" strike="noStrike" cap="none">
                <a:solidFill>
                  <a:srgbClr val="00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 </a:t>
            </a: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asList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425" b="0" i="0" u="none" strike="noStrike" cap="none">
                <a:solidFill>
                  <a:srgbClr val="CC66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1425" b="0" i="0" u="none" strike="noStrike" cap="none">
                <a:solidFill>
                  <a:srgbClr val="CC66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1425" b="0" i="0" u="none" strike="noStrike" cap="none">
                <a:solidFill>
                  <a:srgbClr val="CC66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1425" b="0" i="0" u="none" strike="noStrike" cap="none">
                <a:solidFill>
                  <a:srgbClr val="CC66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1425" b="0" i="0" u="none" strike="noStrike" cap="none">
                <a:solidFill>
                  <a:srgbClr val="CC66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)) 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stack.</a:t>
            </a:r>
            <a:r>
              <a:rPr lang="en-US" sz="1425" b="0" i="0" u="none" strike="noStrike" cap="none">
                <a:solidFill>
                  <a:srgbClr val="0066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push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 </a:t>
            </a:r>
            <a:endParaRPr sz="1425" b="0" i="0" u="none" strike="noStrike" cap="none">
              <a:solidFill>
                <a:srgbClr val="3399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endParaRPr sz="1425" b="0" i="0" u="none" strike="noStrike" cap="none">
              <a:solidFill>
                <a:srgbClr val="3399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v/s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endParaRPr sz="1425" b="0" i="0" u="none" strike="noStrike" cap="none">
              <a:solidFill>
                <a:srgbClr val="3399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</a:t>
            </a: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425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</a:t>
            </a: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i=0;i&lt;5;i++){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stack.</a:t>
            </a:r>
            <a:r>
              <a:rPr lang="en-US" sz="1425" b="0" i="0" u="none" strike="noStrike" cap="none">
                <a:solidFill>
                  <a:srgbClr val="0066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push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asList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US" sz="142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i)</a:t>
            </a:r>
            <a:r>
              <a:rPr lang="en-US" sz="1425" b="0" i="0" u="none" strike="noStrike" cap="none">
                <a:solidFill>
                  <a:srgbClr val="0099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 </a:t>
            </a:r>
            <a:endParaRPr sz="1425" b="0" i="0" u="none" strike="noStrike" cap="none">
              <a:solidFill>
                <a:srgbClr val="3399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endParaRPr sz="1425" b="0" i="0" u="none" strike="noStrike" cap="none">
              <a:solidFill>
                <a:srgbClr val="3399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 panose="020B0604020202020204"/>
              <a:buNone/>
            </a:pPr>
            <a:r>
              <a:rPr lang="en-US" sz="1425" b="0" i="0" u="none" strike="noStrike" cap="none">
                <a:solidFill>
                  <a:srgbClr val="3399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5" name="Google Shape;1185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86" name="Google Shape;1186;p5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89" name="Google Shape;1189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Data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0" name="Google Shape;1190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Some constant declared in 2 classes (test and  production)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91" name="Google Shape;1191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130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2" name="Google Shape;1192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193" name="Google Shape;1193;p5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0" name="Google Shape;1200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01" name="Google Shape;1201;p56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2" name="Google Shape;1202;p56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3" name="Google Shape;1203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4" name="Google Shape;1204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Conceptual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5" name="Google Shape;1205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 Algorithm to Sort elements (Bubble sort and Quick sort)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06" name="Google Shape;1206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132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7" name="Google Shape;1207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08" name="Google Shape;1208;p56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5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5" name="Google Shape;1215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16" name="Google Shape;1216;p57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9" name="Google Shape;1219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Logical Steps - Duplication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0" name="Google Shape;1220;p57"/>
            <p:cNvSpPr txBox="1"/>
            <p:nvPr/>
          </p:nvSpPr>
          <p:spPr>
            <a:xfrm>
              <a:off x="749300" y="3581400"/>
              <a:ext cx="8521800" cy="19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Same set of steps repeat in different scenarios.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9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 panose="020B0604020202020204"/>
                <a:buNone/>
              </a:pPr>
              <a:r>
                <a:rPr lang="en-US" sz="302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Ex: Same set of validations in various points in your  applications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032000" algn="l" rtl="0">
                <a:lnSpc>
                  <a:spcPct val="97000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21" name="Google Shape;1221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2" name="Google Shape;1222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23" name="Google Shape;1223;p57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5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" name="Google Shape;1229;p58"/>
          <p:cNvGrpSpPr/>
          <p:nvPr/>
        </p:nvGrpSpPr>
        <p:grpSpPr>
          <a:xfrm>
            <a:off x="16900" y="88900"/>
            <a:ext cx="10189702" cy="7785100"/>
            <a:chOff x="63500" y="0"/>
            <a:chExt cx="10189702" cy="7785100"/>
          </a:xfrm>
        </p:grpSpPr>
        <p:cxnSp>
          <p:nvCxnSpPr>
            <p:cNvPr id="1230" name="Google Shape;1230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31" name="Google Shape;1231;p58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58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233" name="Google Shape;1233;p58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Duplicate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6" name="Google Shape;1236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Pull Up Field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7" name="Google Shape;1237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38" name="Google Shape;1238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40" name="Google Shape;1240;p58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5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6" name="Google Shape;1246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47" name="Google Shape;1247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8" name="Google Shape;1248;p59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9" name="Google Shape;1249;p59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250" name="Google Shape;1250;p5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Duplicate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3" name="Google Shape;1253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Form Template Method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4" name="Google Shape;1254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55" name="Google Shape;1255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57" name="Google Shape;1257;p59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6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4" name="Google Shape;1264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5" name="Google Shape;1265;p60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6" name="Google Shape;1266;p60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7" name="Google Shape;1267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Duplicate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Substitute Algorithm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0" name="Google Shape;1270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String foundPerson(String[] people){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1" name="Google Shape;1271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for (int i = 0; i &lt; people.length; i++)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if (people[i].equals ("Don")){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   return "Don";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if (people[i].equals ("John")){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   return "John";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if (people[i].equals ("Kent")){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    return "Kent";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   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84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1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return "";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667000" algn="l" rtl="0">
                <a:lnSpc>
                  <a:spcPct val="97000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74" name="Google Shape;1274;p60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1" name="Google Shape;1281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82" name="Google Shape;1282;p61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2135117" y="4897367"/>
              <a:ext cx="774397" cy="774397"/>
            </a:xfrm>
            <a:custGeom>
              <a:avLst/>
              <a:gdLst/>
              <a:ahLst/>
              <a:cxnLst/>
              <a:rect l="l" t="t" r="r" b="b"/>
              <a:pathLst>
                <a:path w="774396" h="774396" extrusionOk="0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2135117" y="4897367"/>
              <a:ext cx="774397" cy="774397"/>
            </a:xfrm>
            <a:custGeom>
              <a:avLst/>
              <a:gdLst/>
              <a:ahLst/>
              <a:cxnLst/>
              <a:rect l="l" t="t" r="r" b="b"/>
              <a:pathLst>
                <a:path w="774396" h="774396" extrusionOk="0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w="38100" cap="flat" cmpd="sng">
              <a:solidFill>
                <a:srgbClr val="5103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Duplicate Code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Substitute Algorithm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9" name="Google Shape;1289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 panose="020B0604020202020204"/>
                <a:buNone/>
              </a:pPr>
              <a:r>
                <a:rPr lang="en-US" sz="2280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   </a:t>
              </a: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String foundPerson(String[] people){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for (int i = 0; i &lt; people.length; i++) 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if (people[i].equals ("Don")){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           return "Don";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if (people[i].equals ("John")){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           return "John";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if (people[i].equals ("Kent")){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           return "Kent";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return "";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0" name="Google Shape;1290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String foundPerson(String[] people){    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List candidates = Arrays.asList(new String[]  {"Don", "John", "Kent"});    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for (String person : people)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if (candidates.contains(person))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           return person;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   return "";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}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138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293" name="Google Shape;1293;p61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6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9" name="Google Shape;1299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0" name="Google Shape;1300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01" name="Google Shape;1301;p62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2" name="Google Shape;1302;p62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303" name="Google Shape;1303;p6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2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Refused Bequest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723900" y="2679700"/>
              <a:ext cx="8688900" cy="11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This rather potent odor results when </a:t>
              </a:r>
              <a:r>
                <a:rPr lang="en-US" sz="1905" b="0" i="1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subclasses inherit code that they don’t  want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  In some cases, a subclass may “refuse the bequest” by providing a </a:t>
              </a:r>
              <a:r>
                <a:rPr lang="en-US" sz="1905" b="0" i="1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do-nothing implementation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of an inherited method.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1" name="Google Shape;1311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Remedies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15240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Push Down Field</a:t>
              </a:r>
              <a:endParaRPr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152400" algn="l" rtl="0">
                <a:lnSpc>
                  <a:spcPct val="106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 panose="020B0604020202020204"/>
                <a:buNone/>
              </a:pPr>
              <a:r>
                <a:rPr lang="en-US" sz="188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Push Down Method</a:t>
              </a:r>
              <a:endParaRPr sz="188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12" name="Google Shape;1312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116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315" name="Google Shape;1315;p62" descr="thumbnail_fdbd8478-4071-48f9-881e-7f6c58f17549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6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1" name="Google Shape;1321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2" name="Google Shape;1322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23" name="Google Shape;1323;p63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w="12700" cap="flat" cmpd="sng">
              <a:solidFill>
                <a:srgbClr val="FFFB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Refused Bequest </a:t>
              </a:r>
              <a:endParaRPr sz="226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 panose="020B0604020202020204"/>
                <a:buNone/>
              </a:pPr>
              <a:r>
                <a:rPr lang="en-US" sz="4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Example of Refused Bequest</a:t>
              </a: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29" name="Google Shape;1329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rgbClr val="02020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Salesman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0" name="Google Shape;1330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104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333" name="Google Shape;1333;p6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63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1" name="Google Shape;1341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42" name="Google Shape;1342;p64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w="12700" cap="flat" cmpd="sng">
              <a:solidFill>
                <a:srgbClr val="FFFB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 panose="020B0604020202020204"/>
                <a:buNone/>
              </a:pPr>
              <a:r>
                <a:rPr lang="en-US" sz="226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Smell:  Refused Bequest </a:t>
              </a:r>
              <a:endParaRPr sz="226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47" name="Google Shape;1347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Refused Bequest Make Over </a:t>
              </a:r>
              <a:endParaRPr sz="4715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48" name="Google Shape;1348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49" name="Google Shape;1349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104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351" name="Google Shape;1351;p6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64" descr="thumbnail_fdbd8478-4071-48f9-881e-7f6c58f17549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6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9" name="Google Shape;1359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60" name="Google Shape;1360;p65"/>
            <p:cNvSpPr/>
            <p:nvPr/>
          </p:nvSpPr>
          <p:spPr>
            <a:xfrm>
              <a:off x="63500" y="520700"/>
              <a:ext cx="2895600" cy="101600"/>
            </a:xfrm>
            <a:custGeom>
              <a:avLst/>
              <a:gdLst/>
              <a:ahLst/>
              <a:cxnLst/>
              <a:rect l="l" t="t" r="r" b="b"/>
              <a:pathLst>
                <a:path w="28956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965287" y="508000"/>
              <a:ext cx="7175500" cy="101600"/>
            </a:xfrm>
            <a:custGeom>
              <a:avLst/>
              <a:gdLst/>
              <a:ahLst/>
              <a:cxnLst/>
              <a:rect l="l" t="t" r="r" b="b"/>
              <a:pathLst>
                <a:path w="7175500" h="101600" extrusionOk="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w="12700" cap="flat" cmpd="sng">
              <a:solidFill>
                <a:srgbClr val="FF000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w="12700" cap="flat" cmpd="sng">
              <a:solidFill>
                <a:srgbClr val="4C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3" name="Google Shape;1363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 panose="020B0604020202020204"/>
                <a:buNone/>
              </a:pPr>
              <a:r>
                <a:rPr lang="en-US" sz="471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References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[F] Fowler, Martin.  </a:t>
              </a:r>
              <a:r>
                <a:rPr lang="en-US" sz="2200" b="0" i="1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Refactoring: Improving the Design of Existing Code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 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381000" algn="l" rtl="0">
                <a:lnSpc>
                  <a:spcPct val="106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Boston, MA: Addison-Wesley, 2000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[K] Kerievsky, Joshua.  </a:t>
              </a:r>
              <a:r>
                <a:rPr lang="en-US" sz="2200" b="0" i="1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Refactoring to Patterns</a:t>
              </a: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  Boston, MA: Addison-Wesley,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381000" algn="l" rtl="0">
                <a:lnSpc>
                  <a:spcPct val="106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 panose="020B0604020202020204"/>
                <a:buNone/>
              </a:pPr>
              <a:r>
                <a:rPr lang="en-US" sz="2075" b="0" i="0" u="none" strike="noStrike" cap="none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2005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2362200" algn="l" rtl="0">
                <a:lnSpc>
                  <a:spcPct val="97000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 panose="020B0604020202020204"/>
                <a:buNone/>
              </a:pPr>
              <a:endParaRPr sz="1450" b="0" i="0" u="none" strike="noStrike" cap="none">
                <a:solidFill>
                  <a:srgbClr val="081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65" name="Google Shape;1365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187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 panose="020B0403020202020204"/>
                  <a:ea typeface="Helvetica Neue" panose="020B0403020202020204"/>
                  <a:cs typeface="Helvetica Neue" panose="020B0403020202020204"/>
                  <a:sym typeface="Helvetica Neue" panose="020B0403020202020204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Helvetica Neue" panose="020B0403020202020204"/>
                <a:ea typeface="Helvetica Neue" panose="020B0403020202020204"/>
                <a:cs typeface="Helvetica Neue" panose="020B0403020202020204"/>
                <a:sym typeface="Helvetica Neue" panose="020B0403020202020204"/>
              </a:endParaRPr>
            </a:p>
          </p:txBody>
        </p:sp>
      </p:grpSp>
      <p:pic>
        <p:nvPicPr>
          <p:cNvPr id="1367" name="Google Shape;1367;p65" descr="thumbnail_fdbd8478-4071-48f9-881e-7f6c58f17549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16970</Words>
  <Application>WPS Presentation</Application>
  <PresentationFormat/>
  <Paragraphs>1121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8" baseType="lpstr">
      <vt:lpstr>Arial</vt:lpstr>
      <vt:lpstr>SimSun</vt:lpstr>
      <vt:lpstr>Wingdings</vt:lpstr>
      <vt:lpstr>Arial</vt:lpstr>
      <vt:lpstr>Calibri</vt:lpstr>
      <vt:lpstr>Times New Roman</vt:lpstr>
      <vt:lpstr>Helvetica Neue</vt:lpstr>
      <vt:lpstr>Microsoft YaHei</vt:lpstr>
      <vt:lpstr>Arial Unicode MS</vt:lpstr>
      <vt:lpstr>Verdana</vt:lpstr>
      <vt:lpstr>Times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Naresh Jain</dc:creator>
  <cp:lastModifiedBy>Nancy</cp:lastModifiedBy>
  <cp:revision>1</cp:revision>
  <dcterms:created xsi:type="dcterms:W3CDTF">2026-01-14T04:51:48Z</dcterms:created>
  <dcterms:modified xsi:type="dcterms:W3CDTF">2026-01-14T04:51:50Z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3ADFE2C41AF24E1BA494FD9AA6574169_12</vt:lpwstr>
  </property>
  <property fmtid="{D5CDD505-2E9C-101B-9397-08002B2CF9AE}" pid="3" name="KSOProductBuildVer">
    <vt:lpwstr>1033-12.2.0.23196</vt:lpwstr>
  </property>
</Properties>
</file>