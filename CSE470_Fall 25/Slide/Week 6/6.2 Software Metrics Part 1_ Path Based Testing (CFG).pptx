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embeddedFontLst>
    <p:embeddedFont>
      <p:font typeface="Lexend Light"/>
      <p:regular r:id="rId32"/>
      <p:bold r:id="rId33"/>
    </p:embeddedFont>
    <p:embeddedFont>
      <p:font typeface="Lexend Medium"/>
      <p:regular r:id="rId34"/>
      <p:bold r:id="rId35"/>
    </p:embeddedFont>
    <p:embeddedFont>
      <p:font typeface="Lexend"/>
      <p:regular r:id="rId36"/>
      <p:bold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6.xml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LexendLight-bold.fntdata"/><Relationship Id="rId10" Type="http://schemas.openxmlformats.org/officeDocument/2006/relationships/slide" Target="slides/slide6.xml"/><Relationship Id="rId32" Type="http://schemas.openxmlformats.org/officeDocument/2006/relationships/font" Target="fonts/LexendLight-regular.fntdata"/><Relationship Id="rId13" Type="http://schemas.openxmlformats.org/officeDocument/2006/relationships/slide" Target="slides/slide9.xml"/><Relationship Id="rId35" Type="http://schemas.openxmlformats.org/officeDocument/2006/relationships/font" Target="fonts/LexendMedium-bold.fntdata"/><Relationship Id="rId12" Type="http://schemas.openxmlformats.org/officeDocument/2006/relationships/slide" Target="slides/slide8.xml"/><Relationship Id="rId34" Type="http://schemas.openxmlformats.org/officeDocument/2006/relationships/font" Target="fonts/LexendMedium-regular.fntdata"/><Relationship Id="rId15" Type="http://schemas.openxmlformats.org/officeDocument/2006/relationships/slide" Target="slides/slide11.xml"/><Relationship Id="rId37" Type="http://schemas.openxmlformats.org/officeDocument/2006/relationships/font" Target="fonts/Lexend-bold.fntdata"/><Relationship Id="rId14" Type="http://schemas.openxmlformats.org/officeDocument/2006/relationships/slide" Target="slides/slide10.xml"/><Relationship Id="rId36" Type="http://schemas.openxmlformats.org/officeDocument/2006/relationships/font" Target="fonts/Lexend-regular.fntdata"/><Relationship Id="rId17" Type="http://schemas.openxmlformats.org/officeDocument/2006/relationships/slide" Target="slides/slide13.xml"/><Relationship Id="rId39" Type="http://schemas.openxmlformats.org/officeDocument/2006/relationships/font" Target="fonts/RobotoMono-bold.fntdata"/><Relationship Id="rId16" Type="http://schemas.openxmlformats.org/officeDocument/2006/relationships/slide" Target="slides/slide12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5e99d5ac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5e99d5a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5e99d5ac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5e99d5a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e99d5ac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5e99d5a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5e99d5ac2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5e99d5ac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5e99d5ac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5e99d5a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7e2c0922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f7e2c092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606ddd8f3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606ddd8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606ddd8f3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606ddd8f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606ddd8f3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606ddd8f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606ddd8f3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606ddd8f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606ddd8f3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606ddd8f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f7e2c0922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f7e2c092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f7e2c092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f7e2c09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030f1b8b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030f1b8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030f1b8b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030f1b8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030f1b8bf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030f1b8b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030f1b8bf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b030f1b8b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030f1b8bf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030f1b8b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030f1b8bf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030f1b8b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0618ea29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0618ea29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0618ea29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0618ea29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0618ea296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0618ea29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0618ea29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0618ea29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0618ea296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0618ea29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0618ea29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b0618ea29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0618ea296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0618ea29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Path Based Testing (CFG)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CFG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An abstract representation of a structured program, function or method.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Consists of two major components: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Lexend"/>
              <a:buChar char="•"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Node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: Represents a stretch of sequential code statements with no branches.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exend"/>
              <a:buChar char="•"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Directed Edge (also called arc):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 Represents a branch, alternative path in execution.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Path: A collection of Nodes linked with Directed Edges.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Specifications of a CFG</a:t>
            </a:r>
            <a:endParaRPr/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CFG should have: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1 entry arc (known as a directed edge, too).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1 exit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nodes should have: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At least 1 entry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At least 1 exit arc.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Statements</a:t>
            </a:r>
            <a:endParaRPr/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95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general statements can be represented as one node as there is no branch.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2658150" y="3043575"/>
            <a:ext cx="2591700" cy="21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1;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2;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3</a:t>
            </a: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Statement 4</a:t>
            </a: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156800" y="3176475"/>
            <a:ext cx="474900" cy="19881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16"/>
          <p:cNvGrpSpPr/>
          <p:nvPr/>
        </p:nvGrpSpPr>
        <p:grpSpPr>
          <a:xfrm>
            <a:off x="6703825" y="3191325"/>
            <a:ext cx="1755900" cy="1825500"/>
            <a:chOff x="6172200" y="1676400"/>
            <a:chExt cx="1755900" cy="1825500"/>
          </a:xfrm>
        </p:grpSpPr>
        <p:sp>
          <p:nvSpPr>
            <p:cNvPr id="140" name="Google Shape;140;p16"/>
            <p:cNvSpPr/>
            <p:nvPr/>
          </p:nvSpPr>
          <p:spPr>
            <a:xfrm>
              <a:off x="6172200" y="1676400"/>
              <a:ext cx="17559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6781800" y="2286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2" name="Google Shape;142;p16"/>
            <p:cNvCxnSpPr/>
            <p:nvPr/>
          </p:nvCxnSpPr>
          <p:spPr>
            <a:xfrm>
              <a:off x="7086600" y="1828800"/>
              <a:ext cx="3300" cy="4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" name="Google Shape;143;p16"/>
            <p:cNvCxnSpPr/>
            <p:nvPr/>
          </p:nvCxnSpPr>
          <p:spPr>
            <a:xfrm>
              <a:off x="7086600" y="2743200"/>
              <a:ext cx="3300" cy="4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44" name="Google Shape;144;p16"/>
            <p:cNvSpPr txBox="1"/>
            <p:nvPr/>
          </p:nvSpPr>
          <p:spPr>
            <a:xfrm>
              <a:off x="61722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Conditions</a:t>
            </a:r>
            <a:endParaRPr/>
          </a:p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838200" y="1825625"/>
            <a:ext cx="10515600" cy="95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All general statements can be represented as one node as there is no branch.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382225" y="3043575"/>
            <a:ext cx="35220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X &gt; 0: {1}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Statement1; {2}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else: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Statement2; {3}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156800" y="3176475"/>
            <a:ext cx="474900" cy="19881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17"/>
          <p:cNvGrpSpPr/>
          <p:nvPr/>
        </p:nvGrpSpPr>
        <p:grpSpPr>
          <a:xfrm>
            <a:off x="6681675" y="3231975"/>
            <a:ext cx="3810000" cy="1877100"/>
            <a:chOff x="4648200" y="1600200"/>
            <a:chExt cx="3810000" cy="1877100"/>
          </a:xfrm>
        </p:grpSpPr>
        <p:sp>
          <p:nvSpPr>
            <p:cNvPr id="154" name="Google Shape;154;p17"/>
            <p:cNvSpPr/>
            <p:nvPr/>
          </p:nvSpPr>
          <p:spPr>
            <a:xfrm>
              <a:off x="4648200" y="1600200"/>
              <a:ext cx="38100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p17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56" name="Google Shape;156;p17"/>
            <p:cNvSpPr txBox="1"/>
            <p:nvPr/>
          </p:nvSpPr>
          <p:spPr>
            <a:xfrm>
              <a:off x="48006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5181600" y="21336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6248400" y="1828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9" name="Google Shape;159;p17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0" name="Google Shape;160;p17"/>
            <p:cNvSpPr/>
            <p:nvPr/>
          </p:nvSpPr>
          <p:spPr>
            <a:xfrm>
              <a:off x="6324600" y="2667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1" name="Google Shape;161;p17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2" name="Google Shape;162;p17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3" name="Google Shape;163;p17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4" name="Google Shape;164;p17"/>
            <p:cNvSpPr txBox="1"/>
            <p:nvPr/>
          </p:nvSpPr>
          <p:spPr>
            <a:xfrm>
              <a:off x="5867400" y="18288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5791200" y="28194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7239000" y="2209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7" name="Google Shape;167;p17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68" name="Google Shape;168;p17"/>
          <p:cNvSpPr txBox="1"/>
          <p:nvPr/>
        </p:nvSpPr>
        <p:spPr>
          <a:xfrm>
            <a:off x="1222750" y="5568800"/>
            <a:ext cx="765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{} -&gt; is denoting the node numbers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Node</a:t>
            </a:r>
            <a:endParaRPr/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Logical Node that does not represent any actual statements can be added as a joining point for several incoming edges.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Represents a logical closure.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Example: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Node 4 from previous example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18"/>
          <p:cNvGrpSpPr/>
          <p:nvPr/>
        </p:nvGrpSpPr>
        <p:grpSpPr>
          <a:xfrm>
            <a:off x="7106975" y="3152250"/>
            <a:ext cx="3810000" cy="1877100"/>
            <a:chOff x="4648200" y="1600200"/>
            <a:chExt cx="3810000" cy="1877100"/>
          </a:xfrm>
        </p:grpSpPr>
        <p:sp>
          <p:nvSpPr>
            <p:cNvPr id="176" name="Google Shape;176;p18"/>
            <p:cNvSpPr/>
            <p:nvPr/>
          </p:nvSpPr>
          <p:spPr>
            <a:xfrm>
              <a:off x="4648200" y="1600200"/>
              <a:ext cx="3810000" cy="182550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" name="Google Shape;177;p18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8" name="Google Shape;178;p18"/>
            <p:cNvSpPr txBox="1"/>
            <p:nvPr/>
          </p:nvSpPr>
          <p:spPr>
            <a:xfrm>
              <a:off x="4800600" y="3200400"/>
              <a:ext cx="6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181600" y="21336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6248400" y="1828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1" name="Google Shape;181;p18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2" name="Google Shape;182;p18"/>
            <p:cNvSpPr/>
            <p:nvPr/>
          </p:nvSpPr>
          <p:spPr>
            <a:xfrm>
              <a:off x="6324600" y="26670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3" name="Google Shape;183;p18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" name="Google Shape;184;p18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5" name="Google Shape;185;p18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6" name="Google Shape;186;p18"/>
            <p:cNvSpPr txBox="1"/>
            <p:nvPr/>
          </p:nvSpPr>
          <p:spPr>
            <a:xfrm>
              <a:off x="5867400" y="18288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5791200" y="2819400"/>
              <a:ext cx="45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7239000" y="2209800"/>
              <a:ext cx="609600" cy="4668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9" name="Google Shape;189;p18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Every loop has 3 parts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: Initialization, Condition, Increment or Decrement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So in CFG we identify each of them as a 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separate</a:t>
            </a:r>
            <a:r>
              <a:rPr lang="en-US">
                <a:latin typeface="Lexend"/>
                <a:ea typeface="Lexend"/>
                <a:cs typeface="Lexend"/>
                <a:sym typeface="Lexend"/>
              </a:rPr>
              <a:t> node.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Here we will discuss 2 types of loops: While and For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While Loops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089825" y="6033975"/>
            <a:ext cx="765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Node-5 is a logical node here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838200" y="1894925"/>
            <a:ext cx="6564600" cy="35676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 =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-&gt; Initialization {1}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(n &lt;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-&gt; Condition {2}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-&gt; Body Statement {3}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n +=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-&gt;Increment {4}</a:t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03" name="Google Shape;203;p20" title="while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3825" y="1120450"/>
            <a:ext cx="3029975" cy="46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Loops</a:t>
            </a:r>
            <a:endParaRPr/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Python implement for-loop a bit differently than others. It achieves the same functionality as the other for-loops using the range() function.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range() has 3 main parameters: Start, Stop and Step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To simplify things, we will consider the following: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Start -&gt; Initialization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Stop -&gt; Condition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Step -&gt; Increment/Decrement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Loops</a:t>
            </a:r>
            <a:endParaRPr/>
          </a:p>
        </p:txBody>
      </p:sp>
      <p:pic>
        <p:nvPicPr>
          <p:cNvPr id="215" name="Google Shape;215;p22" title="for-loop-cfg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500" y="1062913"/>
            <a:ext cx="3477300" cy="529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/>
          <p:nvPr/>
        </p:nvSpPr>
        <p:spPr>
          <a:xfrm>
            <a:off x="838200" y="1550500"/>
            <a:ext cx="6571500" cy="49110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3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3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#{1, 2, 3}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n-US" sz="23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(n) </a:t>
            </a:r>
            <a:r>
              <a:rPr b="1" lang="en-US" sz="2300">
                <a:solidFill>
                  <a:srgbClr val="008000"/>
                </a:solidFill>
                <a:latin typeface="Roboto Mono"/>
                <a:ea typeface="Roboto Mono"/>
                <a:cs typeface="Roboto Mono"/>
                <a:sym typeface="Roboto Mono"/>
              </a:rPr>
              <a:t>#{4}</a:t>
            </a:r>
            <a:endParaRPr b="1" sz="2300">
              <a:solidFill>
                <a:srgbClr val="008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Combined Example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838200" y="1762000"/>
            <a:ext cx="6564600" cy="44181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5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Even"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5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23" name="Google Shape;223;p23" title="for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550" y="1155100"/>
            <a:ext cx="3749325" cy="530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Even"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break 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{7}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0" name="Google Shape;230;p24" title="loop-break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1875" y="1616325"/>
            <a:ext cx="3151925" cy="48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</a:t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b="1" lang="en-US" sz="2400">
                <a:latin typeface="Roboto Mono"/>
                <a:ea typeface="Roboto Mono"/>
                <a:cs typeface="Roboto Mono"/>
                <a:sym typeface="Roboto Mono"/>
              </a:rPr>
              <a:t>{1,2,3}</a:t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 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"test"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7" name="Google Shape;237;p25" title="for-loop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550" y="1155100"/>
            <a:ext cx="3749325" cy="530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Continue</a:t>
            </a:r>
            <a:endParaRPr/>
          </a:p>
        </p:txBody>
      </p:sp>
      <p:sp>
        <p:nvSpPr>
          <p:cNvPr id="243" name="Google Shape;243;p26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{1,2,3}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(i %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b="1" lang="en-US" sz="2400">
                <a:solidFill>
                  <a:srgbClr val="116644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 {4}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continue</a:t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"test"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{5}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40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240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240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{i}</a:t>
            </a:r>
            <a:r>
              <a:rPr b="1" lang="en-US" sz="2400">
                <a:solidFill>
                  <a:srgbClr val="A31515"/>
                </a:solidFill>
                <a:latin typeface="Roboto Mono"/>
                <a:ea typeface="Roboto Mono"/>
                <a:cs typeface="Roboto Mono"/>
                <a:sym typeface="Roboto Mono"/>
              </a:rPr>
              <a:t> is Odd"</a:t>
            </a:r>
            <a:r>
              <a:rPr b="1" lang="en-US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{6}</a:t>
            </a:r>
            <a:endParaRPr b="1"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4" name="Google Shape;244;p26" title="continue-cf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425" y="1810275"/>
            <a:ext cx="2797354" cy="44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Number of Paths</a:t>
            </a:r>
            <a:endParaRPr/>
          </a:p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program, how do we exercise all statements and branches at least once?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Translating the program into a CFG, an equivalent question is: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CFG, how do we cover all arcs and nodes at least once?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Since a path is a trail of nodes linked by arcs, this is similar to ask: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Given a CFG, what is the set of paths that can cover all arcs and nodes?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914400" y="1676400"/>
            <a:ext cx="1755900" cy="18255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1524000" y="22860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8" name="Google Shape;258;p28"/>
          <p:cNvCxnSpPr/>
          <p:nvPr/>
        </p:nvCxnSpPr>
        <p:spPr>
          <a:xfrm>
            <a:off x="1828800" y="1828800"/>
            <a:ext cx="3300" cy="46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28"/>
          <p:cNvCxnSpPr/>
          <p:nvPr/>
        </p:nvCxnSpPr>
        <p:spPr>
          <a:xfrm>
            <a:off x="1828800" y="2743200"/>
            <a:ext cx="3300" cy="46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28"/>
          <p:cNvSpPr txBox="1"/>
          <p:nvPr/>
        </p:nvSpPr>
        <p:spPr>
          <a:xfrm>
            <a:off x="914400" y="32004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762000" y="3581400"/>
            <a:ext cx="398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Only </a:t>
            </a:r>
            <a:r>
              <a:rPr b="1" lang="en-US" sz="2000">
                <a:solidFill>
                  <a:srgbClr val="000000"/>
                </a:solidFill>
              </a:rPr>
              <a:t>one </a:t>
            </a:r>
            <a:r>
              <a:rPr lang="en-US" sz="2000">
                <a:solidFill>
                  <a:srgbClr val="000000"/>
                </a:solidFill>
              </a:rPr>
              <a:t>path is needed: 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r>
              <a:rPr b="1" lang="en-US" sz="2000">
                <a:solidFill>
                  <a:schemeClr val="dk1"/>
                </a:solidFill>
              </a:rPr>
              <a:t>[ 1 ]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8030225" y="3371850"/>
            <a:ext cx="3429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7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7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3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7091250" y="489585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7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667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 – 3 – 4 ]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8" title="condition-cfg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525" y="4543828"/>
            <a:ext cx="4345725" cy="19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 title="condition-cfg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1250" y="1447930"/>
            <a:ext cx="3981483" cy="17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White Box Testing: Path Based</a:t>
            </a:r>
            <a:endParaRPr/>
          </a:p>
        </p:txBody>
      </p:sp>
      <p:sp>
        <p:nvSpPr>
          <p:cNvPr id="271" name="Google Shape;271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A generalized technique to find out the number of paths needed (known as cyclomatic complexity) to cover all arcs and nodes in CFG.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Steps: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Draw the CFG for the code fragment.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Compute the cyclomatic complexity number C, for the CFG.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Find at most C paths that cover the nodes and arcs in a CFG, also known as Basic Paths Set;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Design test cases to force execution along paths in the Basic Paths Set.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788575" y="435325"/>
            <a:ext cx="10515600" cy="125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Based Testing: Step 1</a:t>
            </a:r>
            <a:endParaRPr/>
          </a:p>
        </p:txBody>
      </p:sp>
      <p:sp>
        <p:nvSpPr>
          <p:cNvPr id="277" name="Google Shape;277;p30"/>
          <p:cNvSpPr/>
          <p:nvPr/>
        </p:nvSpPr>
        <p:spPr>
          <a:xfrm>
            <a:off x="838200" y="1810275"/>
            <a:ext cx="67110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,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= A[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 &lt; </a:t>
            </a: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(A)):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{2}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(A[i] &lt; min):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{3}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min = A[i]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{4}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 = i +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{5}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(min)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{6}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7913275" y="1690825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30"/>
          <p:cNvCxnSpPr/>
          <p:nvPr/>
        </p:nvCxnSpPr>
        <p:spPr>
          <a:xfrm>
            <a:off x="9475375" y="169082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0" name="Google Shape;280;p30"/>
          <p:cNvSpPr txBox="1"/>
          <p:nvPr/>
        </p:nvSpPr>
        <p:spPr>
          <a:xfrm>
            <a:off x="9627775" y="58782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9170575" y="2220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9170575" y="2982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3" name="Google Shape;283;p30"/>
          <p:cNvCxnSpPr/>
          <p:nvPr/>
        </p:nvCxnSpPr>
        <p:spPr>
          <a:xfrm>
            <a:off x="9475375" y="26778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4" name="Google Shape;284;p30"/>
          <p:cNvSpPr/>
          <p:nvPr/>
        </p:nvSpPr>
        <p:spPr>
          <a:xfrm>
            <a:off x="9932575" y="36684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9932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8789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10694575" y="4384507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8" name="Google Shape;288;p30"/>
          <p:cNvCxnSpPr/>
          <p:nvPr/>
        </p:nvCxnSpPr>
        <p:spPr>
          <a:xfrm>
            <a:off x="9780175" y="3287400"/>
            <a:ext cx="338100" cy="3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p30"/>
          <p:cNvCxnSpPr/>
          <p:nvPr/>
        </p:nvCxnSpPr>
        <p:spPr>
          <a:xfrm flipH="1">
            <a:off x="9627775" y="41256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30"/>
          <p:cNvSpPr/>
          <p:nvPr/>
        </p:nvSpPr>
        <p:spPr>
          <a:xfrm>
            <a:off x="9270371" y="443256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8256175" y="49638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30"/>
          <p:cNvSpPr txBox="1"/>
          <p:nvPr/>
        </p:nvSpPr>
        <p:spPr>
          <a:xfrm>
            <a:off x="10465975" y="40494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30"/>
          <p:cNvCxnSpPr/>
          <p:nvPr/>
        </p:nvCxnSpPr>
        <p:spPr>
          <a:xfrm>
            <a:off x="10389775" y="4125599"/>
            <a:ext cx="533400" cy="30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30"/>
          <p:cNvSpPr txBox="1"/>
          <p:nvPr/>
        </p:nvSpPr>
        <p:spPr>
          <a:xfrm>
            <a:off x="9589671" y="390523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30"/>
          <p:cNvCxnSpPr/>
          <p:nvPr/>
        </p:nvCxnSpPr>
        <p:spPr>
          <a:xfrm flipH="1">
            <a:off x="8560975" y="33636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30"/>
          <p:cNvCxnSpPr/>
          <p:nvPr/>
        </p:nvCxnSpPr>
        <p:spPr>
          <a:xfrm>
            <a:off x="8560975" y="54210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30"/>
          <p:cNvCxnSpPr/>
          <p:nvPr/>
        </p:nvCxnSpPr>
        <p:spPr>
          <a:xfrm rot="10800000">
            <a:off x="9880073" y="4659027"/>
            <a:ext cx="814500" cy="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" name="Google Shape;298;p30"/>
          <p:cNvCxnSpPr>
            <a:stCxn id="290" idx="1"/>
            <a:endCxn id="282" idx="4"/>
          </p:cNvCxnSpPr>
          <p:nvPr/>
        </p:nvCxnSpPr>
        <p:spPr>
          <a:xfrm flipH="1" rot="10800000">
            <a:off x="9359645" y="3449426"/>
            <a:ext cx="115800" cy="105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04" name="Google Shape;304;p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1.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R + 1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R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regions in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2. 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b="1" lang="en-US" sz="2400"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P + 1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P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predicate nodes in the graph.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520"/>
              <a:buFont typeface="Noto Sans Symbols"/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3.   The complexity M is then defined as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B592"/>
              </a:buClr>
              <a:buSzPts val="1824"/>
              <a:buFont typeface="Noto Sans Symbols"/>
              <a:buNone/>
            </a:pP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			</a:t>
            </a:r>
            <a:r>
              <a:rPr b="1" lang="en-US" sz="2400">
                <a:solidFill>
                  <a:srgbClr val="0070C0"/>
                </a:solidFill>
                <a:latin typeface="Lexend"/>
                <a:ea typeface="Lexend"/>
                <a:cs typeface="Lexend"/>
                <a:sym typeface="Lexend"/>
              </a:rPr>
              <a:t>M = E − N + 2P</a:t>
            </a:r>
            <a:r>
              <a:rPr lang="en-US" sz="2400">
                <a:latin typeface="Lexend"/>
                <a:ea typeface="Lexend"/>
                <a:cs typeface="Lexend"/>
                <a:sym typeface="Lexend"/>
              </a:rPr>
              <a:t>,where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edges of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nodes of the graph.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Lexend"/>
              <a:buChar char="🞂"/>
            </a:pPr>
            <a:r>
              <a:rPr i="1" lang="en-US" sz="2000">
                <a:latin typeface="Lexend"/>
                <a:ea typeface="Lexend"/>
                <a:cs typeface="Lexend"/>
                <a:sym typeface="Lexend"/>
              </a:rPr>
              <a:t>P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= the number of connected components.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10" name="Google Shape;310;p32"/>
          <p:cNvSpPr txBox="1"/>
          <p:nvPr/>
        </p:nvSpPr>
        <p:spPr>
          <a:xfrm>
            <a:off x="838200" y="1943750"/>
            <a:ext cx="6717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of ‘regions’ in the graph( R ) 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R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2 + 1 =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1" name="Google Shape;311;p32" title="CFG_PB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950" y="1943750"/>
            <a:ext cx="3740350" cy="39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17" name="Google Shape;317;p33"/>
          <p:cNvSpPr txBox="1"/>
          <p:nvPr/>
        </p:nvSpPr>
        <p:spPr>
          <a:xfrm>
            <a:off x="838200" y="1943750"/>
            <a:ext cx="67176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number of ‘predicate’ nodes ( P ) 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P + 1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= 2 + 1 =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Here, Predicate node means Decision Node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8" name="Google Shape;318;p33" title="CFG_PBT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8200" y="1843225"/>
            <a:ext cx="3545075" cy="37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Connected Component in a Graph</a:t>
            </a:r>
            <a:endParaRPr/>
          </a:p>
        </p:txBody>
      </p:sp>
      <p:pic>
        <p:nvPicPr>
          <p:cNvPr id="324" name="Google Shape;324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5650" y="1856975"/>
            <a:ext cx="6080700" cy="42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30" name="Google Shape;330;p35"/>
          <p:cNvSpPr txBox="1"/>
          <p:nvPr/>
        </p:nvSpPr>
        <p:spPr>
          <a:xfrm>
            <a:off x="838200" y="1943750"/>
            <a:ext cx="6717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Cyclomatic complexity, M =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 − N + 2P, Where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E, edges = 7 </a:t>
            </a:r>
            <a:r>
              <a:rPr lang="en-US" sz="2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(exclude: entry, exit arc)</a:t>
            </a:r>
            <a:endParaRPr sz="23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N, nodes = 6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P, connected components = 1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7 – 6 + (2x1)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●"/>
            </a:pPr>
            <a:r>
              <a:rPr lang="en-US" sz="2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3</a:t>
            </a:r>
            <a:endParaRPr sz="2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1" name="Google Shape;331;p35" title="CFG_PB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950" y="1943750"/>
            <a:ext cx="3740350" cy="39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5"/>
          <p:cNvSpPr/>
          <p:nvPr/>
        </p:nvSpPr>
        <p:spPr>
          <a:xfrm>
            <a:off x="9140675" y="4007150"/>
            <a:ext cx="488400" cy="28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10137475" y="4854425"/>
            <a:ext cx="418800" cy="23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339" name="Google Shape;339;p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Independent path: 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executable 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or realizable path through the graph from the start node to the end node that has not been traversed before.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Must move along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at least one arc that has not been yet traversed</a:t>
            </a: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 (an unvisited arc).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Char char="•"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objective is to cover all statements in a program by independent paths.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number of independent paths to discover &lt;= Cyclomatic complexity number,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set of Independent paths is called </a:t>
            </a:r>
            <a:r>
              <a:rPr b="1" lang="en-US" sz="2000">
                <a:latin typeface="Lexend"/>
                <a:ea typeface="Lexend"/>
                <a:cs typeface="Lexend"/>
                <a:sym typeface="Lexend"/>
              </a:rPr>
              <a:t>Basic Path Set</a:t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45" name="Google Shape;345;p37"/>
          <p:cNvSpPr txBox="1"/>
          <p:nvPr>
            <p:ph idx="1" type="body"/>
          </p:nvPr>
        </p:nvSpPr>
        <p:spPr>
          <a:xfrm>
            <a:off x="838200" y="3514275"/>
            <a:ext cx="10515600" cy="289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M = Regions + 1 = 2 + 1 = 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1-2-3-5 can be the first independent path; 1-2-4-5 is another; 1-2-3-5-2-4-5 is one more.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Alternatively, if we had identified 1-2-3-5-2-4-5 as the first independent path, there would be no more independent paths. 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"/>
                <a:ea typeface="Lexend"/>
                <a:cs typeface="Lexend"/>
                <a:sym typeface="Lexend"/>
              </a:rPr>
              <a:t>The number of independent paths therefore can vary according to the order we identify them.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6" name="Google Shape;346;p37"/>
          <p:cNvPicPr preferRelativeResize="0"/>
          <p:nvPr/>
        </p:nvPicPr>
        <p:blipFill rotWithShape="1">
          <a:blip r:embed="rId3">
            <a:alphaModFix/>
          </a:blip>
          <a:srcRect b="21094" l="25999" r="34499" t="57030"/>
          <a:stretch/>
        </p:blipFill>
        <p:spPr>
          <a:xfrm>
            <a:off x="2496875" y="1380675"/>
            <a:ext cx="6019800" cy="213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352" name="Google Shape;352;p38"/>
          <p:cNvSpPr txBox="1"/>
          <p:nvPr>
            <p:ph idx="1" type="body"/>
          </p:nvPr>
        </p:nvSpPr>
        <p:spPr>
          <a:xfrm>
            <a:off x="838200" y="1825625"/>
            <a:ext cx="68271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Cyclomatic complexity = 3.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Need at most 3 independent paths to cover the CFG.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Lexend Medium"/>
                <a:ea typeface="Lexend Medium"/>
                <a:cs typeface="Lexend Medium"/>
                <a:sym typeface="Lexend Medium"/>
              </a:rPr>
              <a:t>In this example:</a:t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6 ]</a:t>
            </a:r>
            <a:endParaRPr sz="2000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3 – 5 – 2 – 6 ]</a:t>
            </a:r>
            <a:endParaRPr sz="20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Lexend Medium"/>
              <a:buChar char="•"/>
            </a:pPr>
            <a:r>
              <a:rPr lang="en-US" sz="20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[ 1 – 2 – 3 – 4 – 5 – 2 – 6]</a:t>
            </a:r>
            <a:endParaRPr sz="20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8"/>
          <p:cNvSpPr/>
          <p:nvPr/>
        </p:nvSpPr>
        <p:spPr>
          <a:xfrm>
            <a:off x="7913275" y="1690825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38"/>
          <p:cNvCxnSpPr/>
          <p:nvPr/>
        </p:nvCxnSpPr>
        <p:spPr>
          <a:xfrm>
            <a:off x="9475375" y="169082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38"/>
          <p:cNvSpPr txBox="1"/>
          <p:nvPr/>
        </p:nvSpPr>
        <p:spPr>
          <a:xfrm>
            <a:off x="9627775" y="5878200"/>
            <a:ext cx="60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8"/>
          <p:cNvSpPr/>
          <p:nvPr/>
        </p:nvSpPr>
        <p:spPr>
          <a:xfrm>
            <a:off x="9170575" y="2220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7" name="Google Shape;357;p38"/>
          <p:cNvSpPr/>
          <p:nvPr/>
        </p:nvSpPr>
        <p:spPr>
          <a:xfrm>
            <a:off x="9170575" y="29826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58" name="Google Shape;358;p38"/>
          <p:cNvCxnSpPr/>
          <p:nvPr/>
        </p:nvCxnSpPr>
        <p:spPr>
          <a:xfrm>
            <a:off x="9475375" y="26778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9" name="Google Shape;359;p38"/>
          <p:cNvSpPr/>
          <p:nvPr/>
        </p:nvSpPr>
        <p:spPr>
          <a:xfrm>
            <a:off x="9932575" y="36684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0" name="Google Shape;360;p38"/>
          <p:cNvSpPr txBox="1"/>
          <p:nvPr/>
        </p:nvSpPr>
        <p:spPr>
          <a:xfrm>
            <a:off x="9932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8"/>
          <p:cNvSpPr txBox="1"/>
          <p:nvPr/>
        </p:nvSpPr>
        <p:spPr>
          <a:xfrm>
            <a:off x="8789575" y="33636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8"/>
          <p:cNvSpPr/>
          <p:nvPr/>
        </p:nvSpPr>
        <p:spPr>
          <a:xfrm>
            <a:off x="10694575" y="4384507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63" name="Google Shape;363;p38"/>
          <p:cNvCxnSpPr/>
          <p:nvPr/>
        </p:nvCxnSpPr>
        <p:spPr>
          <a:xfrm>
            <a:off x="9780175" y="3287400"/>
            <a:ext cx="338100" cy="3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38"/>
          <p:cNvCxnSpPr/>
          <p:nvPr/>
        </p:nvCxnSpPr>
        <p:spPr>
          <a:xfrm flipH="1">
            <a:off x="9627775" y="41256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5" name="Google Shape;365;p38"/>
          <p:cNvSpPr/>
          <p:nvPr/>
        </p:nvSpPr>
        <p:spPr>
          <a:xfrm>
            <a:off x="9270371" y="4432565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6" name="Google Shape;366;p38"/>
          <p:cNvSpPr/>
          <p:nvPr/>
        </p:nvSpPr>
        <p:spPr>
          <a:xfrm>
            <a:off x="8256175" y="4963800"/>
            <a:ext cx="609600" cy="4668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7" name="Google Shape;367;p38"/>
          <p:cNvSpPr txBox="1"/>
          <p:nvPr/>
        </p:nvSpPr>
        <p:spPr>
          <a:xfrm>
            <a:off x="10465975" y="40494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38"/>
          <p:cNvCxnSpPr/>
          <p:nvPr/>
        </p:nvCxnSpPr>
        <p:spPr>
          <a:xfrm>
            <a:off x="10389775" y="4125599"/>
            <a:ext cx="533400" cy="30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9" name="Google Shape;369;p38"/>
          <p:cNvSpPr txBox="1"/>
          <p:nvPr/>
        </p:nvSpPr>
        <p:spPr>
          <a:xfrm>
            <a:off x="9589671" y="390523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38"/>
          <p:cNvCxnSpPr/>
          <p:nvPr/>
        </p:nvCxnSpPr>
        <p:spPr>
          <a:xfrm flipH="1">
            <a:off x="8560975" y="33636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p38"/>
          <p:cNvCxnSpPr/>
          <p:nvPr/>
        </p:nvCxnSpPr>
        <p:spPr>
          <a:xfrm>
            <a:off x="8560975" y="54210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2" name="Google Shape;372;p38"/>
          <p:cNvCxnSpPr/>
          <p:nvPr/>
        </p:nvCxnSpPr>
        <p:spPr>
          <a:xfrm rot="10800000">
            <a:off x="9880073" y="4659027"/>
            <a:ext cx="814500" cy="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" name="Google Shape;373;p38"/>
          <p:cNvCxnSpPr>
            <a:stCxn id="365" idx="1"/>
            <a:endCxn id="357" idx="4"/>
          </p:cNvCxnSpPr>
          <p:nvPr/>
        </p:nvCxnSpPr>
        <p:spPr>
          <a:xfrm flipH="1" rot="10800000">
            <a:off x="9359645" y="3449426"/>
            <a:ext cx="115800" cy="105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type="title"/>
          </p:nvPr>
        </p:nvSpPr>
        <p:spPr>
          <a:xfrm>
            <a:off x="788575" y="435325"/>
            <a:ext cx="10515600" cy="1229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Based Testing: Step 1</a:t>
            </a:r>
            <a:endParaRPr/>
          </a:p>
        </p:txBody>
      </p:sp>
      <p:sp>
        <p:nvSpPr>
          <p:cNvPr id="379" name="Google Shape;379;p39"/>
          <p:cNvSpPr/>
          <p:nvPr/>
        </p:nvSpPr>
        <p:spPr>
          <a:xfrm>
            <a:off x="6510475" y="1720575"/>
            <a:ext cx="4793700" cy="4465500"/>
          </a:xfrm>
          <a:prstGeom prst="roundRect">
            <a:avLst>
              <a:gd fmla="val 660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,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 = A[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{1}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 &lt;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): {2}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100">
                <a:solidFill>
                  <a:srgbClr val="9723B4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(A[i] &lt; min): {3}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min = A[i] {4}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 = i + </a:t>
            </a:r>
            <a:r>
              <a:rPr b="1" lang="en-US" sz="2100">
                <a:solidFill>
                  <a:srgbClr val="116644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{5}</a:t>
            </a:r>
            <a:endParaRPr b="1" sz="2100">
              <a:solidFill>
                <a:srgbClr val="1166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6A5221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-US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(min) {6}</a:t>
            </a:r>
            <a:endParaRPr b="1"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0" name="Google Shape;380;p39"/>
          <p:cNvSpPr txBox="1"/>
          <p:nvPr/>
        </p:nvSpPr>
        <p:spPr>
          <a:xfrm>
            <a:off x="618025" y="1883950"/>
            <a:ext cx="5741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Prepare a test case for each independent path.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this example: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Path: [ 1 – 2 – 6 ]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Test Case:  A = { 5, …}, N = 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Expected Output: 5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