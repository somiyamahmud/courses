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Lexen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regular.fnt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Lexend-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4a710a4e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4a710a4e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4a710a4e6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4a710a4e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4a710a4e6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4a710a4e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4a710a4e6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4a710a4e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4a710a4e6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4a710a4e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4a710a4e6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4a710a4e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4a710a4e6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4a710a4e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4a710a4e6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4a710a4e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4a710a4e6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4a710a4e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4a710a4e6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4a710a4e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4a710a4e6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4a710a4e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Repository, Client Server </a:t>
            </a:r>
            <a:r>
              <a:rPr lang="en-US" sz="3300"/>
              <a:t>Architecture</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a Repository</a:t>
            </a:r>
            <a:endParaRPr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Before going into repository design pattern let's first understand what is repository:</a:t>
            </a:r>
            <a:endParaRPr/>
          </a:p>
          <a:p>
            <a:pPr indent="-406400" lvl="0" marL="457200" rtl="0" algn="l">
              <a:spcBef>
                <a:spcPts val="1000"/>
              </a:spcBef>
              <a:spcAft>
                <a:spcPts val="0"/>
              </a:spcAft>
              <a:buSzPts val="2800"/>
              <a:buFont typeface="Calibri"/>
              <a:buChar char="•"/>
            </a:pPr>
            <a:r>
              <a:rPr lang="en-US"/>
              <a:t>In generic terms repository simply means a place where things are or can be stored.</a:t>
            </a:r>
            <a:endParaRPr/>
          </a:p>
          <a:p>
            <a:pPr indent="-406400" lvl="0" marL="457200" rtl="0" algn="l">
              <a:spcBef>
                <a:spcPts val="0"/>
              </a:spcBef>
              <a:spcAft>
                <a:spcPts val="0"/>
              </a:spcAft>
              <a:buSzPts val="2800"/>
              <a:buFont typeface="Calibri"/>
              <a:buChar char="•"/>
            </a:pPr>
            <a:r>
              <a:rPr lang="en-US"/>
              <a:t>This term has wide array of use in computer science for example code repository.</a:t>
            </a:r>
            <a:endParaRPr/>
          </a:p>
          <a:p>
            <a:pPr indent="-406400" lvl="0" marL="457200" rtl="0" algn="l">
              <a:spcBef>
                <a:spcPts val="0"/>
              </a:spcBef>
              <a:spcAft>
                <a:spcPts val="0"/>
              </a:spcAft>
              <a:buSzPts val="2800"/>
              <a:buFont typeface="Calibri"/>
              <a:buChar char="•"/>
            </a:pPr>
            <a:r>
              <a:rPr lang="en-US"/>
              <a:t>We are all familiar with GITHUB. it’s a code repository</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a Repository Architecture</a:t>
            </a:r>
            <a:endParaRPr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Font typeface="Calibri"/>
              <a:buChar char="●"/>
            </a:pPr>
            <a:r>
              <a:rPr lang="en-US" sz="2400"/>
              <a:t>It will have multiple sub systems.</a:t>
            </a:r>
            <a:endParaRPr sz="2400"/>
          </a:p>
          <a:p>
            <a:pPr indent="-381000" lvl="0" marL="457200" rtl="0" algn="l">
              <a:spcBef>
                <a:spcPts val="0"/>
              </a:spcBef>
              <a:spcAft>
                <a:spcPts val="0"/>
              </a:spcAft>
              <a:buSzPts val="2400"/>
              <a:buFont typeface="Calibri"/>
              <a:buChar char="●"/>
            </a:pPr>
            <a:r>
              <a:rPr lang="en-US" sz="2400"/>
              <a:t>Sub-systems must exchange data. This may be done in two ways:</a:t>
            </a:r>
            <a:endParaRPr sz="2400"/>
          </a:p>
          <a:p>
            <a:pPr indent="-374650" lvl="1" marL="914400" rtl="0" algn="l">
              <a:spcBef>
                <a:spcPts val="0"/>
              </a:spcBef>
              <a:spcAft>
                <a:spcPts val="0"/>
              </a:spcAft>
              <a:buSzPts val="2300"/>
              <a:buFont typeface="Calibri"/>
              <a:buChar char="○"/>
            </a:pPr>
            <a:r>
              <a:rPr lang="en-US" sz="2300"/>
              <a:t>Shared data is held in a central database or repository and may be accessed by all sub-systems;</a:t>
            </a:r>
            <a:endParaRPr sz="2300"/>
          </a:p>
          <a:p>
            <a:pPr indent="-374650" lvl="1" marL="914400" rtl="0" algn="l">
              <a:spcBef>
                <a:spcPts val="0"/>
              </a:spcBef>
              <a:spcAft>
                <a:spcPts val="0"/>
              </a:spcAft>
              <a:buSzPts val="2300"/>
              <a:buFont typeface="Calibri"/>
              <a:buChar char="○"/>
            </a:pPr>
            <a:r>
              <a:rPr lang="en-US" sz="2300"/>
              <a:t>Each sub-system maintains its own database and passes data explicitly to other sub-systems.</a:t>
            </a:r>
            <a:endParaRPr sz="2300"/>
          </a:p>
          <a:p>
            <a:pPr indent="0" lvl="0" marL="0" rtl="0" algn="l">
              <a:spcBef>
                <a:spcPts val="1000"/>
              </a:spcBef>
              <a:spcAft>
                <a:spcPts val="0"/>
              </a:spcAft>
              <a:buNone/>
            </a:pPr>
            <a:r>
              <a:t/>
            </a:r>
            <a:endParaRPr sz="2400"/>
          </a:p>
          <a:p>
            <a:pPr indent="0" lvl="0" marL="0" rtl="0" algn="l">
              <a:spcBef>
                <a:spcPts val="0"/>
              </a:spcBef>
              <a:spcAft>
                <a:spcPts val="0"/>
              </a:spcAft>
              <a:buNone/>
            </a:pPr>
            <a:r>
              <a:rPr lang="en-US" sz="2400"/>
              <a:t>When large amounts of data are to be shared, the repository model of sharing is most commonly used as this is an efficient data sharing mechanism.</a:t>
            </a:r>
            <a:endParaRPr sz="2400"/>
          </a:p>
          <a:p>
            <a:pPr indent="0" lvl="0" marL="0" rtl="0" algn="l">
              <a:spcBef>
                <a:spcPts val="0"/>
              </a:spcBef>
              <a:spcAft>
                <a:spcPts val="0"/>
              </a:spcAft>
              <a:buNone/>
            </a:pPr>
            <a:r>
              <a:t/>
            </a:r>
            <a:endParaRPr sz="2400"/>
          </a:p>
          <a:p>
            <a:pPr indent="0" lvl="0" marL="0" rtl="0" algn="l">
              <a:spcBef>
                <a:spcPts val="1000"/>
              </a:spcBef>
              <a:spcAft>
                <a:spcPts val="0"/>
              </a:spcAft>
              <a:buNone/>
            </a:pPr>
            <a:r>
              <a:rPr lang="en-US" sz="2400"/>
              <a:t>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Formal </a:t>
            </a:r>
            <a:r>
              <a:rPr lang="en-US" sz="3300">
                <a:latin typeface="Lexend"/>
                <a:ea typeface="Lexend"/>
                <a:cs typeface="Lexend"/>
                <a:sym typeface="Lexend"/>
              </a:rPr>
              <a:t>Definition</a:t>
            </a:r>
            <a:r>
              <a:rPr lang="en-US" sz="3300">
                <a:latin typeface="Lexend"/>
                <a:ea typeface="Lexend"/>
                <a:cs typeface="Lexend"/>
                <a:sym typeface="Lexend"/>
              </a:rPr>
              <a:t> </a:t>
            </a:r>
            <a:endParaRPr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2400"/>
              <a:t>A Repository mediates between the domain and data mapping layers, acting like an in-memory domain object collection. Client objects construct query specifications declaratively and submit them to Repository for satisfaction. Objects can be added to and removed from the Repository, as they can from a simple collection of objects, and the mapping code encapsulated by the Repository will carry out the appropriate operations behind the scenes.</a:t>
            </a:r>
            <a:endParaRPr sz="2400"/>
          </a:p>
          <a:p>
            <a:pPr indent="0" lvl="0" marL="0" rtl="0" algn="l">
              <a:spcBef>
                <a:spcPts val="1000"/>
              </a:spcBef>
              <a:spcAft>
                <a:spcPts val="0"/>
              </a:spcAft>
              <a:buNone/>
            </a:pPr>
            <a:r>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Example</a:t>
            </a:r>
            <a:endParaRPr sz="3300">
              <a:latin typeface="Lexend"/>
              <a:ea typeface="Lexend"/>
              <a:cs typeface="Lexend"/>
              <a:sym typeface="Lexend"/>
            </a:endParaRPr>
          </a:p>
        </p:txBody>
      </p:sp>
      <p:sp>
        <p:nvSpPr>
          <p:cNvPr id="142" name="Google Shape;142;p17"/>
          <p:cNvSpPr txBox="1"/>
          <p:nvPr>
            <p:ph idx="1" type="body"/>
          </p:nvPr>
        </p:nvSpPr>
        <p:spPr>
          <a:xfrm>
            <a:off x="838200" y="1825625"/>
            <a:ext cx="65814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2000"/>
              <a:t>Let's think you are developing an IDE like ’eclipse’.What will you have there:</a:t>
            </a:r>
            <a:endParaRPr sz="2000"/>
          </a:p>
          <a:p>
            <a:pPr indent="-355600" lvl="0" marL="457200" rtl="0" algn="l">
              <a:spcBef>
                <a:spcPts val="1000"/>
              </a:spcBef>
              <a:spcAft>
                <a:spcPts val="0"/>
              </a:spcAft>
              <a:buSzPts val="2000"/>
              <a:buChar char="•"/>
            </a:pPr>
            <a:r>
              <a:rPr lang="en-US" sz="2000"/>
              <a:t>editor for different language like java,c++.python</a:t>
            </a:r>
            <a:endParaRPr sz="2000"/>
          </a:p>
          <a:p>
            <a:pPr indent="-355600" lvl="0" marL="457200" rtl="0" algn="l">
              <a:spcBef>
                <a:spcPts val="0"/>
              </a:spcBef>
              <a:spcAft>
                <a:spcPts val="0"/>
              </a:spcAft>
              <a:buSzPts val="2000"/>
              <a:buChar char="•"/>
            </a:pPr>
            <a:r>
              <a:rPr lang="en-US" sz="2000"/>
              <a:t>code generator, auto complete system</a:t>
            </a:r>
            <a:endParaRPr sz="2000"/>
          </a:p>
          <a:p>
            <a:pPr indent="-355600" lvl="0" marL="457200" rtl="0" algn="l">
              <a:spcBef>
                <a:spcPts val="0"/>
              </a:spcBef>
              <a:spcAft>
                <a:spcPts val="0"/>
              </a:spcAft>
              <a:buSzPts val="2000"/>
              <a:buChar char="•"/>
            </a:pPr>
            <a:r>
              <a:rPr lang="en-US" sz="2000"/>
              <a:t>UML editor</a:t>
            </a:r>
            <a:endParaRPr sz="2000"/>
          </a:p>
          <a:p>
            <a:pPr indent="-355600" lvl="0" marL="457200" rtl="0" algn="l">
              <a:spcBef>
                <a:spcPts val="0"/>
              </a:spcBef>
              <a:spcAft>
                <a:spcPts val="0"/>
              </a:spcAft>
              <a:buSzPts val="2000"/>
              <a:buChar char="•"/>
            </a:pPr>
            <a:r>
              <a:rPr lang="en-US" sz="2000"/>
              <a:t>Translator to compile the code etc.</a:t>
            </a:r>
            <a:endParaRPr sz="2000"/>
          </a:p>
          <a:p>
            <a:pPr indent="0" lvl="0" marL="0" rtl="0" algn="l">
              <a:spcBef>
                <a:spcPts val="1000"/>
              </a:spcBef>
              <a:spcAft>
                <a:spcPts val="0"/>
              </a:spcAft>
              <a:buNone/>
            </a:pPr>
            <a:r>
              <a:rPr lang="en-US" sz="2000"/>
              <a:t>So here in the IDE where the components use a repository of system design information.</a:t>
            </a:r>
            <a:endParaRPr sz="2000"/>
          </a:p>
          <a:p>
            <a:pPr indent="0" lvl="0" marL="0" rtl="0" algn="l">
              <a:spcBef>
                <a:spcPts val="1000"/>
              </a:spcBef>
              <a:spcAft>
                <a:spcPts val="0"/>
              </a:spcAft>
              <a:buNone/>
            </a:pPr>
            <a:r>
              <a:rPr lang="en-US" sz="2000"/>
              <a:t>Each software tool generates information which is then available for use by other tools.</a:t>
            </a:r>
            <a:endParaRPr sz="2000"/>
          </a:p>
          <a:p>
            <a:pPr indent="0" lvl="0" marL="0" rtl="0" algn="l">
              <a:spcBef>
                <a:spcPts val="1000"/>
              </a:spcBef>
              <a:spcAft>
                <a:spcPts val="0"/>
              </a:spcAft>
              <a:buNone/>
            </a:pPr>
            <a:r>
              <a:rPr lang="en-US" sz="2000"/>
              <a:t>And, sub-components do not communicate with each other, means they are independent.</a:t>
            </a:r>
            <a:endParaRPr sz="2000"/>
          </a:p>
          <a:p>
            <a:pPr indent="0" lvl="0" marL="0" rtl="0" algn="l">
              <a:spcBef>
                <a:spcPts val="1000"/>
              </a:spcBef>
              <a:spcAft>
                <a:spcPts val="0"/>
              </a:spcAft>
              <a:buNone/>
            </a:pPr>
            <a:r>
              <a:rPr lang="en-US" sz="2000"/>
              <a:t>Have a look at the figure for the example</a:t>
            </a:r>
            <a:endParaRPr sz="2000"/>
          </a:p>
          <a:p>
            <a:pPr indent="0" lvl="0" marL="0" rtl="0" algn="l">
              <a:spcBef>
                <a:spcPts val="1000"/>
              </a:spcBef>
              <a:spcAft>
                <a:spcPts val="0"/>
              </a:spcAft>
              <a:buNone/>
            </a:pPr>
            <a:r>
              <a:t/>
            </a:r>
            <a:endParaRPr sz="2000"/>
          </a:p>
        </p:txBody>
      </p:sp>
      <p:pic>
        <p:nvPicPr>
          <p:cNvPr descr="6.9 RepositoryIDE.eps" id="143" name="Google Shape;143;p17"/>
          <p:cNvPicPr preferRelativeResize="0"/>
          <p:nvPr/>
        </p:nvPicPr>
        <p:blipFill rotWithShape="1">
          <a:blip r:embed="rId3">
            <a:alphaModFix/>
          </a:blip>
          <a:srcRect b="-12282" l="0" r="0" t="-12282"/>
          <a:stretch/>
        </p:blipFill>
        <p:spPr>
          <a:xfrm>
            <a:off x="7419600" y="2629488"/>
            <a:ext cx="4310824" cy="27434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When Used</a:t>
            </a:r>
            <a:endParaRPr sz="3300">
              <a:latin typeface="Lexend"/>
              <a:ea typeface="Lexend"/>
              <a:cs typeface="Lexend"/>
              <a:sym typeface="Lexend"/>
            </a:endParaRPr>
          </a:p>
        </p:txBody>
      </p:sp>
      <p:sp>
        <p:nvSpPr>
          <p:cNvPr id="149" name="Google Shape;149;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You should use this pattern when you have a system in which large volumes of information are generated that has to be stored for a long time. You may also use it in data-driven systems where the inclusion of data in the repository triggers an action or tool.</a:t>
            </a:r>
            <a:endParaRPr/>
          </a:p>
          <a:p>
            <a:pPr indent="0" lvl="0" marL="0" rtl="0" algn="l">
              <a:spcBef>
                <a:spcPts val="1000"/>
              </a:spcBef>
              <a:spcAft>
                <a:spcPts val="0"/>
              </a:spcAft>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Advantages-Disadvantages</a:t>
            </a:r>
            <a:endParaRPr sz="3300">
              <a:latin typeface="Lexend"/>
              <a:ea typeface="Lexend"/>
              <a:cs typeface="Lexend"/>
              <a:sym typeface="Lexend"/>
            </a:endParaRPr>
          </a:p>
        </p:txBody>
      </p:sp>
      <p:sp>
        <p:nvSpPr>
          <p:cNvPr id="155" name="Google Shape;155;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Advantages</a:t>
            </a:r>
            <a:endParaRPr b="1"/>
          </a:p>
          <a:p>
            <a:pPr indent="-355600" lvl="0" marL="457200" rtl="0" algn="l">
              <a:spcBef>
                <a:spcPts val="1000"/>
              </a:spcBef>
              <a:spcAft>
                <a:spcPts val="0"/>
              </a:spcAft>
              <a:buSzPts val="2000"/>
              <a:buChar char="•"/>
            </a:pPr>
            <a:r>
              <a:rPr lang="en-US" sz="2000"/>
              <a:t>Components can be independent—they do not need to know of the existence of other components. </a:t>
            </a:r>
            <a:endParaRPr sz="2000"/>
          </a:p>
          <a:p>
            <a:pPr indent="-355600" lvl="0" marL="457200" rtl="0" algn="l">
              <a:spcBef>
                <a:spcPts val="0"/>
              </a:spcBef>
              <a:spcAft>
                <a:spcPts val="0"/>
              </a:spcAft>
              <a:buSzPts val="2000"/>
              <a:buChar char="•"/>
            </a:pPr>
            <a:r>
              <a:rPr lang="en-US" sz="2000"/>
              <a:t>Changes made by one component can be propagated to all components. </a:t>
            </a:r>
            <a:endParaRPr sz="2000"/>
          </a:p>
          <a:p>
            <a:pPr indent="-355600" lvl="0" marL="457200" rtl="0" algn="l">
              <a:spcBef>
                <a:spcPts val="0"/>
              </a:spcBef>
              <a:spcAft>
                <a:spcPts val="0"/>
              </a:spcAft>
              <a:buSzPts val="2000"/>
              <a:buChar char="•"/>
            </a:pPr>
            <a:r>
              <a:rPr lang="en-US" sz="2000"/>
              <a:t>All data can be managed consistently (e.g., backups done at the same time) as it is all in one place. </a:t>
            </a:r>
            <a:endParaRPr sz="2000"/>
          </a:p>
          <a:p>
            <a:pPr indent="0" lvl="0" marL="0" rtl="0" algn="l">
              <a:spcBef>
                <a:spcPts val="1000"/>
              </a:spcBef>
              <a:spcAft>
                <a:spcPts val="0"/>
              </a:spcAft>
              <a:buNone/>
            </a:pPr>
            <a:r>
              <a:rPr b="1" lang="en-US"/>
              <a:t>Disadvantages</a:t>
            </a:r>
            <a:endParaRPr b="1"/>
          </a:p>
          <a:p>
            <a:pPr indent="-355600" lvl="0" marL="457200" rtl="0" algn="l">
              <a:spcBef>
                <a:spcPts val="1000"/>
              </a:spcBef>
              <a:spcAft>
                <a:spcPts val="0"/>
              </a:spcAft>
              <a:buSzPts val="2000"/>
              <a:buChar char="•"/>
            </a:pPr>
            <a:r>
              <a:rPr lang="en-US" sz="2000"/>
              <a:t>The repository is a single point of failure so problems in the repository affect the whole system. </a:t>
            </a:r>
            <a:endParaRPr sz="2000"/>
          </a:p>
          <a:p>
            <a:pPr indent="-355600" lvl="0" marL="457200" rtl="0" algn="l">
              <a:spcBef>
                <a:spcPts val="0"/>
              </a:spcBef>
              <a:spcAft>
                <a:spcPts val="0"/>
              </a:spcAft>
              <a:buSzPts val="2000"/>
              <a:buChar char="•"/>
            </a:pPr>
            <a:r>
              <a:rPr lang="en-US" sz="2000"/>
              <a:t>May be inefficiencies in organizing all communication through the repository – latency and processing overhead.</a:t>
            </a:r>
            <a:endParaRPr sz="2000"/>
          </a:p>
          <a:p>
            <a:pPr indent="-355600" lvl="0" marL="457200" rtl="0" algn="l">
              <a:spcBef>
                <a:spcPts val="0"/>
              </a:spcBef>
              <a:spcAft>
                <a:spcPts val="0"/>
              </a:spcAft>
              <a:buSzPts val="2000"/>
              <a:buChar char="•"/>
            </a:pPr>
            <a:r>
              <a:rPr lang="en-US" sz="2000"/>
              <a:t>Distributing the repository across several computers may be difficult. (Scalability issue, can be solved by synchronization, but, complex and costly. Also, lacks fault tolerance if distributed)</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t/>
            </a:r>
            <a:endParaRPr b="1"/>
          </a:p>
          <a:p>
            <a:pPr indent="0" lvl="0" marL="0" rtl="0" algn="l">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Client-Server Pattern</a:t>
            </a:r>
            <a:endParaRPr sz="3300">
              <a:latin typeface="Lexend"/>
              <a:ea typeface="Lexend"/>
              <a:cs typeface="Lexend"/>
              <a:sym typeface="Lexend"/>
            </a:endParaRPr>
          </a:p>
        </p:txBody>
      </p:sp>
      <p:sp>
        <p:nvSpPr>
          <p:cNvPr id="161" name="Google Shape;161;p2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en-US" sz="2500"/>
              <a:t>This pattern consists of two parties; a server and multiple clients.</a:t>
            </a:r>
            <a:endParaRPr sz="2500"/>
          </a:p>
          <a:p>
            <a:pPr indent="-387350" lvl="0" marL="457200" rtl="0" algn="l">
              <a:spcBef>
                <a:spcPts val="0"/>
              </a:spcBef>
              <a:spcAft>
                <a:spcPts val="0"/>
              </a:spcAft>
              <a:buSzPts val="2500"/>
              <a:buChar char="•"/>
            </a:pPr>
            <a:r>
              <a:rPr lang="en-US" sz="2500"/>
              <a:t>The server component will provide services to multiple client components. </a:t>
            </a:r>
            <a:endParaRPr sz="2500"/>
          </a:p>
          <a:p>
            <a:pPr indent="-387350" lvl="0" marL="457200" rtl="0" algn="l">
              <a:spcBef>
                <a:spcPts val="0"/>
              </a:spcBef>
              <a:spcAft>
                <a:spcPts val="0"/>
              </a:spcAft>
              <a:buSzPts val="2500"/>
              <a:buChar char="•"/>
            </a:pPr>
            <a:r>
              <a:rPr lang="en-US" sz="2500"/>
              <a:t>Clients request services from the server and the server provides relevant services to those clients.</a:t>
            </a:r>
            <a:endParaRPr sz="2500"/>
          </a:p>
          <a:p>
            <a:pPr indent="-387350" lvl="0" marL="457200" rtl="0" algn="l">
              <a:spcBef>
                <a:spcPts val="0"/>
              </a:spcBef>
              <a:spcAft>
                <a:spcPts val="0"/>
              </a:spcAft>
              <a:buSzPts val="2500"/>
              <a:buChar char="•"/>
            </a:pPr>
            <a:r>
              <a:rPr lang="en-US" sz="2500"/>
              <a:t> Furthermore, the server continues to listen to client requests.</a:t>
            </a:r>
            <a:endParaRPr sz="2500"/>
          </a:p>
          <a:p>
            <a:pPr indent="-387350" lvl="0" marL="457200" rtl="0" algn="l">
              <a:spcBef>
                <a:spcPts val="0"/>
              </a:spcBef>
              <a:spcAft>
                <a:spcPts val="0"/>
              </a:spcAft>
              <a:buSzPts val="2500"/>
              <a:buChar char="•"/>
            </a:pPr>
            <a:r>
              <a:rPr lang="en-US" sz="2500"/>
              <a:t>Set of stand-alone servers which provide specific services such as printing, data management, etc.</a:t>
            </a:r>
            <a:endParaRPr sz="2500"/>
          </a:p>
          <a:p>
            <a:pPr indent="-387350" lvl="0" marL="457200" rtl="0" algn="l">
              <a:spcBef>
                <a:spcPts val="0"/>
              </a:spcBef>
              <a:spcAft>
                <a:spcPts val="0"/>
              </a:spcAft>
              <a:buSzPts val="2500"/>
              <a:buChar char="•"/>
            </a:pPr>
            <a:r>
              <a:rPr lang="en-US" sz="2500"/>
              <a:t>Set of clients which call on these services.</a:t>
            </a:r>
            <a:endParaRPr sz="2500"/>
          </a:p>
          <a:p>
            <a:pPr indent="-387350" lvl="0" marL="457200" rtl="0" algn="l">
              <a:spcBef>
                <a:spcPts val="0"/>
              </a:spcBef>
              <a:spcAft>
                <a:spcPts val="0"/>
              </a:spcAft>
              <a:buSzPts val="2500"/>
              <a:buChar char="•"/>
            </a:pPr>
            <a:r>
              <a:rPr lang="en-US" sz="2500"/>
              <a:t>Network which allows clients to access servers.</a:t>
            </a:r>
            <a:endParaRPr sz="2500"/>
          </a:p>
        </p:txBody>
      </p:sp>
      <p:pic>
        <p:nvPicPr>
          <p:cNvPr id="162" name="Google Shape;162;p20"/>
          <p:cNvPicPr preferRelativeResize="0"/>
          <p:nvPr/>
        </p:nvPicPr>
        <p:blipFill rotWithShape="1">
          <a:blip r:embed="rId3">
            <a:alphaModFix/>
          </a:blip>
          <a:srcRect b="0" l="0" r="0" t="0"/>
          <a:stretch/>
        </p:blipFill>
        <p:spPr>
          <a:xfrm>
            <a:off x="8123150" y="4174501"/>
            <a:ext cx="3505525" cy="2352000"/>
          </a:xfrm>
          <a:prstGeom prst="rect">
            <a:avLst/>
          </a:prstGeom>
          <a:noFill/>
          <a:ln>
            <a:noFill/>
          </a:ln>
        </p:spPr>
      </p:pic>
      <p:pic>
        <p:nvPicPr>
          <p:cNvPr id="163" name="Google Shape;163;p20"/>
          <p:cNvPicPr preferRelativeResize="0"/>
          <p:nvPr/>
        </p:nvPicPr>
        <p:blipFill rotWithShape="1">
          <a:blip r:embed="rId4">
            <a:alphaModFix/>
          </a:blip>
          <a:srcRect b="-2630" l="0" r="0" t="2630"/>
          <a:stretch/>
        </p:blipFill>
        <p:spPr>
          <a:xfrm>
            <a:off x="4844673" y="4981200"/>
            <a:ext cx="1616950" cy="1821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Example</a:t>
            </a:r>
            <a:endParaRPr sz="3300">
              <a:latin typeface="Lexend"/>
              <a:ea typeface="Lexend"/>
              <a:cs typeface="Lexend"/>
              <a:sym typeface="Lexend"/>
            </a:endParaRPr>
          </a:p>
        </p:txBody>
      </p:sp>
      <p:sp>
        <p:nvSpPr>
          <p:cNvPr id="169" name="Google Shape;169;p21"/>
          <p:cNvSpPr txBox="1"/>
          <p:nvPr>
            <p:ph idx="1" type="body"/>
          </p:nvPr>
        </p:nvSpPr>
        <p:spPr>
          <a:xfrm>
            <a:off x="838200" y="1825625"/>
            <a:ext cx="10515600" cy="11610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en-US" sz="2500"/>
              <a:t>Online applications such as email, document sharing and banking.</a:t>
            </a:r>
            <a:endParaRPr sz="2500"/>
          </a:p>
          <a:p>
            <a:pPr indent="-387350" lvl="0" marL="457200" rtl="0" algn="l">
              <a:spcBef>
                <a:spcPts val="0"/>
              </a:spcBef>
              <a:spcAft>
                <a:spcPts val="0"/>
              </a:spcAft>
              <a:buSzPts val="2500"/>
              <a:buChar char="•"/>
            </a:pPr>
            <a:r>
              <a:rPr lang="en-US" sz="2500"/>
              <a:t>Figure  is an example of a film and video/DVD library organized as a client–server system.</a:t>
            </a:r>
            <a:endParaRPr sz="2500"/>
          </a:p>
          <a:p>
            <a:pPr indent="0" lvl="0" marL="0" rtl="0" algn="l">
              <a:spcBef>
                <a:spcPts val="1000"/>
              </a:spcBef>
              <a:spcAft>
                <a:spcPts val="0"/>
              </a:spcAft>
              <a:buNone/>
            </a:pPr>
            <a:r>
              <a:t/>
            </a:r>
            <a:endParaRPr sz="2500"/>
          </a:p>
        </p:txBody>
      </p:sp>
      <p:pic>
        <p:nvPicPr>
          <p:cNvPr descr="6.11 ClientServerFilmPhoto.eps" id="170" name="Google Shape;170;p21"/>
          <p:cNvPicPr preferRelativeResize="0"/>
          <p:nvPr/>
        </p:nvPicPr>
        <p:blipFill rotWithShape="1">
          <a:blip r:embed="rId3">
            <a:alphaModFix/>
          </a:blip>
          <a:srcRect b="0" l="-1062" r="-1062" t="0"/>
          <a:stretch/>
        </p:blipFill>
        <p:spPr>
          <a:xfrm>
            <a:off x="3076888" y="2922350"/>
            <a:ext cx="6038226" cy="35856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When Used</a:t>
            </a:r>
            <a:endParaRPr sz="3300">
              <a:latin typeface="Lexend"/>
              <a:ea typeface="Lexend"/>
              <a:cs typeface="Lexend"/>
              <a:sym typeface="Lexend"/>
            </a:endParaRPr>
          </a:p>
        </p:txBody>
      </p:sp>
      <p:sp>
        <p:nvSpPr>
          <p:cNvPr id="176" name="Google Shape;176;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It is used when data in a shared database has to be accessed from a range of locations. Because servers can be replicated, may also be used when the load on a system is variable and can be resolved by a load balancer.</a:t>
            </a:r>
            <a:endParaRPr/>
          </a:p>
          <a:p>
            <a:pPr indent="0" lvl="0" marL="0" rtl="0" algn="l">
              <a:spcBef>
                <a:spcPts val="1000"/>
              </a:spcBef>
              <a:spcAft>
                <a:spcPts val="0"/>
              </a:spcAft>
              <a:buNone/>
            </a:pPr>
            <a:r>
              <a:t/>
            </a:r>
            <a:endParaRPr sz="2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Advantages</a:t>
            </a:r>
            <a:endParaRPr sz="3300">
              <a:latin typeface="Lexend"/>
              <a:ea typeface="Lexend"/>
              <a:cs typeface="Lexend"/>
              <a:sym typeface="Lexend"/>
            </a:endParaRPr>
          </a:p>
        </p:txBody>
      </p:sp>
      <p:sp>
        <p:nvSpPr>
          <p:cNvPr id="182" name="Google Shape;182;p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lang="en-US"/>
              <a:t>The principal advantage of this model is that servers can be distributed across a network. </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Cost efficient as requires less maintenance cost and Data recovery is possible.</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Can be deployed to the cloud, hosted and managed by third-parties (AWS, Azure) which offloads physical infrastructure burden and easy to manage.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sz="3300">
                <a:latin typeface="Lexend"/>
                <a:ea typeface="Lexend"/>
                <a:cs typeface="Lexend"/>
                <a:sym typeface="Lexend"/>
              </a:rPr>
              <a:t>Disadvantages</a:t>
            </a:r>
            <a:endParaRPr sz="3300">
              <a:latin typeface="Lexend"/>
              <a:ea typeface="Lexend"/>
              <a:cs typeface="Lexend"/>
              <a:sym typeface="Lexend"/>
            </a:endParaRPr>
          </a:p>
        </p:txBody>
      </p:sp>
      <p:sp>
        <p:nvSpPr>
          <p:cNvPr id="188" name="Google Shape;188;p24"/>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lang="en-US"/>
              <a:t>Each service is a single point of failure so susceptible to denial of service (DoS) attacks or server failure. </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Performance may be unpredictable because it depends on the network as well as the system.</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May be management problems if servers are owned by different organizations.</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