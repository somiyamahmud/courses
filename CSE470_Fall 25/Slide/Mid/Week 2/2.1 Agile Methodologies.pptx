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Lexen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3A6531-8E40-47F7-BE95-4DDB1B635677}">
  <a:tblStyle styleId="{743A6531-8E40-47F7-BE95-4DDB1B6356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1ED5A6B-5F20-47CD-B3DA-F9135B300CA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-bold.fntdata"/><Relationship Id="rId30" Type="http://schemas.openxmlformats.org/officeDocument/2006/relationships/font" Target="fonts/Lexen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e793e3fc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e793e3f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793e3fc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e793e3f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e793e3fc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e793e3fc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793e3fc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e793e3fc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e793e3fc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e793e3fc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e793e3fcf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e793e3fc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e793e3fcf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e793e3fc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b255eeed6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b255eeed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e793e3fcf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e793e3fc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e793e3fcf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e793e3fc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e793e3fcf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e793e3fc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e793e3fcf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e793e3fc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e793e3fcf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e793e3fc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e793e3fcf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e793e3fc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e793e3fcf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e793e3fc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e793e3fcf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e793e3fc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e793e3fcf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e793e3fc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e793e3fcf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e793e3fc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e793e3fcf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e793e3fc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e793e3fcf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e793e3fc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e793e3fcf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e793e3fc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e793e3fcf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8e793e3fc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e793e3fcf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8e793e3fc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lickysoft.com/laravel-monolithic-architecture/#:~:text=Laravel%20Monolithic%20Architecture-,Simplicity,consistent%20approach%20throughout%20the%20application" TargetMode="External"/><Relationship Id="rId4" Type="http://schemas.openxmlformats.org/officeDocument/2006/relationships/hyperlink" Target="https://www.qualitylogic.com/knowledge-center/10-reasons-to-use-agile-software-development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hyperlink" Target="https://trello.com/b/ZqN99gG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mountaingoatsoftware.com/agile/scrum/scrum-tools/release-burndow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scrum.org/resources/what-is-a-sprint-retrospecti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Agile Methodologies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Why we need Agile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1. </a:t>
            </a:r>
            <a:r>
              <a:rPr b="1" lang="en-US"/>
              <a:t>Monolithic Software: </a:t>
            </a:r>
            <a:r>
              <a:rPr lang="en-US"/>
              <a:t>The ready product comes at the end of the process. Now a days, the requirement of software changes frequently, even it can change a number of times in a day.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2. For live systems, like Amazon, Facebook a few seconds of downtime can cause a lot. Changes in such cases needs to be smooth enough so that customers interaction do not interrupt.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Read to know more about Monolithic architecture: </a:t>
            </a:r>
            <a:r>
              <a:rPr lang="en-US" sz="1500" u="sng">
                <a:solidFill>
                  <a:srgbClr val="8E58B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sz="1500">
              <a:solidFill>
                <a:srgbClr val="9A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Read to know more about Agile benefits: </a:t>
            </a:r>
            <a:r>
              <a:rPr lang="en-US" sz="1500" u="sng">
                <a:solidFill>
                  <a:srgbClr val="674E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sz="15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“Agility”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690825"/>
            <a:ext cx="10515600" cy="262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is a set of </a:t>
            </a:r>
            <a:r>
              <a:rPr b="1" lang="en-US"/>
              <a:t>principles and values</a:t>
            </a:r>
            <a:r>
              <a:rPr lang="en-US"/>
              <a:t>. It is a </a:t>
            </a:r>
            <a:r>
              <a:rPr b="1" lang="en-US"/>
              <a:t>practice </a:t>
            </a:r>
            <a:r>
              <a:rPr lang="en-US"/>
              <a:t>to be followed.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is a combination of Iterative and Incremental process models with focus on </a:t>
            </a:r>
            <a:r>
              <a:rPr b="1" lang="en-US"/>
              <a:t>process adaptability and customer satisfaction</a:t>
            </a:r>
            <a:r>
              <a:rPr lang="en-US"/>
              <a:t> by </a:t>
            </a:r>
            <a:r>
              <a:rPr b="1" lang="en-US"/>
              <a:t>rapid delivery of working software. </a:t>
            </a:r>
            <a:endParaRPr b="1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organizations tend to be responsive rather than rigid, which means they can better respond to change.</a:t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27646"/>
          <a:stretch/>
        </p:blipFill>
        <p:spPr>
          <a:xfrm>
            <a:off x="2711929" y="4583924"/>
            <a:ext cx="6768150" cy="20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Agile Manifesto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uncovering better ways of developing software by doing it and helping others do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✅													❌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800">
                <a:solidFill>
                  <a:srgbClr val="00B050"/>
                </a:solidFill>
              </a:rPr>
              <a:t>Individuals and interactions        </a:t>
            </a:r>
            <a:r>
              <a:rPr i="1" lang="en-US" sz="2800"/>
              <a:t>over              </a:t>
            </a:r>
            <a:r>
              <a:rPr b="1" i="1" lang="en-US" sz="2800">
                <a:solidFill>
                  <a:srgbClr val="FF0000"/>
                </a:solidFill>
              </a:rPr>
              <a:t>processes and tools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>
                <a:solidFill>
                  <a:srgbClr val="00B050"/>
                </a:solidFill>
              </a:rPr>
              <a:t>Working software                         </a:t>
            </a:r>
            <a:r>
              <a:rPr i="1" lang="en-US"/>
              <a:t>over   </a:t>
            </a:r>
            <a:r>
              <a:rPr b="1" i="1" lang="en-US">
                <a:solidFill>
                  <a:srgbClr val="FF0000"/>
                </a:solidFill>
              </a:rPr>
              <a:t>comprehensive documentation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>
                <a:solidFill>
                  <a:srgbClr val="00B050"/>
                </a:solidFill>
              </a:rPr>
              <a:t>Customer collaboration               </a:t>
            </a:r>
            <a:r>
              <a:rPr i="1" lang="en-US"/>
              <a:t>over              </a:t>
            </a:r>
            <a:r>
              <a:rPr b="1" i="1" lang="en-US">
                <a:solidFill>
                  <a:srgbClr val="FF0000"/>
                </a:solidFill>
              </a:rPr>
              <a:t>contract negotiation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800">
                <a:solidFill>
                  <a:srgbClr val="00B050"/>
                </a:solidFill>
              </a:rPr>
              <a:t>Responding to change                 </a:t>
            </a:r>
            <a:r>
              <a:rPr i="1" lang="en-US" sz="2800"/>
              <a:t>over                  </a:t>
            </a:r>
            <a:r>
              <a:rPr b="1" i="1" lang="en-US" sz="2800">
                <a:solidFill>
                  <a:srgbClr val="FF0000"/>
                </a:solidFill>
              </a:rPr>
              <a:t>following a plan </a:t>
            </a:r>
            <a:endParaRPr b="1"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Agile Methodologies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Extreme Programming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Unified Process </a:t>
            </a:r>
            <a:r>
              <a:rPr lang="en-US">
                <a:solidFill>
                  <a:srgbClr val="9A0000"/>
                </a:solidFill>
              </a:rPr>
              <a:t>(excluded in Fall 25)</a:t>
            </a:r>
            <a:endParaRPr>
              <a:solidFill>
                <a:srgbClr val="9A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Scrum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Extreme Programming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 short also known as XP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XP is especially valuable for projects with unclear or dynamic needs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New versions may be built </a:t>
            </a:r>
            <a:r>
              <a:rPr b="1" lang="en-US"/>
              <a:t>several times per day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Increments are delivered to customers </a:t>
            </a:r>
            <a:r>
              <a:rPr b="1" lang="en-US"/>
              <a:t>every 2 weeks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 tests must be run for every build and the build is only accepted if tests run successfully.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XP Workflow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1600200" y="6018875"/>
            <a:ext cx="975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https://www.nimblework.com/agile/extreme-programming-xp/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8164" r="0" t="17369"/>
          <a:stretch/>
        </p:blipFill>
        <p:spPr>
          <a:xfrm>
            <a:off x="523275" y="1726213"/>
            <a:ext cx="11320351" cy="4257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XP Principles or Practices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693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{743A6531-8E40-47F7-BE95-4DDB1B635677}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Incremental Planning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Pair Programming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 Releases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Collective Ownership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 Design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 Integration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First Development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Sustainable</a:t>
                      </a: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Pace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Refactoring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On-site Customer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Pair Programming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838200" y="1825625"/>
            <a:ext cx="9666000" cy="352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Two people code in share, they switch roles from observer to navigator frequently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Observing code produces better code, so less business cost.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Support each other, better chance for learning.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Test First Development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Writes unit test for each method to identify problems and resolve it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Test First Development (TFD) is used to ensure better code quality and less error. It refers to write test code first and after that write the development code.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Refactoring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838200" y="1825625"/>
            <a:ext cx="62685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It’s a technique for restructuring existing code by changing its internal structure without changing its external behaviour.</a:t>
            </a:r>
            <a:endParaRPr sz="2500"/>
          </a:p>
          <a:p>
            <a:pPr indent="0" lvl="0" marL="45720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Refactoring includes reducing duplicate codes, breaking long classes/methods into small ones, appropriate variable naming and many more.</a:t>
            </a:r>
            <a:endParaRPr sz="2500"/>
          </a:p>
          <a:p>
            <a:pPr indent="0" lvl="0" marL="45720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It is done for requirement change, improving design and easy extensibility of software.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183" name="Google Shape;1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1776" y="1366550"/>
            <a:ext cx="3732025" cy="163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1775" y="3452800"/>
            <a:ext cx="3732024" cy="2618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500"/>
              <a:t>It is the most widely used Agile S/W development method for project management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500"/>
              <a:t>The full software is delivered in 1-4 weeks iterations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   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7550" y="281348"/>
            <a:ext cx="8856900" cy="61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 Framework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6"/>
          <p:cNvGraphicFramePr/>
          <p:nvPr/>
        </p:nvGraphicFramePr>
        <p:xfrm>
          <a:off x="12093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{743A6531-8E40-47F7-BE95-4DDB1B635677}</a:tableStyleId>
              </a:tblPr>
              <a:tblGrid>
                <a:gridCol w="2507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Owner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Scrum Master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2" name="Google Shape;202;p26"/>
          <p:cNvGraphicFramePr/>
          <p:nvPr/>
        </p:nvGraphicFramePr>
        <p:xfrm>
          <a:off x="4169125" y="268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{743A6531-8E40-47F7-BE95-4DDB1B635677}</a:tableStyleId>
              </a:tblPr>
              <a:tblGrid>
                <a:gridCol w="3180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Ceremonies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Planning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Review &amp; Retrospective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Scrum Meeting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3" name="Google Shape;203;p26"/>
          <p:cNvGraphicFramePr/>
          <p:nvPr/>
        </p:nvGraphicFramePr>
        <p:xfrm>
          <a:off x="7802325" y="268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{743A6531-8E40-47F7-BE95-4DDB1B635677}</a:tableStyleId>
              </a:tblPr>
              <a:tblGrid>
                <a:gridCol w="3180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Artifacts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Backlog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Backlog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Burndown charts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 Roles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7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Product Owner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Possibly a Product Manager or Project Sponsor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Decides features, release date, prioritization, $$$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Conveys a clear vision to the Scrum team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Replies to frequently asked queries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Scrum Master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Typically a Project Manager or Team Leader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Responsible for enacting Scrum values and practices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Remove impediments / politics, keeps everyone productive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Project Team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5-10 members;  Teams are self-organizing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Cross-functional: QA, Programmers, UI Designers, etc.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Membership should change only between sprints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Product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8"/>
          <p:cNvSpPr txBox="1"/>
          <p:nvPr>
            <p:ph idx="1" type="body"/>
          </p:nvPr>
        </p:nvSpPr>
        <p:spPr>
          <a:xfrm>
            <a:off x="838200" y="1825625"/>
            <a:ext cx="54708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requirements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list of all desired work on project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Ideally expressed as a list of user stories along with "story points", such that each item has value to users or customers of the product 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Prioritized by the product owner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Reprioritized at start of each sprint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pic>
        <p:nvPicPr>
          <p:cNvPr id="216" name="Google Shape;2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8195" y="1690831"/>
            <a:ext cx="3333852" cy="4029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Product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" name="Google Shape;222;p29"/>
          <p:cNvGraphicFramePr/>
          <p:nvPr/>
        </p:nvGraphicFramePr>
        <p:xfrm>
          <a:off x="2207561" y="16908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{81ED5A6B-5F20-47CD-B3DA-F9135B300CA6}</a:tableStyleId>
              </a:tblPr>
              <a:tblGrid>
                <a:gridCol w="1301100"/>
                <a:gridCol w="5177250"/>
                <a:gridCol w="1298525"/>
              </a:tblGrid>
              <a:tr h="73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Backlog item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a guest to make a reservation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(story points)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070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guest, I want to cancel a reservation.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590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guest, I want to change the dates of a reservation.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4375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hotel employee, I can run RevPAR reports (revenue-per-available-room)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275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 exception handling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Sprint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838200" y="1825625"/>
            <a:ext cx="54708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High priority features are selected based on points from product backlog.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These features will be covered within that 1-4 weeks time slot called as sprint.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Estimated work remaining is updated daily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Any team member can not add, delete change sprint backlog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357" y="2683563"/>
            <a:ext cx="3793440" cy="1490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Sprint Board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" name="Google Shape;23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763237"/>
            <a:ext cx="10515601" cy="333152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1"/>
          <p:cNvSpPr txBox="1"/>
          <p:nvPr/>
        </p:nvSpPr>
        <p:spPr>
          <a:xfrm>
            <a:off x="839125" y="5449100"/>
            <a:ext cx="596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Link: </a:t>
            </a:r>
            <a:r>
              <a:rPr b="1" lang="en-US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https://trello.com/b/ZqN99gGN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Daily Scrum Meeting (DSM)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838200" y="1825625"/>
            <a:ext cx="54708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Parameters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Daily, ~15 minutes, Stand-up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Anyone late pays a $1 fee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Not for problem solving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Whole world is invited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Only team members, Scrum Master, product owner, can talk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Helps avoid other unnecessary meetings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Three questions answered by each team member: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What did you do yesterday?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What will you do today?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What obstacles are in your way?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083" y="2367085"/>
            <a:ext cx="4499992" cy="2592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- Burndown Chart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display of what work has been completed and what is left to complete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one for each developer or work item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updated every day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(make best guess about hours/points completed each day)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Release burndown chart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shows overall progress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updated at end of each sprint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2 min read: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https://www.mountaingoatsoftware.com/agile/scrum/scrum-tools/release-burndown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Burndown Chart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819346"/>
            <a:ext cx="8229600" cy="41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Sprint Review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35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Team presents what it accomplished during the sprint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Typically takes the form of a demo of new features or underlying architecture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Informal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2-hour prep time rule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No slides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Whole team participates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Invite the world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Sprint Retrospective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36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Identify the scopes of improvement for better result in next sprints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What worked well, what went wrong are also discussed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2 min read: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https://www.scrum.org/resources/what-is-a-sprint-retrospective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