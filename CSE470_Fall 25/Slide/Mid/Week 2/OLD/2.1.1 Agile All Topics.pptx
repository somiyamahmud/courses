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6858000" cx="9144000"/>
  <p:notesSz cx="6858000" cy="9144000"/>
  <p:embeddedFontLst>
    <p:embeddedFont>
      <p:font typeface="Tahoma"/>
      <p:regular r:id="rId43"/>
      <p:bold r:id="rId44"/>
    </p:embeddedFont>
    <p:embeddedFont>
      <p:font typeface="Helvetica Neue"/>
      <p:regular r:id="rId45"/>
      <p:bold r:id="rId46"/>
      <p:italic r:id="rId47"/>
      <p:boldItalic r:id="rId48"/>
    </p:embeddedFont>
    <p:embeddedFont>
      <p:font typeface="Arial Black"/>
      <p:regular r:id="rId49"/>
    </p:embeddedFont>
    <p:embeddedFont>
      <p:font typeface="Gill Sans"/>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i69Dbk/aUOnnksx8ENewDXqX0p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7FB6C7-F25F-404E-9922-050C46C72E83}">
  <a:tblStyle styleId="{CF7FB6C7-F25F-404E-9922-050C46C72E8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Tahoma-bold.fntdata"/><Relationship Id="rId43" Type="http://schemas.openxmlformats.org/officeDocument/2006/relationships/font" Target="fonts/Tahoma-regular.fntdata"/><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GillSans-bold.fntdata"/><Relationship Id="rId50" Type="http://schemas.openxmlformats.org/officeDocument/2006/relationships/font" Target="fonts/GillSans-regular.fntdata"/><Relationship Id="rId52"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2" name="Google Shape;21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13" name="Google Shape;213;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4" name="Google Shape;26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265" name="Google Shape;26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0" name="Google Shape;31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initial step in the AUP is the model workflow which begins with the Inception phase. Here project scope, risks, costs  and  schedule,  and  project  feasibility  are  defined,  including  the  preparation  for  the  project  environment.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requirement's phase includes identifying the stakeholders, understanding the user's problem, establishing a basis of estimation, and defining the user interface for the system. Although these activities occur during the Inception and Elaboration phases, they can continue through other phases to improve the  unfolding design.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During the construction phase, user stories are implemented and iteratively reworked to reflect the expanding understanding of the problem domain as the project progresses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311" name="Google Shape;311;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04" name="Google Shape;404;p23:notes"/>
          <p:cNvSpPr txBox="1"/>
          <p:nvPr/>
        </p:nvSpPr>
        <p:spPr>
          <a:xfrm>
            <a:off x="3816932" y="9372997"/>
            <a:ext cx="2918831" cy="49331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Gill Sans"/>
                <a:ea typeface="Gill Sans"/>
                <a:cs typeface="Gill Sans"/>
                <a:sym typeface="Gill Sans"/>
              </a:rPr>
              <a:t>‹#›</a:t>
            </a:fld>
            <a:endParaRPr b="0" i="0" sz="1200" u="none" cap="none" strike="noStrike">
              <a:solidFill>
                <a:srgbClr val="000000"/>
              </a:solidFill>
              <a:latin typeface="Gill Sans"/>
              <a:ea typeface="Gill Sans"/>
              <a:cs typeface="Gill Sans"/>
              <a:sym typeface="Gill Sans"/>
            </a:endParaRPr>
          </a:p>
        </p:txBody>
      </p:sp>
      <p:sp>
        <p:nvSpPr>
          <p:cNvPr id="405" name="Google Shape;40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54" name="Google Shape;454;p29:notes"/>
          <p:cNvSpPr txBox="1"/>
          <p:nvPr/>
        </p:nvSpPr>
        <p:spPr>
          <a:xfrm>
            <a:off x="3816932" y="9372997"/>
            <a:ext cx="2918831" cy="493316"/>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Gill Sans"/>
                <a:ea typeface="Gill Sans"/>
                <a:cs typeface="Gill Sans"/>
                <a:sym typeface="Gill Sans"/>
              </a:rPr>
              <a:t>‹#›</a:t>
            </a:fld>
            <a:endParaRPr b="0" i="0" sz="1200" u="none" cap="none" strike="noStrike">
              <a:solidFill>
                <a:srgbClr val="000000"/>
              </a:solidFill>
              <a:latin typeface="Gill Sans"/>
              <a:ea typeface="Gill Sans"/>
              <a:cs typeface="Gill Sans"/>
              <a:sym typeface="Gill Sans"/>
            </a:endParaRPr>
          </a:p>
        </p:txBody>
      </p:sp>
      <p:sp>
        <p:nvSpPr>
          <p:cNvPr id="455" name="Google Shape;45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 name="Google Shape;47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4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1" name="Google Shape;4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7"/>
          <p:cNvSpPr/>
          <p:nvPr>
            <p:ph idx="2" type="pic"/>
          </p:nvPr>
        </p:nvSpPr>
        <p:spPr>
          <a:xfrm>
            <a:off x="1792288" y="612775"/>
            <a:ext cx="5486400" cy="4114800"/>
          </a:xfrm>
          <a:prstGeom prst="rect">
            <a:avLst/>
          </a:prstGeom>
          <a:noFill/>
          <a:ln>
            <a:noFill/>
          </a:ln>
        </p:spPr>
      </p:sp>
      <p:sp>
        <p:nvSpPr>
          <p:cNvPr id="68" name="Google Shape;68;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3" name="Google Shape;9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5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9" name="Google Shape;99;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p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57"/>
          <p:cNvSpPr/>
          <p:nvPr>
            <p:ph idx="2" type="pic"/>
          </p:nvPr>
        </p:nvSpPr>
        <p:spPr>
          <a:xfrm>
            <a:off x="1792288" y="612775"/>
            <a:ext cx="5486400" cy="4114800"/>
          </a:xfrm>
          <a:prstGeom prst="rect">
            <a:avLst/>
          </a:prstGeom>
          <a:noFill/>
          <a:ln>
            <a:noFill/>
          </a:ln>
        </p:spPr>
      </p:sp>
      <p:sp>
        <p:nvSpPr>
          <p:cNvPr id="143" name="Google Shape;143;p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5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5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5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2.png"/><Relationship Id="rId5" Type="http://schemas.openxmlformats.org/officeDocument/2006/relationships/hyperlink" Target="https://clickysoft.com/laravel-monolithic-architecture/#:~:text=Laravel%20Monolithic%20Architecture-,Simplicity,consistent%20approach%20throughout%20the%20application" TargetMode="External"/><Relationship Id="rId6" Type="http://schemas.openxmlformats.org/officeDocument/2006/relationships/hyperlink" Target="https://www.qualitylogic.com/knowledge-center/10-reasons-to-use-agile-software-developmen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6.gif"/><Relationship Id="rId4" Type="http://schemas.openxmlformats.org/officeDocument/2006/relationships/image" Target="../media/image2.png"/><Relationship Id="rId5" Type="http://schemas.openxmlformats.org/officeDocument/2006/relationships/image" Target="../media/image18.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gif"/><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0.jp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jp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3.gif"/><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7.png"/><Relationship Id="rId10" Type="http://schemas.openxmlformats.org/officeDocument/2006/relationships/image" Target="../media/image2.png"/><Relationship Id="rId9" Type="http://schemas.openxmlformats.org/officeDocument/2006/relationships/image" Target="../media/image35.pn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image" Target="../media/image28.png"/><Relationship Id="rId8"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jp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21.png"/><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jp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jp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9.jp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hyperlink" Target="https://www.mountaingoatsoftware.com/agile/scrum/scrum-tools/release-burndown" TargetMode="External"/><Relationship Id="rId5" Type="http://schemas.openxmlformats.org/officeDocument/2006/relationships/hyperlink" Target="https://www.mountaingoatsoftware.com/agile/scrum/scrum-tools/release-burndown"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jp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6.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2.png"/><Relationship Id="rId5" Type="http://schemas.openxmlformats.org/officeDocument/2006/relationships/hyperlink" Target="https://www.scrum.org/resources/what-is-a-sprint-retrospectiv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1.gif"/><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1115616" y="3717032"/>
            <a:ext cx="8028384" cy="53149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Bookman Old Style"/>
              <a:buNone/>
            </a:pPr>
            <a:r>
              <a:rPr lang="en-US" sz="3959">
                <a:latin typeface="Bookman Old Style"/>
                <a:ea typeface="Bookman Old Style"/>
                <a:cs typeface="Bookman Old Style"/>
                <a:sym typeface="Bookman Old Style"/>
              </a:rPr>
              <a:t>CSE 470 – Agile Methodology</a:t>
            </a:r>
            <a:endParaRPr sz="3959">
              <a:latin typeface="Bookman Old Style"/>
              <a:ea typeface="Bookman Old Style"/>
              <a:cs typeface="Bookman Old Style"/>
              <a:sym typeface="Bookman Old Style"/>
            </a:endParaRPr>
          </a:p>
        </p:txBody>
      </p:sp>
      <p:sp>
        <p:nvSpPr>
          <p:cNvPr id="164" name="Google Shape;164;p1"/>
          <p:cNvSpPr txBox="1"/>
          <p:nvPr>
            <p:ph idx="1" type="subTitle"/>
          </p:nvPr>
        </p:nvSpPr>
        <p:spPr>
          <a:xfrm>
            <a:off x="5292080" y="4437112"/>
            <a:ext cx="3419872" cy="62562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2960"/>
              <a:buNone/>
            </a:pPr>
            <a:r>
              <a:rPr lang="en-US" sz="2960">
                <a:latin typeface="Bookman Old Style"/>
                <a:ea typeface="Bookman Old Style"/>
                <a:cs typeface="Bookman Old Style"/>
                <a:sym typeface="Bookman Old Style"/>
              </a:rPr>
              <a:t>BRAC University</a:t>
            </a:r>
            <a:endParaRPr sz="2960">
              <a:latin typeface="Bookman Old Style"/>
              <a:ea typeface="Bookman Old Style"/>
              <a:cs typeface="Bookman Old Style"/>
              <a:sym typeface="Bookman Old Style"/>
            </a:endParaRPr>
          </a:p>
        </p:txBody>
      </p:sp>
      <p:pic>
        <p:nvPicPr>
          <p:cNvPr descr="software-engineering-5b4daa8bab12ae7f4848c482.jpg" id="165" name="Google Shape;165;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66" name="Google Shape;166;p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
          <p:cNvSpPr/>
          <p:nvPr/>
        </p:nvSpPr>
        <p:spPr>
          <a:xfrm>
            <a:off x="584831" y="4365104"/>
            <a:ext cx="2664296" cy="1639557"/>
          </a:xfrm>
          <a:prstGeom prst="roundRect">
            <a:avLst>
              <a:gd fmla="val 16667" name="adj"/>
            </a:avLst>
          </a:prstGeom>
          <a:solidFill>
            <a:schemeClr val="accent3"/>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Why we need Agile</a:t>
            </a:r>
            <a:endParaRPr/>
          </a:p>
        </p:txBody>
      </p:sp>
      <p:sp>
        <p:nvSpPr>
          <p:cNvPr id="173" name="Google Shape;173;p2"/>
          <p:cNvSpPr txBox="1"/>
          <p:nvPr/>
        </p:nvSpPr>
        <p:spPr>
          <a:xfrm>
            <a:off x="4716016" y="1682302"/>
            <a:ext cx="39603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1. Monolithic Software</a:t>
            </a:r>
            <a:r>
              <a:rPr b="0" i="0" lang="en-US" sz="1800" u="none" cap="none" strike="noStrike">
                <a:solidFill>
                  <a:schemeClr val="dk1"/>
                </a:solidFill>
                <a:latin typeface="Calibri"/>
                <a:ea typeface="Calibri"/>
                <a:cs typeface="Calibri"/>
                <a:sym typeface="Calibri"/>
              </a:rPr>
              <a:t>: The ready product comes at the end of the process. Now a days, the requirement of software changes frequently, even it can change a number of times in a day.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2"/>
          <p:cNvSpPr txBox="1"/>
          <p:nvPr/>
        </p:nvSpPr>
        <p:spPr>
          <a:xfrm>
            <a:off x="4716016" y="3227091"/>
            <a:ext cx="3456384"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For live systems, like Amazon, Facebook a few seconds of downtime can cause a lot. Changes in such cases needs to be smooth enough so that customers interaction do not interrupt.</a:t>
            </a:r>
            <a:endParaRPr b="0" i="0" sz="1800" u="none" cap="none" strike="noStrike">
              <a:solidFill>
                <a:schemeClr val="dk1"/>
              </a:solidFill>
              <a:latin typeface="Calibri"/>
              <a:ea typeface="Calibri"/>
              <a:cs typeface="Calibri"/>
              <a:sym typeface="Calibri"/>
            </a:endParaRPr>
          </a:p>
        </p:txBody>
      </p:sp>
      <p:sp>
        <p:nvSpPr>
          <p:cNvPr id="175" name="Google Shape;175;p2"/>
          <p:cNvSpPr/>
          <p:nvPr/>
        </p:nvSpPr>
        <p:spPr>
          <a:xfrm>
            <a:off x="926169" y="4601130"/>
            <a:ext cx="1008112" cy="380287"/>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Login</a:t>
            </a:r>
            <a:endParaRPr b="0" i="0" sz="1800" u="none" cap="none" strike="noStrike">
              <a:solidFill>
                <a:schemeClr val="lt1"/>
              </a:solidFill>
              <a:latin typeface="Calibri"/>
              <a:ea typeface="Calibri"/>
              <a:cs typeface="Calibri"/>
              <a:sym typeface="Calibri"/>
            </a:endParaRPr>
          </a:p>
        </p:txBody>
      </p:sp>
      <p:sp>
        <p:nvSpPr>
          <p:cNvPr id="176" name="Google Shape;176;p2"/>
          <p:cNvSpPr/>
          <p:nvPr/>
        </p:nvSpPr>
        <p:spPr>
          <a:xfrm>
            <a:off x="1934281" y="4928770"/>
            <a:ext cx="848371" cy="410861"/>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Mail </a:t>
            </a:r>
            <a:endParaRPr b="0" i="0" sz="1800" u="none" cap="none" strike="noStrike">
              <a:solidFill>
                <a:schemeClr val="lt1"/>
              </a:solidFill>
              <a:latin typeface="Calibri"/>
              <a:ea typeface="Calibri"/>
              <a:cs typeface="Calibri"/>
              <a:sym typeface="Calibri"/>
            </a:endParaRPr>
          </a:p>
        </p:txBody>
      </p:sp>
      <p:sp>
        <p:nvSpPr>
          <p:cNvPr id="177" name="Google Shape;177;p2"/>
          <p:cNvSpPr/>
          <p:nvPr/>
        </p:nvSpPr>
        <p:spPr>
          <a:xfrm>
            <a:off x="938714" y="5339631"/>
            <a:ext cx="1656184" cy="410861"/>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Messaging</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1957232" y="4602942"/>
            <a:ext cx="1207368" cy="351725"/>
          </a:xfrm>
          <a:prstGeom prst="rect">
            <a:avLst/>
          </a:prstGeom>
          <a:solidFill>
            <a:schemeClr val="accent1"/>
          </a:solidFill>
          <a:ln cap="flat" cmpd="sng" w="25400">
            <a:solidFill>
              <a:srgbClr val="788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Database</a:t>
            </a:r>
            <a:endParaRPr b="0" i="0" sz="1800" u="none" cap="none" strike="noStrike">
              <a:solidFill>
                <a:schemeClr val="lt1"/>
              </a:solidFill>
              <a:latin typeface="Calibri"/>
              <a:ea typeface="Calibri"/>
              <a:cs typeface="Calibri"/>
              <a:sym typeface="Calibri"/>
            </a:endParaRPr>
          </a:p>
        </p:txBody>
      </p:sp>
      <p:pic>
        <p:nvPicPr>
          <p:cNvPr id="179" name="Google Shape;179;p2"/>
          <p:cNvPicPr preferRelativeResize="0"/>
          <p:nvPr>
            <p:ph idx="1" type="body"/>
          </p:nvPr>
        </p:nvPicPr>
        <p:blipFill rotWithShape="1">
          <a:blip r:embed="rId3">
            <a:alphaModFix/>
          </a:blip>
          <a:srcRect b="0" l="0" r="0" t="0"/>
          <a:stretch/>
        </p:blipFill>
        <p:spPr>
          <a:xfrm>
            <a:off x="410809" y="1448352"/>
            <a:ext cx="3092846" cy="2222225"/>
          </a:xfrm>
          <a:prstGeom prst="rect">
            <a:avLst/>
          </a:prstGeom>
          <a:noFill/>
          <a:ln>
            <a:noFill/>
          </a:ln>
        </p:spPr>
      </p:pic>
      <p:pic>
        <p:nvPicPr>
          <p:cNvPr descr="brac.png" id="180" name="Google Shape;180;p2"/>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
        <p:nvSpPr>
          <p:cNvPr id="181" name="Google Shape;181;p2"/>
          <p:cNvSpPr txBox="1"/>
          <p:nvPr/>
        </p:nvSpPr>
        <p:spPr>
          <a:xfrm>
            <a:off x="584825" y="6135450"/>
            <a:ext cx="6501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Read to know more about Monolithic architecture: </a:t>
            </a:r>
            <a:r>
              <a:rPr b="0" i="0" lang="en-US" sz="1100" u="sng" cap="none" strike="noStrike">
                <a:solidFill>
                  <a:schemeClr val="hlink"/>
                </a:solidFill>
                <a:latin typeface="Calibri"/>
                <a:ea typeface="Calibri"/>
                <a:cs typeface="Calibri"/>
                <a:sym typeface="Calibri"/>
                <a:hlinkClick r:id="rId5"/>
              </a:rPr>
              <a:t>click here</a:t>
            </a:r>
            <a:endParaRPr sz="1100">
              <a:solidFill>
                <a:srgbClr val="9A0000"/>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100">
                <a:solidFill>
                  <a:schemeClr val="dk1"/>
                </a:solidFill>
                <a:latin typeface="Calibri"/>
                <a:ea typeface="Calibri"/>
                <a:cs typeface="Calibri"/>
                <a:sym typeface="Calibri"/>
              </a:rPr>
              <a:t>Read to know more about Agile benefits: </a:t>
            </a:r>
            <a:r>
              <a:rPr lang="en-US" sz="1100" u="sng">
                <a:solidFill>
                  <a:schemeClr val="hlink"/>
                </a:solidFill>
                <a:latin typeface="Calibri"/>
                <a:ea typeface="Calibri"/>
                <a:cs typeface="Calibri"/>
                <a:sym typeface="Calibri"/>
                <a:hlinkClick r:id="rId6"/>
              </a:rPr>
              <a:t>click here</a:t>
            </a:r>
            <a:endParaRPr sz="11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1000"/>
                                        <p:tgtEl>
                                          <p:spTgt spid="1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1000"/>
                                        <p:tgtEl>
                                          <p:spTgt spid="1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1000"/>
                                        <p:tgtEl>
                                          <p:spTgt spid="17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 is ‘Agility?’</a:t>
            </a:r>
            <a:endParaRPr/>
          </a:p>
        </p:txBody>
      </p:sp>
      <p:sp>
        <p:nvSpPr>
          <p:cNvPr id="187" name="Google Shape;187;p3"/>
          <p:cNvSpPr txBox="1"/>
          <p:nvPr>
            <p:ph idx="1" type="body"/>
          </p:nvPr>
        </p:nvSpPr>
        <p:spPr>
          <a:xfrm>
            <a:off x="457200" y="141277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rgbClr val="9A0000"/>
              </a:buClr>
              <a:buSzPts val="1500"/>
              <a:buChar char="•"/>
            </a:pPr>
            <a:r>
              <a:rPr lang="en-US" sz="2000">
                <a:solidFill>
                  <a:srgbClr val="000000"/>
                </a:solidFill>
                <a:latin typeface="Helvetica Neue"/>
                <a:ea typeface="Helvetica Neue"/>
                <a:cs typeface="Helvetica Neue"/>
                <a:sym typeface="Helvetica Neue"/>
              </a:rPr>
              <a:t>Agile is a set of principles and values. It is a practice to be followed.</a:t>
            </a:r>
            <a:endParaRPr/>
          </a:p>
          <a:p>
            <a:pPr indent="-342900" lvl="0" marL="342900" rtl="0" algn="l">
              <a:lnSpc>
                <a:spcPct val="90000"/>
              </a:lnSpc>
              <a:spcBef>
                <a:spcPts val="400"/>
              </a:spcBef>
              <a:spcAft>
                <a:spcPts val="0"/>
              </a:spcAft>
              <a:buClr>
                <a:srgbClr val="9A0000"/>
              </a:buClr>
              <a:buSzPts val="1500"/>
              <a:buChar char="•"/>
            </a:pPr>
            <a:r>
              <a:rPr lang="en-US" sz="2000">
                <a:solidFill>
                  <a:srgbClr val="000000"/>
                </a:solidFill>
                <a:latin typeface="Helvetica Neue"/>
                <a:ea typeface="Helvetica Neue"/>
                <a:cs typeface="Helvetica Neue"/>
                <a:sym typeface="Helvetica Neue"/>
              </a:rPr>
              <a:t>Agile is a combination of Iterative and Incremental process models with focus on process adaptability and customer satisfaction by </a:t>
            </a:r>
            <a:r>
              <a:rPr b="1" lang="en-US" sz="2000">
                <a:solidFill>
                  <a:srgbClr val="000000"/>
                </a:solidFill>
                <a:latin typeface="Helvetica Neue"/>
                <a:ea typeface="Helvetica Neue"/>
                <a:cs typeface="Helvetica Neue"/>
                <a:sym typeface="Helvetica Neue"/>
              </a:rPr>
              <a:t>rapid delivery of working software.</a:t>
            </a:r>
            <a:endParaRPr b="1"/>
          </a:p>
          <a:p>
            <a:pPr indent="-228600" lvl="0" marL="342900" rtl="0" algn="l">
              <a:lnSpc>
                <a:spcPct val="90000"/>
              </a:lnSpc>
              <a:spcBef>
                <a:spcPts val="480"/>
              </a:spcBef>
              <a:spcAft>
                <a:spcPts val="0"/>
              </a:spcAft>
              <a:buClr>
                <a:srgbClr val="9A0000"/>
              </a:buClr>
              <a:buSzPts val="1800"/>
              <a:buFont typeface="Noto Sans Symbols"/>
              <a:buNone/>
            </a:pPr>
            <a:r>
              <a:t/>
            </a:r>
            <a:endParaRPr sz="2400">
              <a:solidFill>
                <a:srgbClr val="000000"/>
              </a:solidFill>
              <a:latin typeface="Helvetica Neue"/>
              <a:ea typeface="Helvetica Neue"/>
              <a:cs typeface="Helvetica Neue"/>
              <a:sym typeface="Helvetica Neue"/>
            </a:endParaRPr>
          </a:p>
          <a:p>
            <a:pPr indent="0" lvl="0" marL="0" rtl="0" algn="l">
              <a:lnSpc>
                <a:spcPct val="100000"/>
              </a:lnSpc>
              <a:spcBef>
                <a:spcPts val="640"/>
              </a:spcBef>
              <a:spcAft>
                <a:spcPts val="0"/>
              </a:spcAft>
              <a:buClr>
                <a:schemeClr val="dk1"/>
              </a:buClr>
              <a:buSzPts val="3200"/>
              <a:buNone/>
            </a:pPr>
            <a:r>
              <a:t/>
            </a:r>
            <a:endParaRPr/>
          </a:p>
        </p:txBody>
      </p:sp>
      <p:pic>
        <p:nvPicPr>
          <p:cNvPr id="188" name="Google Shape;188;p3"/>
          <p:cNvPicPr preferRelativeResize="0"/>
          <p:nvPr/>
        </p:nvPicPr>
        <p:blipFill rotWithShape="1">
          <a:blip r:embed="rId3">
            <a:alphaModFix/>
          </a:blip>
          <a:srcRect b="0" l="0" r="0" t="0"/>
          <a:stretch/>
        </p:blipFill>
        <p:spPr>
          <a:xfrm>
            <a:off x="179512" y="2708920"/>
            <a:ext cx="8352928" cy="3528392"/>
          </a:xfrm>
          <a:prstGeom prst="rect">
            <a:avLst/>
          </a:prstGeom>
          <a:noFill/>
          <a:ln>
            <a:noFill/>
          </a:ln>
        </p:spPr>
      </p:pic>
      <p:pic>
        <p:nvPicPr>
          <p:cNvPr descr="brac.png" id="189" name="Google Shape;189;p3"/>
          <p:cNvPicPr preferRelativeResize="0"/>
          <p:nvPr/>
        </p:nvPicPr>
        <p:blipFill rotWithShape="1">
          <a:blip r:embed="rId4">
            <a:alphaModFix/>
          </a:blip>
          <a:srcRect b="0" l="0" r="0" t="0"/>
          <a:stretch/>
        </p:blipFill>
        <p:spPr>
          <a:xfrm>
            <a:off x="8350500" y="6149475"/>
            <a:ext cx="793500" cy="708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Effect filter="fade" transition="in">
                                      <p:cBhvr>
                                        <p:cTn dur="500"/>
                                        <p:tgtEl>
                                          <p:spTgt spid="1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animEffect filter="fade" transition="in">
                                      <p:cBhvr>
                                        <p:cTn dur="500"/>
                                        <p:tgtEl>
                                          <p:spTgt spid="1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animEffect filter="fade" transition="in">
                                      <p:cBhvr>
                                        <p:cTn dur="500"/>
                                        <p:tgtEl>
                                          <p:spTgt spid="1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animEffect filter="fade" transition="in">
                                      <p:cBhvr>
                                        <p:cTn dur="500"/>
                                        <p:tgtEl>
                                          <p:spTgt spid="1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
          <p:cNvSpPr txBox="1"/>
          <p:nvPr>
            <p:ph type="title"/>
          </p:nvPr>
        </p:nvSpPr>
        <p:spPr>
          <a:xfrm>
            <a:off x="457200" y="274638"/>
            <a:ext cx="8229600" cy="850106"/>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Agile Manifesto</a:t>
            </a:r>
            <a:endParaRPr/>
          </a:p>
        </p:txBody>
      </p:sp>
      <p:sp>
        <p:nvSpPr>
          <p:cNvPr id="195" name="Google Shape;195;p4"/>
          <p:cNvSpPr txBox="1"/>
          <p:nvPr>
            <p:ph idx="1" type="body"/>
          </p:nvPr>
        </p:nvSpPr>
        <p:spPr>
          <a:xfrm>
            <a:off x="467550" y="1052727"/>
            <a:ext cx="8229600" cy="936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00000"/>
              </a:lnSpc>
              <a:spcBef>
                <a:spcPts val="0"/>
              </a:spcBef>
              <a:spcAft>
                <a:spcPts val="0"/>
              </a:spcAft>
              <a:buClr>
                <a:schemeClr val="dk1"/>
              </a:buClr>
              <a:buSzPts val="3200"/>
              <a:buNone/>
            </a:pPr>
            <a:r>
              <a:rPr i="1" lang="en-US"/>
              <a:t>We are uncovering better ways of developing software by doing it and helping others do it.</a:t>
            </a:r>
            <a:endParaRPr/>
          </a:p>
        </p:txBody>
      </p:sp>
      <p:pic>
        <p:nvPicPr>
          <p:cNvPr id="196" name="Google Shape;196;p4"/>
          <p:cNvPicPr preferRelativeResize="0"/>
          <p:nvPr/>
        </p:nvPicPr>
        <p:blipFill rotWithShape="1">
          <a:blip r:embed="rId3">
            <a:alphaModFix/>
          </a:blip>
          <a:srcRect b="0" l="0" r="0" t="0"/>
          <a:stretch/>
        </p:blipFill>
        <p:spPr>
          <a:xfrm>
            <a:off x="6271034" y="2276872"/>
            <a:ext cx="922412" cy="1080120"/>
          </a:xfrm>
          <a:prstGeom prst="rect">
            <a:avLst/>
          </a:prstGeom>
          <a:noFill/>
          <a:ln>
            <a:noFill/>
          </a:ln>
        </p:spPr>
      </p:pic>
      <p:sp>
        <p:nvSpPr>
          <p:cNvPr id="197" name="Google Shape;197;p4"/>
          <p:cNvSpPr txBox="1"/>
          <p:nvPr/>
        </p:nvSpPr>
        <p:spPr>
          <a:xfrm>
            <a:off x="138421" y="3486199"/>
            <a:ext cx="8853174" cy="461665"/>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Individuals and interactions       </a:t>
            </a:r>
            <a:r>
              <a:rPr b="0" i="1" lang="en-US" sz="2400" u="none" cap="none" strike="noStrike">
                <a:solidFill>
                  <a:schemeClr val="dk1"/>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processes and tools</a:t>
            </a:r>
            <a:endParaRPr b="0" i="0" sz="1800" u="none" cap="none" strike="noStrike">
              <a:solidFill>
                <a:schemeClr val="dk1"/>
              </a:solidFill>
              <a:latin typeface="Calibri"/>
              <a:ea typeface="Calibri"/>
              <a:cs typeface="Calibri"/>
              <a:sym typeface="Calibri"/>
            </a:endParaRPr>
          </a:p>
        </p:txBody>
      </p:sp>
      <p:sp>
        <p:nvSpPr>
          <p:cNvPr id="198" name="Google Shape;198;p4"/>
          <p:cNvSpPr txBox="1"/>
          <p:nvPr/>
        </p:nvSpPr>
        <p:spPr>
          <a:xfrm>
            <a:off x="411326" y="3982143"/>
            <a:ext cx="861184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Working software                     </a:t>
            </a:r>
            <a:r>
              <a:rPr b="0" i="1" lang="en-US" sz="2400" u="none" cap="none" strike="noStrike">
                <a:solidFill>
                  <a:srgbClr val="000000"/>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comprehensive documentation</a:t>
            </a:r>
            <a:endParaRPr b="0" i="0" sz="1800" u="none" cap="none" strike="noStrike">
              <a:solidFill>
                <a:schemeClr val="dk1"/>
              </a:solidFill>
              <a:latin typeface="Calibri"/>
              <a:ea typeface="Calibri"/>
              <a:cs typeface="Calibri"/>
              <a:sym typeface="Calibri"/>
            </a:endParaRPr>
          </a:p>
        </p:txBody>
      </p:sp>
      <p:sp>
        <p:nvSpPr>
          <p:cNvPr id="199" name="Google Shape;199;p4"/>
          <p:cNvSpPr txBox="1"/>
          <p:nvPr/>
        </p:nvSpPr>
        <p:spPr>
          <a:xfrm>
            <a:off x="179512" y="4931977"/>
            <a:ext cx="8089138" cy="461665"/>
          </a:xfrm>
          <a:prstGeom prst="rect">
            <a:avLst/>
          </a:prstGeom>
          <a:noFill/>
          <a:ln>
            <a:noFill/>
          </a:ln>
        </p:spPr>
        <p:txBody>
          <a:bodyPr anchorCtr="0" anchor="t" bIns="45700" lIns="91425" spcFirstLastPara="1" rIns="91425" wrap="square" tIns="45700">
            <a:spAutoFit/>
          </a:bodyPr>
          <a:lstStyle/>
          <a:p>
            <a:pPr indent="0" lvl="1"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Responding to change                 </a:t>
            </a:r>
            <a:r>
              <a:rPr b="0" i="1" lang="en-US" sz="2400" u="none" cap="none" strike="noStrike">
                <a:solidFill>
                  <a:schemeClr val="dk1"/>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following a plan </a:t>
            </a:r>
            <a:endParaRPr b="1" i="0" sz="2400" u="none" cap="none" strike="noStrike">
              <a:solidFill>
                <a:srgbClr val="FF0000"/>
              </a:solidFill>
              <a:latin typeface="Calibri"/>
              <a:ea typeface="Calibri"/>
              <a:cs typeface="Calibri"/>
              <a:sym typeface="Calibri"/>
            </a:endParaRPr>
          </a:p>
        </p:txBody>
      </p:sp>
      <p:sp>
        <p:nvSpPr>
          <p:cNvPr id="200" name="Google Shape;200;p4"/>
          <p:cNvSpPr txBox="1"/>
          <p:nvPr/>
        </p:nvSpPr>
        <p:spPr>
          <a:xfrm>
            <a:off x="285880" y="4443808"/>
            <a:ext cx="832702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1" lang="en-US" sz="2400" u="none" cap="none" strike="noStrike">
                <a:solidFill>
                  <a:srgbClr val="00B050"/>
                </a:solidFill>
                <a:latin typeface="Calibri"/>
                <a:ea typeface="Calibri"/>
                <a:cs typeface="Calibri"/>
                <a:sym typeface="Calibri"/>
              </a:rPr>
              <a:t>Customer collaboration             </a:t>
            </a:r>
            <a:r>
              <a:rPr b="0" i="1" lang="en-US" sz="2400" u="none" cap="none" strike="noStrike">
                <a:solidFill>
                  <a:srgbClr val="000000"/>
                </a:solidFill>
                <a:latin typeface="Calibri"/>
                <a:ea typeface="Calibri"/>
                <a:cs typeface="Calibri"/>
                <a:sym typeface="Calibri"/>
              </a:rPr>
              <a:t>over              </a:t>
            </a:r>
            <a:r>
              <a:rPr b="1" i="1" lang="en-US" sz="2400" u="none" cap="none" strike="noStrike">
                <a:solidFill>
                  <a:srgbClr val="FF0000"/>
                </a:solidFill>
                <a:latin typeface="Calibri"/>
                <a:ea typeface="Calibri"/>
                <a:cs typeface="Calibri"/>
                <a:sym typeface="Calibri"/>
              </a:rPr>
              <a:t>contract negotiation</a:t>
            </a:r>
            <a:endParaRPr b="0" i="0" sz="1800" u="none" cap="none" strike="noStrike">
              <a:solidFill>
                <a:schemeClr val="dk1"/>
              </a:solidFill>
              <a:latin typeface="Calibri"/>
              <a:ea typeface="Calibri"/>
              <a:cs typeface="Calibri"/>
              <a:sym typeface="Calibri"/>
            </a:endParaRPr>
          </a:p>
        </p:txBody>
      </p:sp>
      <p:pic>
        <p:nvPicPr>
          <p:cNvPr descr="brac.png" id="201" name="Google Shape;201;p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pic>
        <p:nvPicPr>
          <p:cNvPr id="202" name="Google Shape;202;p4"/>
          <p:cNvPicPr preferRelativeResize="0"/>
          <p:nvPr/>
        </p:nvPicPr>
        <p:blipFill rotWithShape="1">
          <a:blip r:embed="rId5">
            <a:alphaModFix/>
          </a:blip>
          <a:srcRect b="0" l="0" r="0" t="0"/>
          <a:stretch/>
        </p:blipFill>
        <p:spPr>
          <a:xfrm>
            <a:off x="1459784" y="2276872"/>
            <a:ext cx="922414" cy="10801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animEffect filter="fade" transition="in">
                                      <p:cBhvr>
                                        <p:cTn dur="1000"/>
                                        <p:tgtEl>
                                          <p:spTgt spid="1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Agile Methodologies</a:t>
            </a:r>
            <a:endParaRPr/>
          </a:p>
        </p:txBody>
      </p:sp>
      <p:sp>
        <p:nvSpPr>
          <p:cNvPr id="208" name="Google Shape;208;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Extreme Programming</a:t>
            </a:r>
            <a:endParaRPr/>
          </a:p>
          <a:p>
            <a:pPr indent="-342900" lvl="0" marL="342900" rtl="0" algn="l">
              <a:lnSpc>
                <a:spcPct val="100000"/>
              </a:lnSpc>
              <a:spcBef>
                <a:spcPts val="640"/>
              </a:spcBef>
              <a:spcAft>
                <a:spcPts val="0"/>
              </a:spcAft>
              <a:buClr>
                <a:srgbClr val="9A0000"/>
              </a:buClr>
              <a:buSzPts val="3200"/>
              <a:buChar char="•"/>
            </a:pPr>
            <a:r>
              <a:rPr lang="en-US">
                <a:solidFill>
                  <a:srgbClr val="9A0000"/>
                </a:solidFill>
              </a:rPr>
              <a:t>Agile Unified Process (Excluded for Summer 25)</a:t>
            </a:r>
            <a:endParaRPr>
              <a:solidFill>
                <a:srgbClr val="9A0000"/>
              </a:solidFill>
            </a:endParaRPr>
          </a:p>
          <a:p>
            <a:pPr indent="-342900" lvl="0" marL="342900" rtl="0" algn="l">
              <a:lnSpc>
                <a:spcPct val="100000"/>
              </a:lnSpc>
              <a:spcBef>
                <a:spcPts val="640"/>
              </a:spcBef>
              <a:spcAft>
                <a:spcPts val="0"/>
              </a:spcAft>
              <a:buClr>
                <a:schemeClr val="dk1"/>
              </a:buClr>
              <a:buSzPts val="3200"/>
              <a:buChar char="•"/>
            </a:pPr>
            <a:r>
              <a:rPr lang="en-US"/>
              <a:t>Scrum</a:t>
            </a:r>
            <a:endParaRPr/>
          </a:p>
        </p:txBody>
      </p:sp>
      <p:pic>
        <p:nvPicPr>
          <p:cNvPr descr="brac.png" id="209" name="Google Shape;209;p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10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1000"/>
                                        <p:tgtEl>
                                          <p:spTgt spid="2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1000"/>
                                        <p:tgtEl>
                                          <p:spTgt spid="20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1000"/>
          </a:blip>
          <a:stretch>
            <a:fillRect/>
          </a:stretch>
        </a:blipFill>
      </p:bgPr>
    </p:bg>
    <p:spTree>
      <p:nvGrpSpPr>
        <p:cNvPr id="214" name="Shape 214"/>
        <p:cNvGrpSpPr/>
        <p:nvPr/>
      </p:nvGrpSpPr>
      <p:grpSpPr>
        <a:xfrm>
          <a:off x="0" y="0"/>
          <a:ext cx="0" cy="0"/>
          <a:chOff x="0" y="0"/>
          <a:chExt cx="0" cy="0"/>
        </a:xfrm>
      </p:grpSpPr>
      <p:sp>
        <p:nvSpPr>
          <p:cNvPr id="215" name="Google Shape;215;p6"/>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Extreme Programming</a:t>
            </a:r>
            <a:endParaRPr/>
          </a:p>
        </p:txBody>
      </p:sp>
      <p:sp>
        <p:nvSpPr>
          <p:cNvPr id="216" name="Google Shape;216;p6"/>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sp>
        <p:nvSpPr>
          <p:cNvPr id="217" name="Google Shape;217;p6"/>
          <p:cNvSpPr txBox="1"/>
          <p:nvPr/>
        </p:nvSpPr>
        <p:spPr>
          <a:xfrm>
            <a:off x="1187624" y="3284984"/>
            <a:ext cx="6768752" cy="864096"/>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In short also known as </a:t>
            </a:r>
            <a:r>
              <a:rPr b="1" i="0" lang="en-US" sz="2400" u="none" cap="none" strike="noStrike">
                <a:solidFill>
                  <a:srgbClr val="000000"/>
                </a:solidFill>
                <a:latin typeface="Calibri"/>
                <a:ea typeface="Calibri"/>
                <a:cs typeface="Calibri"/>
                <a:sym typeface="Calibri"/>
              </a:rPr>
              <a:t>XP</a:t>
            </a:r>
            <a:r>
              <a:rPr b="0" i="0" lang="en-US" sz="24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New versions may be built several times per day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Increments are delivered to customers every 2 weeks</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All tests must be run for every build and the build is only accepted if tests run successfully.</a:t>
            </a:r>
            <a:endParaRPr b="0" i="0" sz="1400" u="none" cap="none" strike="noStrike">
              <a:solidFill>
                <a:srgbClr val="000000"/>
              </a:solidFill>
              <a:latin typeface="Arial"/>
              <a:ea typeface="Arial"/>
              <a:cs typeface="Arial"/>
              <a:sym typeface="Arial"/>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brac.png" id="218" name="Google Shape;218;p6"/>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XP Workflow</a:t>
            </a:r>
            <a:endParaRPr/>
          </a:p>
        </p:txBody>
      </p:sp>
      <p:pic>
        <p:nvPicPr>
          <p:cNvPr descr="Screen Clipping" id="224" name="Google Shape;224;p7"/>
          <p:cNvPicPr preferRelativeResize="0"/>
          <p:nvPr>
            <p:ph idx="1" type="body"/>
          </p:nvPr>
        </p:nvPicPr>
        <p:blipFill rotWithShape="1">
          <a:blip r:embed="rId3">
            <a:alphaModFix/>
          </a:blip>
          <a:srcRect b="0" l="0" r="0" t="0"/>
          <a:stretch/>
        </p:blipFill>
        <p:spPr>
          <a:xfrm>
            <a:off x="1256837" y="2219889"/>
            <a:ext cx="6630300" cy="3286500"/>
          </a:xfrm>
          <a:prstGeom prst="rect">
            <a:avLst/>
          </a:prstGeom>
          <a:noFill/>
          <a:ln>
            <a:noFill/>
          </a:ln>
        </p:spPr>
      </p:pic>
      <p:pic>
        <p:nvPicPr>
          <p:cNvPr descr="brac.png" id="225" name="Google Shape;225;p7"/>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XP Principle or Practice</a:t>
            </a:r>
            <a:endParaRPr/>
          </a:p>
        </p:txBody>
      </p:sp>
      <p:pic>
        <p:nvPicPr>
          <p:cNvPr descr="Screen Clipping" id="231" name="Google Shape;231;p8"/>
          <p:cNvPicPr preferRelativeResize="0"/>
          <p:nvPr>
            <p:ph idx="1" type="body"/>
          </p:nvPr>
        </p:nvPicPr>
        <p:blipFill rotWithShape="1">
          <a:blip r:embed="rId3">
            <a:alphaModFix/>
          </a:blip>
          <a:srcRect b="46369" l="0" r="0" t="5725"/>
          <a:stretch/>
        </p:blipFill>
        <p:spPr>
          <a:xfrm>
            <a:off x="323528" y="2060848"/>
            <a:ext cx="2667000" cy="3254001"/>
          </a:xfrm>
          <a:prstGeom prst="rect">
            <a:avLst/>
          </a:prstGeom>
          <a:noFill/>
          <a:ln>
            <a:noFill/>
          </a:ln>
        </p:spPr>
      </p:pic>
      <p:sp>
        <p:nvSpPr>
          <p:cNvPr id="232" name="Google Shape;23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Chapter 3 Agile software development</a:t>
            </a:r>
            <a:endParaRPr/>
          </a:p>
        </p:txBody>
      </p:sp>
      <p:sp>
        <p:nvSpPr>
          <p:cNvPr id="233" name="Google Shape;23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creen Clipping" id="234" name="Google Shape;234;p8"/>
          <p:cNvPicPr preferRelativeResize="0"/>
          <p:nvPr/>
        </p:nvPicPr>
        <p:blipFill rotWithShape="1">
          <a:blip r:embed="rId4">
            <a:alphaModFix/>
          </a:blip>
          <a:srcRect b="0" l="0" r="0" t="0"/>
          <a:stretch/>
        </p:blipFill>
        <p:spPr>
          <a:xfrm>
            <a:off x="6228184" y="2420888"/>
            <a:ext cx="2679215" cy="1572873"/>
          </a:xfrm>
          <a:prstGeom prst="rect">
            <a:avLst/>
          </a:prstGeom>
          <a:noFill/>
          <a:ln>
            <a:noFill/>
          </a:ln>
        </p:spPr>
      </p:pic>
      <p:pic>
        <p:nvPicPr>
          <p:cNvPr descr="Screen Clipping" id="235" name="Google Shape;235;p8"/>
          <p:cNvPicPr preferRelativeResize="0"/>
          <p:nvPr/>
        </p:nvPicPr>
        <p:blipFill rotWithShape="1">
          <a:blip r:embed="rId5">
            <a:alphaModFix/>
          </a:blip>
          <a:srcRect b="0" l="0" r="0" t="0"/>
          <a:stretch/>
        </p:blipFill>
        <p:spPr>
          <a:xfrm>
            <a:off x="3347864" y="1628800"/>
            <a:ext cx="2766919" cy="3251129"/>
          </a:xfrm>
          <a:prstGeom prst="rect">
            <a:avLst/>
          </a:prstGeom>
          <a:noFill/>
          <a:ln>
            <a:noFill/>
          </a:ln>
        </p:spPr>
      </p:pic>
      <p:pic>
        <p:nvPicPr>
          <p:cNvPr descr="brac.png" id="236" name="Google Shape;236;p8"/>
          <p:cNvPicPr preferRelativeResize="0"/>
          <p:nvPr/>
        </p:nvPicPr>
        <p:blipFill rotWithShape="1">
          <a:blip r:embed="rId6">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Pair Programming</a:t>
            </a:r>
            <a:endParaRPr/>
          </a:p>
        </p:txBody>
      </p:sp>
      <p:pic>
        <p:nvPicPr>
          <p:cNvPr id="242" name="Google Shape;242;p9"/>
          <p:cNvPicPr preferRelativeResize="0"/>
          <p:nvPr>
            <p:ph idx="1" type="body"/>
          </p:nvPr>
        </p:nvPicPr>
        <p:blipFill rotWithShape="1">
          <a:blip r:embed="rId3">
            <a:alphaModFix/>
          </a:blip>
          <a:srcRect b="0" l="0" r="0" t="0"/>
          <a:stretch/>
        </p:blipFill>
        <p:spPr>
          <a:xfrm>
            <a:off x="0" y="2708920"/>
            <a:ext cx="5718408" cy="4005816"/>
          </a:xfrm>
          <a:prstGeom prst="rect">
            <a:avLst/>
          </a:prstGeom>
          <a:noFill/>
          <a:ln>
            <a:noFill/>
          </a:ln>
        </p:spPr>
      </p:pic>
      <p:sp>
        <p:nvSpPr>
          <p:cNvPr id="243" name="Google Shape;243;p9"/>
          <p:cNvSpPr txBox="1"/>
          <p:nvPr/>
        </p:nvSpPr>
        <p:spPr>
          <a:xfrm>
            <a:off x="1979712" y="1249046"/>
            <a:ext cx="6264696" cy="120032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Two people code in share, they switch roles from observer to -navigator frequently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Observing code produces better code, so less business cost.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Support each other, better chance for learning.</a:t>
            </a:r>
            <a:endParaRPr b="0" i="0" sz="1400" u="none" cap="none" strike="noStrike">
              <a:solidFill>
                <a:srgbClr val="000000"/>
              </a:solidFill>
              <a:latin typeface="Arial"/>
              <a:ea typeface="Arial"/>
              <a:cs typeface="Arial"/>
              <a:sym typeface="Arial"/>
            </a:endParaRPr>
          </a:p>
        </p:txBody>
      </p:sp>
      <p:pic>
        <p:nvPicPr>
          <p:cNvPr descr="brac.png" id="244" name="Google Shape;244;p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5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500"/>
                                        <p:tgtEl>
                                          <p:spTgt spid="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Effect filter="fade" transition="in">
                                      <p:cBhvr>
                                        <p:cTn dur="500"/>
                                        <p:tgtEl>
                                          <p:spTgt spid="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Unit Testing</a:t>
            </a:r>
            <a:endParaRPr/>
          </a:p>
        </p:txBody>
      </p:sp>
      <p:pic>
        <p:nvPicPr>
          <p:cNvPr id="250" name="Google Shape;250;p10"/>
          <p:cNvPicPr preferRelativeResize="0"/>
          <p:nvPr>
            <p:ph idx="1" type="body"/>
          </p:nvPr>
        </p:nvPicPr>
        <p:blipFill rotWithShape="1">
          <a:blip r:embed="rId3">
            <a:alphaModFix/>
          </a:blip>
          <a:srcRect b="0" l="0" r="0" t="0"/>
          <a:stretch/>
        </p:blipFill>
        <p:spPr>
          <a:xfrm>
            <a:off x="4355976" y="1628800"/>
            <a:ext cx="4525963" cy="4525963"/>
          </a:xfrm>
          <a:prstGeom prst="rect">
            <a:avLst/>
          </a:prstGeom>
          <a:noFill/>
          <a:ln>
            <a:noFill/>
          </a:ln>
        </p:spPr>
      </p:pic>
      <p:sp>
        <p:nvSpPr>
          <p:cNvPr id="251" name="Google Shape;251;p10"/>
          <p:cNvSpPr txBox="1"/>
          <p:nvPr/>
        </p:nvSpPr>
        <p:spPr>
          <a:xfrm>
            <a:off x="0" y="2132856"/>
            <a:ext cx="4248600" cy="20319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Writes unit test for each method to identify problems and resolve it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Test First Development (TFD) is used to ensure better code quality and less error. It refers to write test code first and after that write the development code.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252" name="Google Shape;252;p10"/>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5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5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5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1"/>
          <p:cNvSpPr txBox="1"/>
          <p:nvPr>
            <p:ph type="title"/>
          </p:nvPr>
        </p:nvSpPr>
        <p:spPr>
          <a:xfrm>
            <a:off x="539552" y="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Refactoring</a:t>
            </a:r>
            <a:endParaRPr/>
          </a:p>
        </p:txBody>
      </p:sp>
      <p:sp>
        <p:nvSpPr>
          <p:cNvPr id="258" name="Google Shape;258;p11"/>
          <p:cNvSpPr txBox="1"/>
          <p:nvPr>
            <p:ph idx="1" type="body"/>
          </p:nvPr>
        </p:nvSpPr>
        <p:spPr>
          <a:xfrm>
            <a:off x="395525" y="1340775"/>
            <a:ext cx="4752900" cy="42744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480"/>
              <a:buChar char="•"/>
            </a:pPr>
            <a:r>
              <a:rPr lang="en-US" sz="2480"/>
              <a:t>It’s a technique for restructuring existing code by changing its internal structure without changing its external behaviour.</a:t>
            </a:r>
            <a:endParaRPr/>
          </a:p>
          <a:p>
            <a:pPr indent="-342900" lvl="0" marL="342900" rtl="0" algn="l">
              <a:lnSpc>
                <a:spcPct val="80000"/>
              </a:lnSpc>
              <a:spcBef>
                <a:spcPts val="496"/>
              </a:spcBef>
              <a:spcAft>
                <a:spcPts val="0"/>
              </a:spcAft>
              <a:buClr>
                <a:schemeClr val="dk1"/>
              </a:buClr>
              <a:buSzPts val="2480"/>
              <a:buChar char="•"/>
            </a:pPr>
            <a:r>
              <a:rPr lang="en-US" sz="2480"/>
              <a:t>Refactoring includes reducing duplicate codes, breaking long classes/methods into small ones, appropriate variable naming and many more.</a:t>
            </a:r>
            <a:endParaRPr/>
          </a:p>
          <a:p>
            <a:pPr indent="-342900" lvl="0" marL="342900" rtl="0" algn="l">
              <a:lnSpc>
                <a:spcPct val="80000"/>
              </a:lnSpc>
              <a:spcBef>
                <a:spcPts val="496"/>
              </a:spcBef>
              <a:spcAft>
                <a:spcPts val="0"/>
              </a:spcAft>
              <a:buClr>
                <a:schemeClr val="dk1"/>
              </a:buClr>
              <a:buSzPts val="2480"/>
              <a:buChar char="•"/>
            </a:pPr>
            <a:r>
              <a:rPr lang="en-US" sz="2480"/>
              <a:t>It is done for requirement change, improving design and easy extensibility of software.</a:t>
            </a:r>
            <a:endParaRPr sz="2480"/>
          </a:p>
        </p:txBody>
      </p:sp>
      <p:pic>
        <p:nvPicPr>
          <p:cNvPr id="259" name="Google Shape;259;p11"/>
          <p:cNvPicPr preferRelativeResize="0"/>
          <p:nvPr/>
        </p:nvPicPr>
        <p:blipFill rotWithShape="1">
          <a:blip r:embed="rId3">
            <a:alphaModFix/>
          </a:blip>
          <a:srcRect b="0" l="0" r="0" t="0"/>
          <a:stretch/>
        </p:blipFill>
        <p:spPr>
          <a:xfrm>
            <a:off x="5319601" y="1252600"/>
            <a:ext cx="3732026" cy="1634800"/>
          </a:xfrm>
          <a:prstGeom prst="rect">
            <a:avLst/>
          </a:prstGeom>
          <a:noFill/>
          <a:ln>
            <a:noFill/>
          </a:ln>
        </p:spPr>
      </p:pic>
      <p:pic>
        <p:nvPicPr>
          <p:cNvPr descr="brac.png" id="260" name="Google Shape;260;p1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pic>
        <p:nvPicPr>
          <p:cNvPr id="261" name="Google Shape;261;p11"/>
          <p:cNvPicPr preferRelativeResize="0"/>
          <p:nvPr/>
        </p:nvPicPr>
        <p:blipFill rotWithShape="1">
          <a:blip r:embed="rId5">
            <a:alphaModFix/>
          </a:blip>
          <a:srcRect b="0" l="0" r="0" t="0"/>
          <a:stretch/>
        </p:blipFill>
        <p:spPr>
          <a:xfrm>
            <a:off x="5319600" y="2996975"/>
            <a:ext cx="3732024" cy="26182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5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5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5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mt="21000"/>
          </a:blip>
          <a:stretch>
            <a:fillRect/>
          </a:stretch>
        </a:blipFill>
      </p:bgPr>
    </p:bg>
    <p:spTree>
      <p:nvGrpSpPr>
        <p:cNvPr id="266" name="Shape 266"/>
        <p:cNvGrpSpPr/>
        <p:nvPr/>
      </p:nvGrpSpPr>
      <p:grpSpPr>
        <a:xfrm>
          <a:off x="0" y="0"/>
          <a:ext cx="0" cy="0"/>
          <a:chOff x="0" y="0"/>
          <a:chExt cx="0" cy="0"/>
        </a:xfrm>
      </p:grpSpPr>
      <p:sp>
        <p:nvSpPr>
          <p:cNvPr id="267" name="Google Shape;267;p12"/>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Agile Unified Process</a:t>
            </a:r>
            <a:endParaRPr/>
          </a:p>
        </p:txBody>
      </p:sp>
      <p:sp>
        <p:nvSpPr>
          <p:cNvPr id="268" name="Google Shape;268;p12"/>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sp>
        <p:nvSpPr>
          <p:cNvPr id="269" name="Google Shape;269;p12"/>
          <p:cNvSpPr txBox="1"/>
          <p:nvPr/>
        </p:nvSpPr>
        <p:spPr>
          <a:xfrm>
            <a:off x="1187624" y="3284984"/>
            <a:ext cx="6768752" cy="864096"/>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Another Agile Software Development Methodology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Agile Unified Process (AUP) is a simplified version of the Rational Unified Process (RUP).</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lnSpc>
                <a:spcPct val="80000"/>
              </a:lnSpc>
              <a:spcBef>
                <a:spcPts val="48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brac.png" id="270" name="Google Shape;270;p12"/>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13"/>
          <p:cNvSpPr txBox="1"/>
          <p:nvPr>
            <p:ph type="title"/>
          </p:nvPr>
        </p:nvSpPr>
        <p:spPr>
          <a:xfrm>
            <a:off x="467544" y="260648"/>
            <a:ext cx="8229600" cy="63408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AUP Phases</a:t>
            </a:r>
            <a:endParaRPr sz="3959"/>
          </a:p>
        </p:txBody>
      </p:sp>
      <p:grpSp>
        <p:nvGrpSpPr>
          <p:cNvPr id="276" name="Google Shape;276;p13"/>
          <p:cNvGrpSpPr/>
          <p:nvPr/>
        </p:nvGrpSpPr>
        <p:grpSpPr>
          <a:xfrm>
            <a:off x="467544" y="1214605"/>
            <a:ext cx="8229600" cy="4893705"/>
            <a:chOff x="0" y="89861"/>
            <a:chExt cx="8229600" cy="4893705"/>
          </a:xfrm>
        </p:grpSpPr>
        <p:sp>
          <p:nvSpPr>
            <p:cNvPr id="277" name="Google Shape;277;p13"/>
            <p:cNvSpPr/>
            <p:nvPr/>
          </p:nvSpPr>
          <p:spPr>
            <a:xfrm>
              <a:off x="0" y="340781"/>
              <a:ext cx="8229600" cy="963900"/>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3"/>
            <p:cNvSpPr txBox="1"/>
            <p:nvPr/>
          </p:nvSpPr>
          <p:spPr>
            <a:xfrm>
              <a:off x="0" y="34078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Try to identify the business scope of the project, initial requirements and potential solution of the problem.  </a:t>
              </a:r>
              <a:endParaRPr b="0" i="0" sz="1700" u="none" cap="none" strike="noStrike">
                <a:solidFill>
                  <a:schemeClr val="dk1"/>
                </a:solidFill>
                <a:latin typeface="Calibri"/>
                <a:ea typeface="Calibri"/>
                <a:cs typeface="Calibri"/>
                <a:sym typeface="Calibri"/>
              </a:endParaRPr>
            </a:p>
          </p:txBody>
        </p:sp>
        <p:sp>
          <p:nvSpPr>
            <p:cNvPr id="279" name="Google Shape;279;p13"/>
            <p:cNvSpPr/>
            <p:nvPr/>
          </p:nvSpPr>
          <p:spPr>
            <a:xfrm>
              <a:off x="411480" y="8986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3"/>
            <p:cNvSpPr txBox="1"/>
            <p:nvPr/>
          </p:nvSpPr>
          <p:spPr>
            <a:xfrm>
              <a:off x="411480" y="8986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Inception</a:t>
              </a:r>
              <a:endParaRPr b="0" i="0" sz="1700" u="none" cap="none" strike="noStrike">
                <a:solidFill>
                  <a:schemeClr val="lt1"/>
                </a:solidFill>
                <a:latin typeface="Calibri"/>
                <a:ea typeface="Calibri"/>
                <a:cs typeface="Calibri"/>
                <a:sym typeface="Calibri"/>
              </a:endParaRPr>
            </a:p>
          </p:txBody>
        </p:sp>
        <p:sp>
          <p:nvSpPr>
            <p:cNvPr id="281" name="Google Shape;281;p13"/>
            <p:cNvSpPr/>
            <p:nvPr/>
          </p:nvSpPr>
          <p:spPr>
            <a:xfrm>
              <a:off x="0" y="1647401"/>
              <a:ext cx="8229600" cy="963900"/>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3"/>
            <p:cNvSpPr txBox="1"/>
            <p:nvPr/>
          </p:nvSpPr>
          <p:spPr>
            <a:xfrm>
              <a:off x="0" y="164740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Design and prove the solution architecture, more requirements can be extracted</a:t>
              </a:r>
              <a:endParaRPr b="0" i="0" sz="1700" u="none" cap="none" strike="noStrike">
                <a:solidFill>
                  <a:schemeClr val="dk1"/>
                </a:solidFill>
                <a:latin typeface="Calibri"/>
                <a:ea typeface="Calibri"/>
                <a:cs typeface="Calibri"/>
                <a:sym typeface="Calibri"/>
              </a:endParaRPr>
            </a:p>
          </p:txBody>
        </p:sp>
        <p:sp>
          <p:nvSpPr>
            <p:cNvPr id="283" name="Google Shape;283;p13"/>
            <p:cNvSpPr/>
            <p:nvPr/>
          </p:nvSpPr>
          <p:spPr>
            <a:xfrm>
              <a:off x="411480" y="139648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3"/>
            <p:cNvSpPr txBox="1"/>
            <p:nvPr/>
          </p:nvSpPr>
          <p:spPr>
            <a:xfrm>
              <a:off x="411480" y="139648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Elaboration</a:t>
              </a:r>
              <a:endParaRPr b="0" i="0" sz="1700" u="none" cap="none" strike="noStrike">
                <a:solidFill>
                  <a:schemeClr val="lt1"/>
                </a:solidFill>
                <a:latin typeface="Calibri"/>
                <a:ea typeface="Calibri"/>
                <a:cs typeface="Calibri"/>
                <a:sym typeface="Calibri"/>
              </a:endParaRPr>
            </a:p>
          </p:txBody>
        </p:sp>
        <p:sp>
          <p:nvSpPr>
            <p:cNvPr id="285" name="Google Shape;285;p13"/>
            <p:cNvSpPr/>
            <p:nvPr/>
          </p:nvSpPr>
          <p:spPr>
            <a:xfrm>
              <a:off x="0" y="2954021"/>
              <a:ext cx="8229600" cy="963900"/>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3"/>
            <p:cNvSpPr txBox="1"/>
            <p:nvPr/>
          </p:nvSpPr>
          <p:spPr>
            <a:xfrm>
              <a:off x="0" y="2954021"/>
              <a:ext cx="8229600" cy="963900"/>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Continuous implementation and testing (specially unit testing) in form of iterations </a:t>
              </a:r>
              <a:endParaRPr b="0" i="0" sz="1700" u="none" cap="none" strike="noStrike">
                <a:solidFill>
                  <a:schemeClr val="dk1"/>
                </a:solidFill>
                <a:latin typeface="Calibri"/>
                <a:ea typeface="Calibri"/>
                <a:cs typeface="Calibri"/>
                <a:sym typeface="Calibri"/>
              </a:endParaRPr>
            </a:p>
          </p:txBody>
        </p:sp>
        <p:sp>
          <p:nvSpPr>
            <p:cNvPr id="287" name="Google Shape;287;p13"/>
            <p:cNvSpPr/>
            <p:nvPr/>
          </p:nvSpPr>
          <p:spPr>
            <a:xfrm>
              <a:off x="370385" y="2702624"/>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3"/>
            <p:cNvSpPr txBox="1"/>
            <p:nvPr/>
          </p:nvSpPr>
          <p:spPr>
            <a:xfrm>
              <a:off x="370385" y="2702624"/>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Construction</a:t>
              </a:r>
              <a:endParaRPr b="0" i="0" sz="1700" u="none" cap="none" strike="noStrike">
                <a:solidFill>
                  <a:schemeClr val="lt1"/>
                </a:solidFill>
                <a:latin typeface="Calibri"/>
                <a:ea typeface="Calibri"/>
                <a:cs typeface="Calibri"/>
                <a:sym typeface="Calibri"/>
              </a:endParaRPr>
            </a:p>
          </p:txBody>
        </p:sp>
        <p:sp>
          <p:nvSpPr>
            <p:cNvPr id="289" name="Google Shape;289;p13"/>
            <p:cNvSpPr/>
            <p:nvPr/>
          </p:nvSpPr>
          <p:spPr>
            <a:xfrm>
              <a:off x="0" y="4260641"/>
              <a:ext cx="8229600" cy="722925"/>
            </a:xfrm>
            <a:prstGeom prst="rect">
              <a:avLst/>
            </a:prstGeom>
            <a:solidFill>
              <a:schemeClr val="lt1">
                <a:alpha val="88627"/>
              </a:schemeClr>
            </a:solidFill>
            <a:ln cap="flat" cmpd="sng" w="25400">
              <a:solidFill>
                <a:srgbClr val="A5B4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3"/>
            <p:cNvSpPr txBox="1"/>
            <p:nvPr/>
          </p:nvSpPr>
          <p:spPr>
            <a:xfrm>
              <a:off x="0" y="4260641"/>
              <a:ext cx="8229600" cy="722925"/>
            </a:xfrm>
            <a:prstGeom prst="rect">
              <a:avLst/>
            </a:prstGeom>
            <a:noFill/>
            <a:ln>
              <a:noFill/>
            </a:ln>
          </p:spPr>
          <p:txBody>
            <a:bodyPr anchorCtr="0" anchor="t" bIns="120900" lIns="638700" spcFirstLastPara="1" rIns="638700" wrap="square" tIns="3540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Lastly,  deploy the system in  production environment and adjust feedbacks.</a:t>
              </a:r>
              <a:endParaRPr b="0" i="0" sz="1700" u="none" cap="none" strike="noStrike">
                <a:solidFill>
                  <a:schemeClr val="dk1"/>
                </a:solidFill>
                <a:latin typeface="Calibri"/>
                <a:ea typeface="Calibri"/>
                <a:cs typeface="Calibri"/>
                <a:sym typeface="Calibri"/>
              </a:endParaRPr>
            </a:p>
          </p:txBody>
        </p:sp>
        <p:sp>
          <p:nvSpPr>
            <p:cNvPr id="291" name="Google Shape;291;p13"/>
            <p:cNvSpPr/>
            <p:nvPr/>
          </p:nvSpPr>
          <p:spPr>
            <a:xfrm>
              <a:off x="411480" y="4009721"/>
              <a:ext cx="5760720" cy="501840"/>
            </a:xfrm>
            <a:prstGeom prst="roundRect">
              <a:avLst>
                <a:gd fmla="val 16667" name="adj"/>
              </a:avLst>
            </a:prstGeom>
            <a:solidFill>
              <a:srgbClr val="A5B49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3"/>
            <p:cNvSpPr txBox="1"/>
            <p:nvPr/>
          </p:nvSpPr>
          <p:spPr>
            <a:xfrm>
              <a:off x="411480" y="4009721"/>
              <a:ext cx="5760720" cy="501840"/>
            </a:xfrm>
            <a:prstGeom prst="rect">
              <a:avLst/>
            </a:prstGeom>
            <a:noFill/>
            <a:ln>
              <a:noFill/>
            </a:ln>
          </p:spPr>
          <p:txBody>
            <a:bodyPr anchorCtr="0" anchor="ctr" bIns="0" lIns="217725" spcFirstLastPara="1" rIns="217725" wrap="square" tIns="0">
              <a:noAutofit/>
            </a:bodyPr>
            <a:lstStyle/>
            <a:p>
              <a:pPr indent="0" lvl="0" marL="0" marR="0" rtl="0" algn="l">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Calibri"/>
                  <a:ea typeface="Calibri"/>
                  <a:cs typeface="Calibri"/>
                  <a:sym typeface="Calibri"/>
                </a:rPr>
                <a:t>Transition</a:t>
              </a:r>
              <a:endParaRPr b="0" i="0" sz="1400" u="none" cap="none" strike="noStrike">
                <a:solidFill>
                  <a:srgbClr val="000000"/>
                </a:solidFill>
                <a:latin typeface="Arial"/>
                <a:ea typeface="Arial"/>
                <a:cs typeface="Arial"/>
                <a:sym typeface="Arial"/>
              </a:endParaRPr>
            </a:p>
          </p:txBody>
        </p:sp>
      </p:grpSp>
      <p:pic>
        <p:nvPicPr>
          <p:cNvPr descr="brac.png" id="293" name="Google Shape;293;p1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 name="Shape 297"/>
        <p:cNvGrpSpPr/>
        <p:nvPr/>
      </p:nvGrpSpPr>
      <p:grpSpPr>
        <a:xfrm>
          <a:off x="0" y="0"/>
          <a:ext cx="0" cy="0"/>
          <a:chOff x="0" y="0"/>
          <a:chExt cx="0" cy="0"/>
        </a:xfrm>
      </p:grpSpPr>
      <p:sp>
        <p:nvSpPr>
          <p:cNvPr id="298" name="Google Shape;298;p14"/>
          <p:cNvSpPr txBox="1"/>
          <p:nvPr>
            <p:ph type="title"/>
          </p:nvPr>
        </p:nvSpPr>
        <p:spPr>
          <a:xfrm>
            <a:off x="467544" y="20786"/>
            <a:ext cx="8229600" cy="10319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AUP Disciplines</a:t>
            </a:r>
            <a:endParaRPr/>
          </a:p>
        </p:txBody>
      </p:sp>
      <p:sp>
        <p:nvSpPr>
          <p:cNvPr id="299" name="Google Shape;299;p14"/>
          <p:cNvSpPr txBox="1"/>
          <p:nvPr>
            <p:ph idx="1" type="body"/>
          </p:nvPr>
        </p:nvSpPr>
        <p:spPr>
          <a:xfrm>
            <a:off x="467544" y="980728"/>
            <a:ext cx="8229600" cy="492941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Noto Sans Symbols"/>
              <a:buChar char="❖"/>
            </a:pPr>
            <a:r>
              <a:rPr b="1" lang="en-US" sz="2000"/>
              <a:t>Model</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Implementation</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Test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Deploymen</a:t>
            </a:r>
            <a:r>
              <a:rPr lang="en-US" sz="2000"/>
              <a:t>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Configuration Management</a:t>
            </a:r>
            <a:r>
              <a:rPr lang="en-US" sz="2000"/>
              <a:t>: Manage access to project artifacts/versions. This includes not only tracking artifact versions over time but also controlling and managing changes to them.</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Project Management</a:t>
            </a:r>
            <a:r>
              <a:rPr lang="en-US" sz="2000"/>
              <a:t>: Direct the activities that take place within the project. This includes managing risks, directing people (assigning tasks, tracking progress, etc.), and coordinating with people and systems outside the scope of the project to be sure that it is delivered on time and within budget.</a:t>
            </a:r>
            <a:endParaRPr/>
          </a:p>
          <a:p>
            <a:pPr indent="-342900" lvl="0" marL="342900" rtl="0" algn="l">
              <a:lnSpc>
                <a:spcPct val="100000"/>
              </a:lnSpc>
              <a:spcBef>
                <a:spcPts val="400"/>
              </a:spcBef>
              <a:spcAft>
                <a:spcPts val="0"/>
              </a:spcAft>
              <a:buClr>
                <a:schemeClr val="dk1"/>
              </a:buClr>
              <a:buSzPts val="2000"/>
              <a:buFont typeface="Noto Sans Symbols"/>
              <a:buChar char="❖"/>
            </a:pPr>
            <a:r>
              <a:rPr b="1" lang="en-US" sz="2000"/>
              <a:t>Environment:</a:t>
            </a:r>
            <a:r>
              <a:rPr lang="en-US" sz="2000"/>
              <a:t> Support the rest of the effort by ensuring that the proper process, guidance (standards and guidelines), and tools (hardware, software, etc.) are available for the team as needed.</a:t>
            </a:r>
            <a:endParaRPr/>
          </a:p>
        </p:txBody>
      </p:sp>
      <p:pic>
        <p:nvPicPr>
          <p:cNvPr descr="brac.png" id="300" name="Google Shape;300;p1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1000"/>
                                        <p:tgtEl>
                                          <p:spTgt spid="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animEffect filter="fade" transition="in">
                                      <p:cBhvr>
                                        <p:cTn dur="1000"/>
                                        <p:tgtEl>
                                          <p:spTgt spid="2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animEffect filter="fade" transition="in">
                                      <p:cBhvr>
                                        <p:cTn dur="1000"/>
                                        <p:tgtEl>
                                          <p:spTgt spid="2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animEffect filter="fade" transition="in">
                                      <p:cBhvr>
                                        <p:cTn dur="1000"/>
                                        <p:tgtEl>
                                          <p:spTgt spid="2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4" st="4"/>
                                            </p:txEl>
                                          </p:spTgt>
                                        </p:tgtEl>
                                        <p:attrNameLst>
                                          <p:attrName>style.visibility</p:attrName>
                                        </p:attrNameLst>
                                      </p:cBhvr>
                                      <p:to>
                                        <p:strVal val="visible"/>
                                      </p:to>
                                    </p:set>
                                    <p:animEffect filter="fade" transition="in">
                                      <p:cBhvr>
                                        <p:cTn dur="1000"/>
                                        <p:tgtEl>
                                          <p:spTgt spid="2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5" st="5"/>
                                            </p:txEl>
                                          </p:spTgt>
                                        </p:tgtEl>
                                        <p:attrNameLst>
                                          <p:attrName>style.visibility</p:attrName>
                                        </p:attrNameLst>
                                      </p:cBhvr>
                                      <p:to>
                                        <p:strVal val="visible"/>
                                      </p:to>
                                    </p:set>
                                    <p:animEffect filter="fade" transition="in">
                                      <p:cBhvr>
                                        <p:cTn dur="1000"/>
                                        <p:tgtEl>
                                          <p:spTgt spid="2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6" st="6"/>
                                            </p:txEl>
                                          </p:spTgt>
                                        </p:tgtEl>
                                        <p:attrNameLst>
                                          <p:attrName>style.visibility</p:attrName>
                                        </p:attrNameLst>
                                      </p:cBhvr>
                                      <p:to>
                                        <p:strVal val="visible"/>
                                      </p:to>
                                    </p:set>
                                    <p:animEffect filter="fade" transition="in">
                                      <p:cBhvr>
                                        <p:cTn dur="1000"/>
                                        <p:tgtEl>
                                          <p:spTgt spid="29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06" name="Google Shape;306;p15"/>
          <p:cNvPicPr preferRelativeResize="0"/>
          <p:nvPr>
            <p:ph idx="1" type="body"/>
          </p:nvPr>
        </p:nvPicPr>
        <p:blipFill rotWithShape="1">
          <a:blip r:embed="rId3">
            <a:alphaModFix/>
          </a:blip>
          <a:srcRect b="0" l="0" r="0" t="0"/>
          <a:stretch/>
        </p:blipFill>
        <p:spPr>
          <a:xfrm>
            <a:off x="827584" y="1628800"/>
            <a:ext cx="7048500" cy="3888432"/>
          </a:xfrm>
          <a:prstGeom prst="rect">
            <a:avLst/>
          </a:prstGeom>
          <a:noFill/>
          <a:ln>
            <a:noFill/>
          </a:ln>
        </p:spPr>
      </p:pic>
      <p:pic>
        <p:nvPicPr>
          <p:cNvPr descr="brac.png" id="307" name="Google Shape;307;p15"/>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1000"/>
          </a:blip>
          <a:stretch>
            <a:fillRect/>
          </a:stretch>
        </a:blipFill>
      </p:bgPr>
    </p:bg>
    <p:spTree>
      <p:nvGrpSpPr>
        <p:cNvPr id="312" name="Shape 312"/>
        <p:cNvGrpSpPr/>
        <p:nvPr/>
      </p:nvGrpSpPr>
      <p:grpSpPr>
        <a:xfrm>
          <a:off x="0" y="0"/>
          <a:ext cx="0" cy="0"/>
          <a:chOff x="0" y="0"/>
          <a:chExt cx="0" cy="0"/>
        </a:xfrm>
      </p:grpSpPr>
      <p:sp>
        <p:nvSpPr>
          <p:cNvPr id="313" name="Google Shape;313;p16"/>
          <p:cNvSpPr txBox="1"/>
          <p:nvPr>
            <p:ph type="title"/>
          </p:nvPr>
        </p:nvSpPr>
        <p:spPr>
          <a:xfrm>
            <a:off x="421196" y="228141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Black"/>
              <a:buNone/>
            </a:pPr>
            <a:r>
              <a:rPr b="1" lang="en-US">
                <a:latin typeface="Arial Black"/>
                <a:ea typeface="Arial Black"/>
                <a:cs typeface="Arial Black"/>
                <a:sym typeface="Arial Black"/>
              </a:rPr>
              <a:t>Scrum</a:t>
            </a:r>
            <a:endParaRPr/>
          </a:p>
        </p:txBody>
      </p:sp>
      <p:sp>
        <p:nvSpPr>
          <p:cNvPr id="314" name="Google Shape;314;p16"/>
          <p:cNvSpPr txBox="1"/>
          <p:nvPr/>
        </p:nvSpPr>
        <p:spPr>
          <a:xfrm>
            <a:off x="1007125" y="3284975"/>
            <a:ext cx="7145700" cy="1882500"/>
          </a:xfrm>
          <a:prstGeom prst="rect">
            <a:avLst/>
          </a:prstGeom>
          <a:noFill/>
          <a:ln>
            <a:noFill/>
          </a:ln>
        </p:spPr>
        <p:txBody>
          <a:bodyPr anchorCtr="0" anchor="t" bIns="45700" lIns="91425" spcFirstLastPara="1" rIns="91425" wrap="square" tIns="45700">
            <a:normAutofit/>
          </a:bodyPr>
          <a:lstStyle/>
          <a:p>
            <a:pPr indent="-292100" lvl="0" marL="342900" marR="0" rtl="0" algn="l">
              <a:lnSpc>
                <a:spcPct val="80000"/>
              </a:lnSpc>
              <a:spcBef>
                <a:spcPts val="0"/>
              </a:spcBef>
              <a:spcAft>
                <a:spcPts val="0"/>
              </a:spcAft>
              <a:buClr>
                <a:schemeClr val="dk1"/>
              </a:buClr>
              <a:buSzPts val="800"/>
              <a:buFont typeface="Arial"/>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It is the most widely used Agile S/W development method for project management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The full software is delivered in 1-4 weeks iterations</a:t>
            </a:r>
            <a:endParaRPr b="0" i="0" sz="2400" u="none" cap="none" strike="noStrike">
              <a:solidFill>
                <a:srgbClr val="000000"/>
              </a:solidFill>
              <a:latin typeface="Calibri"/>
              <a:ea typeface="Calibri"/>
              <a:cs typeface="Calibri"/>
              <a:sym typeface="Calibri"/>
            </a:endParaRPr>
          </a:p>
          <a:p>
            <a:pPr indent="-263525" lvl="0" marL="342900" marR="0" rtl="0" algn="l">
              <a:lnSpc>
                <a:spcPct val="80000"/>
              </a:lnSpc>
              <a:spcBef>
                <a:spcPts val="250"/>
              </a:spcBef>
              <a:spcAft>
                <a:spcPts val="0"/>
              </a:spcAft>
              <a:buClr>
                <a:schemeClr val="dk1"/>
              </a:buClr>
              <a:buSzPts val="1250"/>
              <a:buFont typeface="Arial"/>
              <a:buNone/>
            </a:pPr>
            <a:r>
              <a:t/>
            </a:r>
            <a:endParaRPr b="0" i="0" sz="125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ts val="800"/>
              <a:buFont typeface="Noto Sans Symbols"/>
              <a:buNone/>
            </a:pPr>
            <a:r>
              <a:t/>
            </a:r>
            <a:endParaRPr b="0" i="0" sz="800" u="none" cap="none" strike="noStrike">
              <a:solidFill>
                <a:srgbClr val="000000"/>
              </a:solidFill>
              <a:latin typeface="Calibri"/>
              <a:ea typeface="Calibri"/>
              <a:cs typeface="Calibri"/>
              <a:sym typeface="Calibri"/>
            </a:endParaRPr>
          </a:p>
          <a:p>
            <a:pPr indent="-342900" lvl="0" marL="342900" marR="0" rtl="0" algn="l">
              <a:lnSpc>
                <a:spcPct val="80000"/>
              </a:lnSpc>
              <a:spcBef>
                <a:spcPts val="160"/>
              </a:spcBef>
              <a:spcAft>
                <a:spcPts val="0"/>
              </a:spcAft>
              <a:buClr>
                <a:srgbClr val="000000"/>
              </a:buClr>
              <a:buSzPts val="800"/>
              <a:buFont typeface="Noto Sans Symbols"/>
              <a:buNone/>
            </a:pPr>
            <a:r>
              <a:rPr b="0" i="0" lang="en-US" sz="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15" name="Google Shape;315;p16"/>
          <p:cNvSpPr txBox="1"/>
          <p:nvPr>
            <p:ph idx="1" type="body"/>
          </p:nvPr>
        </p:nvSpPr>
        <p:spPr>
          <a:xfrm>
            <a:off x="457200" y="5949280"/>
            <a:ext cx="8229600" cy="176883"/>
          </a:xfrm>
          <a:prstGeom prst="rect">
            <a:avLst/>
          </a:prstGeom>
          <a:noFill/>
          <a:ln>
            <a:noFill/>
          </a:ln>
        </p:spPr>
        <p:txBody>
          <a:bodyPr anchorCtr="0" anchor="t" bIns="45700" lIns="91425" spcFirstLastPara="1" rIns="91425" wrap="square" tIns="45700">
            <a:normAutofit/>
          </a:bodyPr>
          <a:lstStyle/>
          <a:p>
            <a:pPr indent="-292100" lvl="0" marL="342900" rtl="0" algn="l">
              <a:lnSpc>
                <a:spcPct val="80000"/>
              </a:lnSpc>
              <a:spcBef>
                <a:spcPts val="0"/>
              </a:spcBef>
              <a:spcAft>
                <a:spcPts val="0"/>
              </a:spcAft>
              <a:buClr>
                <a:schemeClr val="dk1"/>
              </a:buClr>
              <a:buSzPts val="800"/>
              <a:buNone/>
            </a:pPr>
            <a:r>
              <a:t/>
            </a:r>
            <a:endParaRPr sz="800"/>
          </a:p>
        </p:txBody>
      </p:sp>
      <p:pic>
        <p:nvPicPr>
          <p:cNvPr descr="brac.png" id="316" name="Google Shape;316;p16"/>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22" name="Google Shape;322;p17"/>
          <p:cNvPicPr preferRelativeResize="0"/>
          <p:nvPr>
            <p:ph idx="1" type="body"/>
          </p:nvPr>
        </p:nvPicPr>
        <p:blipFill rotWithShape="1">
          <a:blip r:embed="rId3">
            <a:alphaModFix/>
          </a:blip>
          <a:srcRect b="0" l="0" r="0" t="0"/>
          <a:stretch/>
        </p:blipFill>
        <p:spPr>
          <a:xfrm>
            <a:off x="179512" y="260648"/>
            <a:ext cx="8856900" cy="6192600"/>
          </a:xfrm>
          <a:prstGeom prst="rect">
            <a:avLst/>
          </a:prstGeom>
          <a:noFill/>
          <a:ln>
            <a:noFill/>
          </a:ln>
        </p:spPr>
      </p:pic>
      <p:pic>
        <p:nvPicPr>
          <p:cNvPr descr="brac.png" id="323" name="Google Shape;323;p17"/>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Framework</a:t>
            </a:r>
            <a:endParaRPr/>
          </a:p>
        </p:txBody>
      </p:sp>
      <p:grpSp>
        <p:nvGrpSpPr>
          <p:cNvPr id="329" name="Google Shape;329;p18"/>
          <p:cNvGrpSpPr/>
          <p:nvPr/>
        </p:nvGrpSpPr>
        <p:grpSpPr>
          <a:xfrm>
            <a:off x="650875" y="1494700"/>
            <a:ext cx="3727450" cy="1934300"/>
            <a:chOff x="0" y="0"/>
            <a:chExt cx="2608" cy="1288"/>
          </a:xfrm>
        </p:grpSpPr>
        <p:sp>
          <p:nvSpPr>
            <p:cNvPr id="330" name="Google Shape;330;p18"/>
            <p:cNvSpPr/>
            <p:nvPr/>
          </p:nvSpPr>
          <p:spPr>
            <a:xfrm>
              <a:off x="8" y="0"/>
              <a:ext cx="2600" cy="1288"/>
            </a:xfrm>
            <a:prstGeom prst="roundRect">
              <a:avLst>
                <a:gd fmla="val 14903"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8627"/>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1" name="Google Shape;331;p18"/>
            <p:cNvSpPr/>
            <p:nvPr/>
          </p:nvSpPr>
          <p:spPr>
            <a:xfrm>
              <a:off x="96" y="392"/>
              <a:ext cx="1768" cy="832"/>
            </a:xfrm>
            <a:prstGeom prst="rect">
              <a:avLst/>
            </a:prstGeom>
            <a:noFill/>
            <a:ln>
              <a:noFill/>
            </a:ln>
          </p:spPr>
          <p:txBody>
            <a:bodyPr anchorCtr="0" anchor="t" bIns="45700" lIns="45700" spcFirstLastPara="1" rIns="45700" wrap="square" tIns="45700">
              <a:noAutofit/>
            </a:bodyPr>
            <a:lstStyle/>
            <a:p>
              <a:pPr indent="-179387" lvl="0" marL="0" marR="0" rtl="0" algn="l">
                <a:lnSpc>
                  <a:spcPct val="100000"/>
                </a:lnSpc>
                <a:spcBef>
                  <a:spcPts val="0"/>
                </a:spcBef>
                <a:spcAft>
                  <a:spcPts val="0"/>
                </a:spcAft>
                <a:buClr>
                  <a:srgbClr val="FFFFFF"/>
                </a:buClr>
                <a:buSzPts val="2825"/>
                <a:buFont typeface="Gill Sans"/>
                <a:buChar char="•"/>
              </a:pPr>
              <a:r>
                <a:rPr b="0" i="0" lang="en-US" sz="2200" u="none" cap="none" strike="noStrike">
                  <a:solidFill>
                    <a:srgbClr val="FFFFFF"/>
                  </a:solidFill>
                  <a:latin typeface="Gill Sans"/>
                  <a:ea typeface="Gill Sans"/>
                  <a:cs typeface="Gill Sans"/>
                  <a:sym typeface="Gill Sans"/>
                </a:rPr>
                <a:t>Product owner</a:t>
              </a:r>
              <a:endParaRPr b="0" i="0" sz="1100" u="none" cap="none" strike="noStrike">
                <a:solidFill>
                  <a:srgbClr val="000000"/>
                </a:solidFill>
                <a:latin typeface="Arial"/>
                <a:ea typeface="Arial"/>
                <a:cs typeface="Arial"/>
                <a:sym typeface="Arial"/>
              </a:endParaRPr>
            </a:p>
            <a:p>
              <a:pPr indent="-179387" lvl="0" marL="0" marR="0" rtl="0" algn="l">
                <a:lnSpc>
                  <a:spcPct val="100000"/>
                </a:lnSpc>
                <a:spcBef>
                  <a:spcPts val="0"/>
                </a:spcBef>
                <a:spcAft>
                  <a:spcPts val="0"/>
                </a:spcAft>
                <a:buClr>
                  <a:srgbClr val="FFFFFF"/>
                </a:buClr>
                <a:buSzPts val="2825"/>
                <a:buFont typeface="Gill Sans"/>
                <a:buChar char="•"/>
              </a:pPr>
              <a:r>
                <a:rPr b="0" i="0" lang="en-US" sz="2200" u="none" cap="none" strike="noStrike">
                  <a:solidFill>
                    <a:srgbClr val="FFFFFF"/>
                  </a:solidFill>
                  <a:latin typeface="Gill Sans"/>
                  <a:ea typeface="Gill Sans"/>
                  <a:cs typeface="Gill Sans"/>
                  <a:sym typeface="Gill Sans"/>
                </a:rPr>
                <a:t>Scrum Master</a:t>
              </a:r>
              <a:endParaRPr b="0" i="0" sz="1100" u="none" cap="none" strike="noStrike">
                <a:solidFill>
                  <a:srgbClr val="000000"/>
                </a:solidFill>
                <a:latin typeface="Arial"/>
                <a:ea typeface="Arial"/>
                <a:cs typeface="Arial"/>
                <a:sym typeface="Arial"/>
              </a:endParaRPr>
            </a:p>
            <a:p>
              <a:pPr indent="-179387" lvl="0" marL="0" marR="0" rtl="0" algn="l">
                <a:lnSpc>
                  <a:spcPct val="100000"/>
                </a:lnSpc>
                <a:spcBef>
                  <a:spcPts val="0"/>
                </a:spcBef>
                <a:spcAft>
                  <a:spcPts val="0"/>
                </a:spcAft>
                <a:buClr>
                  <a:srgbClr val="FFFFFF"/>
                </a:buClr>
                <a:buSzPts val="2825"/>
                <a:buFont typeface="Gill Sans"/>
                <a:buChar char="•"/>
              </a:pPr>
              <a:r>
                <a:rPr b="0" i="0" lang="en-US" sz="2200" u="none" cap="none" strike="noStrike">
                  <a:solidFill>
                    <a:srgbClr val="FFFFFF"/>
                  </a:solidFill>
                  <a:latin typeface="Gill Sans"/>
                  <a:ea typeface="Gill Sans"/>
                  <a:cs typeface="Gill Sans"/>
                  <a:sym typeface="Gill Sans"/>
                </a:rPr>
                <a:t>Team</a:t>
              </a:r>
              <a:endParaRPr b="0" i="0" sz="1100" u="none" cap="none" strike="noStrike">
                <a:solidFill>
                  <a:srgbClr val="000000"/>
                </a:solidFill>
                <a:latin typeface="Arial"/>
                <a:ea typeface="Arial"/>
                <a:cs typeface="Arial"/>
                <a:sym typeface="Arial"/>
              </a:endParaRPr>
            </a:p>
          </p:txBody>
        </p:sp>
        <p:sp>
          <p:nvSpPr>
            <p:cNvPr id="332" name="Google Shape;332;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3" name="Google Shape;333;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6" name="Google Shape;336;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37" name="Google Shape;337;p18"/>
            <p:cNvSpPr/>
            <p:nvPr/>
          </p:nvSpPr>
          <p:spPr>
            <a:xfrm>
              <a:off x="104" y="8"/>
              <a:ext cx="1336"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Roles</a:t>
              </a:r>
              <a:endParaRPr b="0" i="0" sz="1400" u="none" cap="none" strike="noStrike">
                <a:solidFill>
                  <a:srgbClr val="000000"/>
                </a:solidFill>
                <a:latin typeface="Arial"/>
                <a:ea typeface="Arial"/>
                <a:cs typeface="Arial"/>
                <a:sym typeface="Arial"/>
              </a:endParaRPr>
            </a:p>
          </p:txBody>
        </p:sp>
      </p:grpSp>
      <p:grpSp>
        <p:nvGrpSpPr>
          <p:cNvPr id="338" name="Google Shape;338;p18"/>
          <p:cNvGrpSpPr/>
          <p:nvPr/>
        </p:nvGrpSpPr>
        <p:grpSpPr>
          <a:xfrm>
            <a:off x="2238233" y="2847576"/>
            <a:ext cx="6366017" cy="2274887"/>
            <a:chOff x="0" y="0"/>
            <a:chExt cx="2608" cy="1592"/>
          </a:xfrm>
        </p:grpSpPr>
        <p:sp>
          <p:nvSpPr>
            <p:cNvPr id="339" name="Google Shape;339;p18"/>
            <p:cNvSpPr/>
            <p:nvPr/>
          </p:nvSpPr>
          <p:spPr>
            <a:xfrm>
              <a:off x="8" y="0"/>
              <a:ext cx="2600" cy="1592"/>
            </a:xfrm>
            <a:prstGeom prst="roundRect">
              <a:avLst>
                <a:gd fmla="val 12060"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8627"/>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0" name="Google Shape;340;p18"/>
            <p:cNvSpPr/>
            <p:nvPr/>
          </p:nvSpPr>
          <p:spPr>
            <a:xfrm>
              <a:off x="96" y="392"/>
              <a:ext cx="2320" cy="1088"/>
            </a:xfrm>
            <a:prstGeom prst="rect">
              <a:avLst/>
            </a:prstGeom>
            <a:noFill/>
            <a:ln>
              <a:noFill/>
            </a:ln>
          </p:spPr>
          <p:txBody>
            <a:bodyPr anchorCtr="0" anchor="t" bIns="45700" lIns="45700" spcFirstLastPara="1" rIns="45700" wrap="square" tIns="45700">
              <a:noAutofit/>
            </a:bodyPr>
            <a:lstStyle/>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Sprint planning</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Sprint review and Sprint retrospective</a:t>
              </a:r>
              <a:endParaRPr b="0" i="0" sz="1400" u="none" cap="none" strike="noStrike">
                <a:solidFill>
                  <a:srgbClr val="000000"/>
                </a:solidFill>
                <a:latin typeface="Arial"/>
                <a:ea typeface="Arial"/>
                <a:cs typeface="Arial"/>
                <a:sym typeface="Arial"/>
              </a:endParaRPr>
            </a:p>
            <a:p>
              <a:pPr indent="-198437" lvl="0" marL="0" marR="0" rtl="0" algn="l">
                <a:lnSpc>
                  <a:spcPct val="100000"/>
                </a:lnSpc>
                <a:spcBef>
                  <a:spcPts val="0"/>
                </a:spcBef>
                <a:spcAft>
                  <a:spcPts val="0"/>
                </a:spcAft>
                <a:buClr>
                  <a:srgbClr val="FFFFFF"/>
                </a:buClr>
                <a:buSzPts val="3125"/>
                <a:buFont typeface="Gill Sans"/>
                <a:buChar char="•"/>
              </a:pPr>
              <a:r>
                <a:rPr b="0" i="0" lang="en-US" sz="2500" u="none" cap="none" strike="noStrike">
                  <a:solidFill>
                    <a:srgbClr val="FFFFFF"/>
                  </a:solidFill>
                  <a:latin typeface="Gill Sans"/>
                  <a:ea typeface="Gill Sans"/>
                  <a:cs typeface="Gill Sans"/>
                  <a:sym typeface="Gill Sans"/>
                </a:rPr>
                <a:t>Daily scrum meeting</a:t>
              </a:r>
              <a:endParaRPr b="0" i="0" sz="1400" u="none" cap="none" strike="noStrike">
                <a:solidFill>
                  <a:srgbClr val="000000"/>
                </a:solidFill>
                <a:latin typeface="Arial"/>
                <a:ea typeface="Arial"/>
                <a:cs typeface="Arial"/>
                <a:sym typeface="Arial"/>
              </a:endParaRPr>
            </a:p>
          </p:txBody>
        </p:sp>
        <p:sp>
          <p:nvSpPr>
            <p:cNvPr id="341" name="Google Shape;341;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2" name="Google Shape;342;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5" name="Google Shape;345;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6" name="Google Shape;346;p18"/>
            <p:cNvSpPr/>
            <p:nvPr/>
          </p:nvSpPr>
          <p:spPr>
            <a:xfrm>
              <a:off x="104" y="8"/>
              <a:ext cx="1512"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Ceremonies</a:t>
              </a:r>
              <a:endParaRPr b="0" i="0" sz="1400" u="none" cap="none" strike="noStrike">
                <a:solidFill>
                  <a:srgbClr val="000000"/>
                </a:solidFill>
                <a:latin typeface="Arial"/>
                <a:ea typeface="Arial"/>
                <a:cs typeface="Arial"/>
                <a:sym typeface="Arial"/>
              </a:endParaRPr>
            </a:p>
          </p:txBody>
        </p:sp>
      </p:grpSp>
      <p:grpSp>
        <p:nvGrpSpPr>
          <p:cNvPr id="347" name="Google Shape;347;p18"/>
          <p:cNvGrpSpPr/>
          <p:nvPr/>
        </p:nvGrpSpPr>
        <p:grpSpPr>
          <a:xfrm>
            <a:off x="5228502" y="4743821"/>
            <a:ext cx="3727450" cy="1841500"/>
            <a:chOff x="0" y="0"/>
            <a:chExt cx="2608" cy="1288"/>
          </a:xfrm>
        </p:grpSpPr>
        <p:sp>
          <p:nvSpPr>
            <p:cNvPr id="348" name="Google Shape;348;p18"/>
            <p:cNvSpPr/>
            <p:nvPr/>
          </p:nvSpPr>
          <p:spPr>
            <a:xfrm>
              <a:off x="8" y="0"/>
              <a:ext cx="2600" cy="1288"/>
            </a:xfrm>
            <a:prstGeom prst="roundRect">
              <a:avLst>
                <a:gd fmla="val 14903" name="adj"/>
              </a:avLst>
            </a:prstGeom>
            <a:blipFill rotWithShape="1">
              <a:blip r:embed="rId3">
                <a:alphaModFix/>
              </a:blip>
              <a:tile algn="tl" flip="none" tx="0" sx="100000" ty="0" sy="100000"/>
            </a:blipFill>
            <a:ln cap="flat" cmpd="sng" w="25400">
              <a:solidFill>
                <a:srgbClr val="003C83"/>
              </a:solidFill>
              <a:prstDash val="solid"/>
              <a:round/>
              <a:headEnd len="sm" w="sm" type="none"/>
              <a:tailEnd len="sm" w="sm" type="none"/>
            </a:ln>
            <a:effectLst>
              <a:outerShdw blurRad="114300" rotWithShape="0" algn="ctr" dir="2700000" dist="63500">
                <a:schemeClr val="lt2">
                  <a:alpha val="28627"/>
                </a:schemeClr>
              </a:outerShdw>
            </a:effectLst>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49" name="Google Shape;349;p18"/>
            <p:cNvSpPr/>
            <p:nvPr/>
          </p:nvSpPr>
          <p:spPr>
            <a:xfrm>
              <a:off x="96" y="392"/>
              <a:ext cx="2376" cy="832"/>
            </a:xfrm>
            <a:prstGeom prst="rect">
              <a:avLst/>
            </a:prstGeom>
            <a:noFill/>
            <a:ln>
              <a:noFill/>
            </a:ln>
          </p:spPr>
          <p:txBody>
            <a:bodyPr anchorCtr="0" anchor="t" bIns="45700" lIns="45700" spcFirstLastPara="1" rIns="45700" wrap="square" tIns="45700">
              <a:noAutofit/>
            </a:bodyPr>
            <a:lstStyle/>
            <a:p>
              <a:pPr indent="-173037" lvl="0" marL="0" marR="0" rtl="0" algn="l">
                <a:lnSpc>
                  <a:spcPct val="100000"/>
                </a:lnSpc>
                <a:spcBef>
                  <a:spcPts val="0"/>
                </a:spcBef>
                <a:spcAft>
                  <a:spcPts val="0"/>
                </a:spcAft>
                <a:buClr>
                  <a:srgbClr val="FFFFFF"/>
                </a:buClr>
                <a:buSzPts val="2725"/>
                <a:buFont typeface="Gill Sans"/>
                <a:buChar char="•"/>
              </a:pPr>
              <a:r>
                <a:rPr b="0" i="0" lang="en-US" sz="2100" u="none" cap="none" strike="noStrike">
                  <a:solidFill>
                    <a:srgbClr val="FFFFFF"/>
                  </a:solidFill>
                  <a:latin typeface="Gill Sans"/>
                  <a:ea typeface="Gill Sans"/>
                  <a:cs typeface="Gill Sans"/>
                  <a:sym typeface="Gill Sans"/>
                </a:rPr>
                <a:t>Product backlog</a:t>
              </a:r>
              <a:endParaRPr b="0" i="0" sz="1000" u="none" cap="none" strike="noStrike">
                <a:solidFill>
                  <a:srgbClr val="000000"/>
                </a:solidFill>
                <a:latin typeface="Arial"/>
                <a:ea typeface="Arial"/>
                <a:cs typeface="Arial"/>
                <a:sym typeface="Arial"/>
              </a:endParaRPr>
            </a:p>
            <a:p>
              <a:pPr indent="-173037" lvl="0" marL="0" marR="0" rtl="0" algn="l">
                <a:lnSpc>
                  <a:spcPct val="100000"/>
                </a:lnSpc>
                <a:spcBef>
                  <a:spcPts val="0"/>
                </a:spcBef>
                <a:spcAft>
                  <a:spcPts val="0"/>
                </a:spcAft>
                <a:buClr>
                  <a:srgbClr val="FFFFFF"/>
                </a:buClr>
                <a:buSzPts val="2725"/>
                <a:buFont typeface="Gill Sans"/>
                <a:buChar char="•"/>
              </a:pPr>
              <a:r>
                <a:rPr b="0" i="0" lang="en-US" sz="2100" u="none" cap="none" strike="noStrike">
                  <a:solidFill>
                    <a:srgbClr val="FFFFFF"/>
                  </a:solidFill>
                  <a:latin typeface="Gill Sans"/>
                  <a:ea typeface="Gill Sans"/>
                  <a:cs typeface="Gill Sans"/>
                  <a:sym typeface="Gill Sans"/>
                </a:rPr>
                <a:t>Sprint backlog</a:t>
              </a:r>
              <a:endParaRPr b="0" i="0" sz="1000" u="none" cap="none" strike="noStrike">
                <a:solidFill>
                  <a:srgbClr val="000000"/>
                </a:solidFill>
                <a:latin typeface="Arial"/>
                <a:ea typeface="Arial"/>
                <a:cs typeface="Arial"/>
                <a:sym typeface="Arial"/>
              </a:endParaRPr>
            </a:p>
            <a:p>
              <a:pPr indent="-173037" lvl="0" marL="0" marR="0" rtl="0" algn="l">
                <a:lnSpc>
                  <a:spcPct val="100000"/>
                </a:lnSpc>
                <a:spcBef>
                  <a:spcPts val="0"/>
                </a:spcBef>
                <a:spcAft>
                  <a:spcPts val="0"/>
                </a:spcAft>
                <a:buClr>
                  <a:srgbClr val="FFFFFF"/>
                </a:buClr>
                <a:buSzPts val="2725"/>
                <a:buFont typeface="Gill Sans"/>
                <a:buChar char="•"/>
              </a:pPr>
              <a:r>
                <a:rPr b="0" i="0" lang="en-US" sz="2100" u="none" cap="none" strike="noStrike">
                  <a:solidFill>
                    <a:srgbClr val="FFFFFF"/>
                  </a:solidFill>
                  <a:latin typeface="Gill Sans"/>
                  <a:ea typeface="Gill Sans"/>
                  <a:cs typeface="Gill Sans"/>
                  <a:sym typeface="Gill Sans"/>
                </a:rPr>
                <a:t>Burndown charts</a:t>
              </a:r>
              <a:endParaRPr b="0" i="0" sz="1000" u="none" cap="none" strike="noStrike">
                <a:solidFill>
                  <a:srgbClr val="000000"/>
                </a:solidFill>
                <a:latin typeface="Arial"/>
                <a:ea typeface="Arial"/>
                <a:cs typeface="Arial"/>
                <a:sym typeface="Arial"/>
              </a:endParaRPr>
            </a:p>
          </p:txBody>
        </p:sp>
        <p:sp>
          <p:nvSpPr>
            <p:cNvPr id="350" name="Google Shape;350;p18"/>
            <p:cNvSpPr/>
            <p:nvPr/>
          </p:nvSpPr>
          <p:spPr>
            <a:xfrm>
              <a:off x="304" y="0"/>
              <a:ext cx="1200" cy="376"/>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1" name="Google Shape;351;p18"/>
            <p:cNvSpPr/>
            <p:nvPr/>
          </p:nvSpPr>
          <p:spPr>
            <a:xfrm rot="10800000">
              <a:off x="1432" y="88"/>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2" name="Google Shape;352;p18"/>
            <p:cNvSpPr/>
            <p:nvPr/>
          </p:nvSpPr>
          <p:spPr>
            <a:xfrm>
              <a:off x="0" y="0"/>
              <a:ext cx="312" cy="288"/>
            </a:xfrm>
            <a:custGeom>
              <a:rect b="b" l="l" r="r" t="t"/>
              <a:pathLst>
                <a:path extrusionOk="0" h="21600" w="21600">
                  <a:moveTo>
                    <a:pt x="13734" y="65"/>
                  </a:moveTo>
                  <a:cubicBezTo>
                    <a:pt x="4547" y="550"/>
                    <a:pt x="111" y="6203"/>
                    <a:pt x="14" y="14130"/>
                  </a:cubicBezTo>
                  <a:cubicBezTo>
                    <a:pt x="9" y="16620"/>
                    <a:pt x="5" y="19110"/>
                    <a:pt x="0" y="21600"/>
                  </a:cubicBezTo>
                  <a:cubicBezTo>
                    <a:pt x="7200" y="21600"/>
                    <a:pt x="14400" y="21600"/>
                    <a:pt x="21600" y="21600"/>
                  </a:cubicBezTo>
                  <a:cubicBezTo>
                    <a:pt x="21600" y="14400"/>
                    <a:pt x="21600" y="7200"/>
                    <a:pt x="21600" y="0"/>
                  </a:cubicBezTo>
                  <a:cubicBezTo>
                    <a:pt x="18978" y="22"/>
                    <a:pt x="16356" y="43"/>
                    <a:pt x="13734" y="65"/>
                  </a:cubicBezTo>
                  <a:cubicBezTo>
                    <a:pt x="13734" y="65"/>
                    <a:pt x="13734" y="65"/>
                    <a:pt x="13734" y="65"/>
                  </a:cubicBezTo>
                  <a:cubicBezTo>
                    <a:pt x="13734" y="65"/>
                    <a:pt x="13734" y="65"/>
                    <a:pt x="13734" y="65"/>
                  </a:cubicBezTo>
                </a:path>
              </a:pathLst>
            </a:custGeom>
            <a:solidFill>
              <a:srgbClr val="003C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8"/>
            <p:cNvSpPr/>
            <p:nvPr/>
          </p:nvSpPr>
          <p:spPr>
            <a:xfrm>
              <a:off x="0" y="216"/>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4" name="Google Shape;354;p18"/>
            <p:cNvSpPr/>
            <p:nvPr/>
          </p:nvSpPr>
          <p:spPr>
            <a:xfrm>
              <a:off x="1352" y="0"/>
              <a:ext cx="392" cy="160"/>
            </a:xfrm>
            <a:prstGeom prst="rect">
              <a:avLst/>
            </a:prstGeom>
            <a:solidFill>
              <a:srgbClr val="003C83"/>
            </a:solidFill>
            <a:ln>
              <a:noFill/>
            </a:ln>
          </p:spPr>
          <p:txBody>
            <a:bodyPr anchorCtr="0" anchor="t" bIns="41125" lIns="82275" spcFirstLastPara="1" rIns="82275" wrap="square" tIns="41125">
              <a:noAutofit/>
            </a:bodyPr>
            <a:lstStyle/>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Gill Sans"/>
                <a:ea typeface="Gill Sans"/>
                <a:cs typeface="Gill Sans"/>
                <a:sym typeface="Gill Sans"/>
              </a:endParaRPr>
            </a:p>
          </p:txBody>
        </p:sp>
        <p:sp>
          <p:nvSpPr>
            <p:cNvPr id="355" name="Google Shape;355;p18"/>
            <p:cNvSpPr/>
            <p:nvPr/>
          </p:nvSpPr>
          <p:spPr>
            <a:xfrm>
              <a:off x="104" y="8"/>
              <a:ext cx="1336" cy="352"/>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FFFFFF"/>
                  </a:solidFill>
                  <a:latin typeface="Gill Sans"/>
                  <a:ea typeface="Gill Sans"/>
                  <a:cs typeface="Gill Sans"/>
                  <a:sym typeface="Gill Sans"/>
                </a:rPr>
                <a:t>Artifacts</a:t>
              </a:r>
              <a:endParaRPr b="0" i="0" sz="1400" u="none" cap="none" strike="noStrike">
                <a:solidFill>
                  <a:srgbClr val="000000"/>
                </a:solidFill>
                <a:latin typeface="Arial"/>
                <a:ea typeface="Arial"/>
                <a:cs typeface="Arial"/>
                <a:sym typeface="Arial"/>
              </a:endParaRPr>
            </a:p>
          </p:txBody>
        </p:sp>
      </p:grpSp>
      <p:pic>
        <p:nvPicPr>
          <p:cNvPr descr="brac.png" id="356" name="Google Shape;356;p18"/>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Roles</a:t>
            </a:r>
            <a:endParaRPr/>
          </a:p>
        </p:txBody>
      </p:sp>
      <p:pic>
        <p:nvPicPr>
          <p:cNvPr id="362" name="Google Shape;362;p19"/>
          <p:cNvPicPr preferRelativeResize="0"/>
          <p:nvPr>
            <p:ph idx="1" type="body"/>
          </p:nvPr>
        </p:nvPicPr>
        <p:blipFill rotWithShape="1">
          <a:blip r:embed="rId3">
            <a:alphaModFix/>
          </a:blip>
          <a:srcRect b="0" l="0" r="0" t="0"/>
          <a:stretch/>
        </p:blipFill>
        <p:spPr>
          <a:xfrm>
            <a:off x="1187624" y="1484784"/>
            <a:ext cx="6624735" cy="4824536"/>
          </a:xfrm>
          <a:prstGeom prst="rect">
            <a:avLst/>
          </a:prstGeom>
          <a:noFill/>
          <a:ln>
            <a:noFill/>
          </a:ln>
        </p:spPr>
      </p:pic>
      <p:pic>
        <p:nvPicPr>
          <p:cNvPr descr="brac.png" id="363" name="Google Shape;363;p1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Scrum Roles</a:t>
            </a:r>
            <a:endParaRPr/>
          </a:p>
        </p:txBody>
      </p:sp>
      <p:sp>
        <p:nvSpPr>
          <p:cNvPr id="369" name="Google Shape;369;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285750" lvl="1" marL="742950" rtl="0" algn="l">
              <a:lnSpc>
                <a:spcPct val="80000"/>
              </a:lnSpc>
              <a:spcBef>
                <a:spcPts val="0"/>
              </a:spcBef>
              <a:spcAft>
                <a:spcPts val="0"/>
              </a:spcAft>
              <a:buClr>
                <a:schemeClr val="dk1"/>
              </a:buClr>
              <a:buSzPts val="2800"/>
              <a:buChar char="–"/>
            </a:pPr>
            <a:r>
              <a:rPr lang="en-US"/>
              <a:t>Product Owner</a:t>
            </a:r>
            <a:endParaRPr/>
          </a:p>
          <a:p>
            <a:pPr indent="-228600" lvl="2" marL="1143000" rtl="0" algn="l">
              <a:lnSpc>
                <a:spcPct val="80000"/>
              </a:lnSpc>
              <a:spcBef>
                <a:spcPts val="360"/>
              </a:spcBef>
              <a:spcAft>
                <a:spcPts val="0"/>
              </a:spcAft>
              <a:buClr>
                <a:schemeClr val="dk1"/>
              </a:buClr>
              <a:buSzPts val="1800"/>
              <a:buChar char="•"/>
            </a:pPr>
            <a:r>
              <a:rPr lang="en-US" sz="1800"/>
              <a:t>Possibly a Product Manager or Project Sponsor</a:t>
            </a:r>
            <a:endParaRPr/>
          </a:p>
          <a:p>
            <a:pPr indent="-228600" lvl="2" marL="1143000" rtl="0" algn="l">
              <a:lnSpc>
                <a:spcPct val="80000"/>
              </a:lnSpc>
              <a:spcBef>
                <a:spcPts val="360"/>
              </a:spcBef>
              <a:spcAft>
                <a:spcPts val="0"/>
              </a:spcAft>
              <a:buClr>
                <a:schemeClr val="dk1"/>
              </a:buClr>
              <a:buSzPts val="1800"/>
              <a:buChar char="•"/>
            </a:pPr>
            <a:r>
              <a:rPr lang="en-US" sz="1800"/>
              <a:t>Decides features, release date, prioritization, $$$</a:t>
            </a:r>
            <a:endParaRPr sz="1800"/>
          </a:p>
          <a:p>
            <a:pPr indent="-228600" lvl="2" marL="1143000" rtl="0" algn="l">
              <a:lnSpc>
                <a:spcPct val="80000"/>
              </a:lnSpc>
              <a:spcBef>
                <a:spcPts val="360"/>
              </a:spcBef>
              <a:spcAft>
                <a:spcPts val="0"/>
              </a:spcAft>
              <a:buSzPts val="1800"/>
              <a:buChar char="•"/>
            </a:pPr>
            <a:r>
              <a:rPr lang="en-US" sz="1800"/>
              <a:t>Conveys a clear vision to the Scrum team</a:t>
            </a:r>
            <a:endParaRPr sz="1800"/>
          </a:p>
          <a:p>
            <a:pPr indent="-228600" lvl="2" marL="1143000" rtl="0" algn="l">
              <a:lnSpc>
                <a:spcPct val="80000"/>
              </a:lnSpc>
              <a:spcBef>
                <a:spcPts val="360"/>
              </a:spcBef>
              <a:spcAft>
                <a:spcPts val="0"/>
              </a:spcAft>
              <a:buSzPts val="1800"/>
              <a:buChar char="•"/>
            </a:pPr>
            <a:r>
              <a:rPr lang="en-US" sz="1800"/>
              <a:t>Replies to frequently asked queries</a:t>
            </a:r>
            <a:endParaRPr sz="1800"/>
          </a:p>
          <a:p>
            <a:pPr indent="-152400" lvl="2" marL="1143000" rtl="0" algn="l">
              <a:lnSpc>
                <a:spcPct val="80000"/>
              </a:lnSpc>
              <a:spcBef>
                <a:spcPts val="240"/>
              </a:spcBef>
              <a:spcAft>
                <a:spcPts val="0"/>
              </a:spcAft>
              <a:buClr>
                <a:schemeClr val="dk1"/>
              </a:buClr>
              <a:buSzPts val="1200"/>
              <a:buNone/>
            </a:pPr>
            <a:r>
              <a:t/>
            </a:r>
            <a:endParaRPr sz="1200"/>
          </a:p>
          <a:p>
            <a:pPr indent="-152400" lvl="2" marL="1143000" rtl="0" algn="l">
              <a:lnSpc>
                <a:spcPct val="80000"/>
              </a:lnSpc>
              <a:spcBef>
                <a:spcPts val="240"/>
              </a:spcBef>
              <a:spcAft>
                <a:spcPts val="0"/>
              </a:spcAft>
              <a:buClr>
                <a:schemeClr val="dk1"/>
              </a:buClr>
              <a:buSzPts val="1200"/>
              <a:buNone/>
            </a:pPr>
            <a:r>
              <a:t/>
            </a:r>
            <a:endParaRPr sz="1200"/>
          </a:p>
          <a:p>
            <a:pPr indent="-285750" lvl="1" marL="742950" rtl="0" algn="l">
              <a:lnSpc>
                <a:spcPct val="80000"/>
              </a:lnSpc>
              <a:spcBef>
                <a:spcPts val="560"/>
              </a:spcBef>
              <a:spcAft>
                <a:spcPts val="0"/>
              </a:spcAft>
              <a:buClr>
                <a:schemeClr val="dk1"/>
              </a:buClr>
              <a:buSzPts val="2800"/>
              <a:buChar char="–"/>
            </a:pPr>
            <a:r>
              <a:rPr lang="en-US"/>
              <a:t>Scrum Master</a:t>
            </a:r>
            <a:endParaRPr/>
          </a:p>
          <a:p>
            <a:pPr indent="-228600" lvl="2" marL="1143000" rtl="0" algn="l">
              <a:lnSpc>
                <a:spcPct val="80000"/>
              </a:lnSpc>
              <a:spcBef>
                <a:spcPts val="360"/>
              </a:spcBef>
              <a:spcAft>
                <a:spcPts val="0"/>
              </a:spcAft>
              <a:buClr>
                <a:schemeClr val="dk1"/>
              </a:buClr>
              <a:buSzPts val="1800"/>
              <a:buChar char="•"/>
            </a:pPr>
            <a:r>
              <a:rPr lang="en-US" sz="1800"/>
              <a:t>Typically a Project Manager or Team Leader</a:t>
            </a:r>
            <a:endParaRPr/>
          </a:p>
          <a:p>
            <a:pPr indent="-228600" lvl="2" marL="1143000" rtl="0" algn="l">
              <a:lnSpc>
                <a:spcPct val="80000"/>
              </a:lnSpc>
              <a:spcBef>
                <a:spcPts val="360"/>
              </a:spcBef>
              <a:spcAft>
                <a:spcPts val="0"/>
              </a:spcAft>
              <a:buClr>
                <a:schemeClr val="dk1"/>
              </a:buClr>
              <a:buSzPts val="1800"/>
              <a:buChar char="•"/>
            </a:pPr>
            <a:r>
              <a:rPr lang="en-US" sz="1800"/>
              <a:t>Responsible for enacting Scrum values and practices</a:t>
            </a:r>
            <a:endParaRPr/>
          </a:p>
          <a:p>
            <a:pPr indent="-228600" lvl="2" marL="1143000" rtl="0" algn="l">
              <a:lnSpc>
                <a:spcPct val="80000"/>
              </a:lnSpc>
              <a:spcBef>
                <a:spcPts val="360"/>
              </a:spcBef>
              <a:spcAft>
                <a:spcPts val="0"/>
              </a:spcAft>
              <a:buClr>
                <a:schemeClr val="dk1"/>
              </a:buClr>
              <a:buSzPts val="1800"/>
              <a:buChar char="•"/>
            </a:pPr>
            <a:r>
              <a:rPr lang="en-US" sz="1800"/>
              <a:t>Remove impediments / politics, keeps everyone productive</a:t>
            </a:r>
            <a:endParaRPr/>
          </a:p>
          <a:p>
            <a:pPr indent="-152400" lvl="2" marL="1143000" rtl="0" algn="l">
              <a:lnSpc>
                <a:spcPct val="80000"/>
              </a:lnSpc>
              <a:spcBef>
                <a:spcPts val="240"/>
              </a:spcBef>
              <a:spcAft>
                <a:spcPts val="0"/>
              </a:spcAft>
              <a:buClr>
                <a:schemeClr val="dk1"/>
              </a:buClr>
              <a:buSzPts val="1200"/>
              <a:buNone/>
            </a:pPr>
            <a:r>
              <a:t/>
            </a:r>
            <a:endParaRPr sz="1200"/>
          </a:p>
          <a:p>
            <a:pPr indent="-152400" lvl="2" marL="1143000" rtl="0" algn="l">
              <a:lnSpc>
                <a:spcPct val="80000"/>
              </a:lnSpc>
              <a:spcBef>
                <a:spcPts val="240"/>
              </a:spcBef>
              <a:spcAft>
                <a:spcPts val="0"/>
              </a:spcAft>
              <a:buClr>
                <a:schemeClr val="dk1"/>
              </a:buClr>
              <a:buSzPts val="1200"/>
              <a:buNone/>
            </a:pPr>
            <a:r>
              <a:t/>
            </a:r>
            <a:endParaRPr sz="1200"/>
          </a:p>
          <a:p>
            <a:pPr indent="-285750" lvl="1" marL="742950" rtl="0" algn="l">
              <a:lnSpc>
                <a:spcPct val="80000"/>
              </a:lnSpc>
              <a:spcBef>
                <a:spcPts val="560"/>
              </a:spcBef>
              <a:spcAft>
                <a:spcPts val="0"/>
              </a:spcAft>
              <a:buClr>
                <a:schemeClr val="dk1"/>
              </a:buClr>
              <a:buSzPts val="2800"/>
              <a:buChar char="–"/>
            </a:pPr>
            <a:r>
              <a:rPr lang="en-US"/>
              <a:t>Project Team</a:t>
            </a:r>
            <a:endParaRPr/>
          </a:p>
          <a:p>
            <a:pPr indent="-228600" lvl="2" marL="1143000" rtl="0" algn="l">
              <a:lnSpc>
                <a:spcPct val="80000"/>
              </a:lnSpc>
              <a:spcBef>
                <a:spcPts val="360"/>
              </a:spcBef>
              <a:spcAft>
                <a:spcPts val="0"/>
              </a:spcAft>
              <a:buClr>
                <a:schemeClr val="dk1"/>
              </a:buClr>
              <a:buSzPts val="1800"/>
              <a:buChar char="•"/>
            </a:pPr>
            <a:r>
              <a:rPr lang="en-US" sz="1800"/>
              <a:t>5-10 members;  Teams are self-organizing</a:t>
            </a:r>
            <a:endParaRPr sz="1800"/>
          </a:p>
          <a:p>
            <a:pPr indent="-228600" lvl="2" marL="1143000" rtl="0" algn="l">
              <a:lnSpc>
                <a:spcPct val="80000"/>
              </a:lnSpc>
              <a:spcBef>
                <a:spcPts val="360"/>
              </a:spcBef>
              <a:spcAft>
                <a:spcPts val="0"/>
              </a:spcAft>
              <a:buClr>
                <a:schemeClr val="dk1"/>
              </a:buClr>
              <a:buSzPts val="1800"/>
              <a:buChar char="•"/>
            </a:pPr>
            <a:r>
              <a:rPr lang="en-US" sz="1800"/>
              <a:t>Cross-functional: QA, Programmers, UI Designers, etc.</a:t>
            </a:r>
            <a:endParaRPr/>
          </a:p>
          <a:p>
            <a:pPr indent="-228600" lvl="2" marL="1143000" rtl="0" algn="l">
              <a:lnSpc>
                <a:spcPct val="80000"/>
              </a:lnSpc>
              <a:spcBef>
                <a:spcPts val="360"/>
              </a:spcBef>
              <a:spcAft>
                <a:spcPts val="0"/>
              </a:spcAft>
              <a:buClr>
                <a:schemeClr val="dk1"/>
              </a:buClr>
              <a:buSzPts val="1800"/>
              <a:buChar char="•"/>
            </a:pPr>
            <a:r>
              <a:rPr lang="en-US" sz="1800"/>
              <a:t>Membership should change only between sprints</a:t>
            </a:r>
            <a:endParaRPr/>
          </a:p>
        </p:txBody>
      </p:sp>
      <p:pic>
        <p:nvPicPr>
          <p:cNvPr id="370" name="Google Shape;370;p20"/>
          <p:cNvPicPr preferRelativeResize="0"/>
          <p:nvPr/>
        </p:nvPicPr>
        <p:blipFill rotWithShape="1">
          <a:blip r:embed="rId3">
            <a:alphaModFix/>
          </a:blip>
          <a:srcRect b="0" l="0" r="0" t="0"/>
          <a:stretch/>
        </p:blipFill>
        <p:spPr>
          <a:xfrm>
            <a:off x="7559675" y="1720760"/>
            <a:ext cx="898525" cy="693738"/>
          </a:xfrm>
          <a:prstGeom prst="rect">
            <a:avLst/>
          </a:prstGeom>
          <a:noFill/>
          <a:ln>
            <a:noFill/>
          </a:ln>
        </p:spPr>
      </p:pic>
      <p:pic>
        <p:nvPicPr>
          <p:cNvPr id="371" name="Google Shape;371;p20"/>
          <p:cNvPicPr preferRelativeResize="0"/>
          <p:nvPr/>
        </p:nvPicPr>
        <p:blipFill rotWithShape="1">
          <a:blip r:embed="rId4">
            <a:alphaModFix/>
          </a:blip>
          <a:srcRect b="0" l="0" r="0" t="0"/>
          <a:stretch/>
        </p:blipFill>
        <p:spPr>
          <a:xfrm>
            <a:off x="7543800" y="3124200"/>
            <a:ext cx="838200" cy="706438"/>
          </a:xfrm>
          <a:prstGeom prst="rect">
            <a:avLst/>
          </a:prstGeom>
          <a:noFill/>
          <a:ln>
            <a:noFill/>
          </a:ln>
        </p:spPr>
      </p:pic>
      <p:grpSp>
        <p:nvGrpSpPr>
          <p:cNvPr id="372" name="Google Shape;372;p20"/>
          <p:cNvGrpSpPr/>
          <p:nvPr/>
        </p:nvGrpSpPr>
        <p:grpSpPr>
          <a:xfrm>
            <a:off x="7239000" y="4648200"/>
            <a:ext cx="1295400" cy="1066800"/>
            <a:chOff x="0" y="0"/>
            <a:chExt cx="1704" cy="1346"/>
          </a:xfrm>
        </p:grpSpPr>
        <p:pic>
          <p:nvPicPr>
            <p:cNvPr id="373" name="Google Shape;373;p20"/>
            <p:cNvPicPr preferRelativeResize="0"/>
            <p:nvPr/>
          </p:nvPicPr>
          <p:blipFill rotWithShape="1">
            <a:blip r:embed="rId5">
              <a:alphaModFix/>
            </a:blip>
            <a:srcRect b="0" l="0" r="0" t="0"/>
            <a:stretch/>
          </p:blipFill>
          <p:spPr>
            <a:xfrm>
              <a:off x="908" y="453"/>
              <a:ext cx="507" cy="440"/>
            </a:xfrm>
            <a:prstGeom prst="rect">
              <a:avLst/>
            </a:prstGeom>
            <a:noFill/>
            <a:ln>
              <a:noFill/>
            </a:ln>
          </p:spPr>
        </p:pic>
        <p:grpSp>
          <p:nvGrpSpPr>
            <p:cNvPr id="374" name="Google Shape;374;p20"/>
            <p:cNvGrpSpPr/>
            <p:nvPr/>
          </p:nvGrpSpPr>
          <p:grpSpPr>
            <a:xfrm>
              <a:off x="0" y="0"/>
              <a:ext cx="1704" cy="1346"/>
              <a:chOff x="0" y="0"/>
              <a:chExt cx="1704" cy="1346"/>
            </a:xfrm>
          </p:grpSpPr>
          <p:grpSp>
            <p:nvGrpSpPr>
              <p:cNvPr id="375" name="Google Shape;375;p20"/>
              <p:cNvGrpSpPr/>
              <p:nvPr/>
            </p:nvGrpSpPr>
            <p:grpSpPr>
              <a:xfrm>
                <a:off x="0" y="0"/>
                <a:ext cx="1704" cy="440"/>
                <a:chOff x="0" y="0"/>
                <a:chExt cx="1704" cy="440"/>
              </a:xfrm>
            </p:grpSpPr>
            <p:pic>
              <p:nvPicPr>
                <p:cNvPr id="376" name="Google Shape;376;p20"/>
                <p:cNvPicPr preferRelativeResize="0"/>
                <p:nvPr/>
              </p:nvPicPr>
              <p:blipFill rotWithShape="1">
                <a:blip r:embed="rId6">
                  <a:alphaModFix/>
                </a:blip>
                <a:srcRect b="0" l="0" r="0" t="0"/>
                <a:stretch/>
              </p:blipFill>
              <p:spPr>
                <a:xfrm>
                  <a:off x="0" y="0"/>
                  <a:ext cx="507" cy="440"/>
                </a:xfrm>
                <a:prstGeom prst="rect">
                  <a:avLst/>
                </a:prstGeom>
                <a:noFill/>
                <a:ln>
                  <a:noFill/>
                </a:ln>
              </p:spPr>
            </p:pic>
            <p:pic>
              <p:nvPicPr>
                <p:cNvPr id="377" name="Google Shape;377;p20"/>
                <p:cNvPicPr preferRelativeResize="0"/>
                <p:nvPr/>
              </p:nvPicPr>
              <p:blipFill rotWithShape="1">
                <a:blip r:embed="rId7">
                  <a:alphaModFix/>
                </a:blip>
                <a:srcRect b="0" l="0" r="0" t="0"/>
                <a:stretch/>
              </p:blipFill>
              <p:spPr>
                <a:xfrm>
                  <a:off x="598" y="0"/>
                  <a:ext cx="507" cy="440"/>
                </a:xfrm>
                <a:prstGeom prst="rect">
                  <a:avLst/>
                </a:prstGeom>
                <a:noFill/>
                <a:ln>
                  <a:noFill/>
                </a:ln>
              </p:spPr>
            </p:pic>
            <p:pic>
              <p:nvPicPr>
                <p:cNvPr id="378" name="Google Shape;378;p20"/>
                <p:cNvPicPr preferRelativeResize="0"/>
                <p:nvPr/>
              </p:nvPicPr>
              <p:blipFill rotWithShape="1">
                <a:blip r:embed="rId6">
                  <a:alphaModFix/>
                </a:blip>
                <a:srcRect b="0" l="0" r="0" t="0"/>
                <a:stretch/>
              </p:blipFill>
              <p:spPr>
                <a:xfrm>
                  <a:off x="1196" y="0"/>
                  <a:ext cx="508" cy="440"/>
                </a:xfrm>
                <a:prstGeom prst="rect">
                  <a:avLst/>
                </a:prstGeom>
                <a:noFill/>
                <a:ln>
                  <a:noFill/>
                </a:ln>
              </p:spPr>
            </p:pic>
          </p:grpSp>
          <p:pic>
            <p:nvPicPr>
              <p:cNvPr id="379" name="Google Shape;379;p20"/>
              <p:cNvPicPr preferRelativeResize="0"/>
              <p:nvPr/>
            </p:nvPicPr>
            <p:blipFill rotWithShape="1">
              <a:blip r:embed="rId8">
                <a:alphaModFix/>
              </a:blip>
              <a:srcRect b="0" l="0" r="0" t="0"/>
              <a:stretch/>
            </p:blipFill>
            <p:spPr>
              <a:xfrm>
                <a:off x="340" y="469"/>
                <a:ext cx="507" cy="416"/>
              </a:xfrm>
              <a:prstGeom prst="rect">
                <a:avLst/>
              </a:prstGeom>
              <a:noFill/>
              <a:ln>
                <a:noFill/>
              </a:ln>
            </p:spPr>
          </p:pic>
          <p:grpSp>
            <p:nvGrpSpPr>
              <p:cNvPr id="380" name="Google Shape;380;p20"/>
              <p:cNvGrpSpPr/>
              <p:nvPr/>
            </p:nvGrpSpPr>
            <p:grpSpPr>
              <a:xfrm>
                <a:off x="0" y="906"/>
                <a:ext cx="1704" cy="440"/>
                <a:chOff x="0" y="0"/>
                <a:chExt cx="1704" cy="440"/>
              </a:xfrm>
            </p:grpSpPr>
            <p:pic>
              <p:nvPicPr>
                <p:cNvPr id="381" name="Google Shape;381;p20"/>
                <p:cNvPicPr preferRelativeResize="0"/>
                <p:nvPr/>
              </p:nvPicPr>
              <p:blipFill rotWithShape="1">
                <a:blip r:embed="rId8">
                  <a:alphaModFix/>
                </a:blip>
                <a:srcRect b="0" l="0" r="0" t="0"/>
                <a:stretch/>
              </p:blipFill>
              <p:spPr>
                <a:xfrm>
                  <a:off x="0" y="16"/>
                  <a:ext cx="507" cy="416"/>
                </a:xfrm>
                <a:prstGeom prst="rect">
                  <a:avLst/>
                </a:prstGeom>
                <a:noFill/>
                <a:ln>
                  <a:noFill/>
                </a:ln>
              </p:spPr>
            </p:pic>
            <p:pic>
              <p:nvPicPr>
                <p:cNvPr id="382" name="Google Shape;382;p20"/>
                <p:cNvPicPr preferRelativeResize="0"/>
                <p:nvPr/>
              </p:nvPicPr>
              <p:blipFill rotWithShape="1">
                <a:blip r:embed="rId9">
                  <a:alphaModFix/>
                </a:blip>
                <a:srcRect b="0" l="0" r="0" t="0"/>
                <a:stretch/>
              </p:blipFill>
              <p:spPr>
                <a:xfrm>
                  <a:off x="1196" y="0"/>
                  <a:ext cx="508" cy="440"/>
                </a:xfrm>
                <a:prstGeom prst="rect">
                  <a:avLst/>
                </a:prstGeom>
                <a:noFill/>
                <a:ln>
                  <a:noFill/>
                </a:ln>
              </p:spPr>
            </p:pic>
            <p:pic>
              <p:nvPicPr>
                <p:cNvPr id="383" name="Google Shape;383;p20"/>
                <p:cNvPicPr preferRelativeResize="0"/>
                <p:nvPr/>
              </p:nvPicPr>
              <p:blipFill rotWithShape="1">
                <a:blip r:embed="rId5">
                  <a:alphaModFix/>
                </a:blip>
                <a:srcRect b="0" l="0" r="0" t="0"/>
                <a:stretch/>
              </p:blipFill>
              <p:spPr>
                <a:xfrm>
                  <a:off x="598" y="0"/>
                  <a:ext cx="507" cy="440"/>
                </a:xfrm>
                <a:prstGeom prst="rect">
                  <a:avLst/>
                </a:prstGeom>
                <a:noFill/>
                <a:ln>
                  <a:noFill/>
                </a:ln>
              </p:spPr>
            </p:pic>
          </p:grpSp>
        </p:grpSp>
      </p:grpSp>
      <p:pic>
        <p:nvPicPr>
          <p:cNvPr descr="brac.png" id="384" name="Google Shape;384;p20"/>
          <p:cNvPicPr preferRelativeResize="0"/>
          <p:nvPr/>
        </p:nvPicPr>
        <p:blipFill rotWithShape="1">
          <a:blip r:embed="rId10">
            <a:alphaModFix/>
          </a:blip>
          <a:srcRect b="0" l="0" r="0" t="0"/>
          <a:stretch/>
        </p:blipFill>
        <p:spPr>
          <a:xfrm>
            <a:off x="8057675" y="5888000"/>
            <a:ext cx="1086325" cy="97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0" st="0"/>
                                            </p:txEl>
                                          </p:spTgt>
                                        </p:tgtEl>
                                        <p:attrNameLst>
                                          <p:attrName>style.visibility</p:attrName>
                                        </p:attrNameLst>
                                      </p:cBhvr>
                                      <p:to>
                                        <p:strVal val="visible"/>
                                      </p:to>
                                    </p:set>
                                    <p:animEffect filter="fade" transition="in">
                                      <p:cBhvr>
                                        <p:cTn dur="1000"/>
                                        <p:tgtEl>
                                          <p:spTgt spid="3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 st="1"/>
                                            </p:txEl>
                                          </p:spTgt>
                                        </p:tgtEl>
                                        <p:attrNameLst>
                                          <p:attrName>style.visibility</p:attrName>
                                        </p:attrNameLst>
                                      </p:cBhvr>
                                      <p:to>
                                        <p:strVal val="visible"/>
                                      </p:to>
                                    </p:set>
                                    <p:animEffect filter="fade" transition="in">
                                      <p:cBhvr>
                                        <p:cTn dur="1000"/>
                                        <p:tgtEl>
                                          <p:spTgt spid="3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2" st="2"/>
                                            </p:txEl>
                                          </p:spTgt>
                                        </p:tgtEl>
                                        <p:attrNameLst>
                                          <p:attrName>style.visibility</p:attrName>
                                        </p:attrNameLst>
                                      </p:cBhvr>
                                      <p:to>
                                        <p:strVal val="visible"/>
                                      </p:to>
                                    </p:set>
                                    <p:animEffect filter="fade" transition="in">
                                      <p:cBhvr>
                                        <p:cTn dur="1000"/>
                                        <p:tgtEl>
                                          <p:spTgt spid="3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3" st="3"/>
                                            </p:txEl>
                                          </p:spTgt>
                                        </p:tgtEl>
                                        <p:attrNameLst>
                                          <p:attrName>style.visibility</p:attrName>
                                        </p:attrNameLst>
                                      </p:cBhvr>
                                      <p:to>
                                        <p:strVal val="visible"/>
                                      </p:to>
                                    </p:set>
                                    <p:animEffect filter="fade" transition="in">
                                      <p:cBhvr>
                                        <p:cTn dur="1000"/>
                                        <p:tgtEl>
                                          <p:spTgt spid="3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4" st="4"/>
                                            </p:txEl>
                                          </p:spTgt>
                                        </p:tgtEl>
                                        <p:attrNameLst>
                                          <p:attrName>style.visibility</p:attrName>
                                        </p:attrNameLst>
                                      </p:cBhvr>
                                      <p:to>
                                        <p:strVal val="visible"/>
                                      </p:to>
                                    </p:set>
                                    <p:animEffect filter="fade" transition="in">
                                      <p:cBhvr>
                                        <p:cTn dur="1000"/>
                                        <p:tgtEl>
                                          <p:spTgt spid="3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5" st="5"/>
                                            </p:txEl>
                                          </p:spTgt>
                                        </p:tgtEl>
                                        <p:attrNameLst>
                                          <p:attrName>style.visibility</p:attrName>
                                        </p:attrNameLst>
                                      </p:cBhvr>
                                      <p:to>
                                        <p:strVal val="visible"/>
                                      </p:to>
                                    </p:set>
                                    <p:animEffect filter="fade" transition="in">
                                      <p:cBhvr>
                                        <p:cTn dur="1000"/>
                                        <p:tgtEl>
                                          <p:spTgt spid="3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6" st="6"/>
                                            </p:txEl>
                                          </p:spTgt>
                                        </p:tgtEl>
                                        <p:attrNameLst>
                                          <p:attrName>style.visibility</p:attrName>
                                        </p:attrNameLst>
                                      </p:cBhvr>
                                      <p:to>
                                        <p:strVal val="visible"/>
                                      </p:to>
                                    </p:set>
                                    <p:animEffect filter="fade" transition="in">
                                      <p:cBhvr>
                                        <p:cTn dur="1000"/>
                                        <p:tgtEl>
                                          <p:spTgt spid="3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7" st="7"/>
                                            </p:txEl>
                                          </p:spTgt>
                                        </p:tgtEl>
                                        <p:attrNameLst>
                                          <p:attrName>style.visibility</p:attrName>
                                        </p:attrNameLst>
                                      </p:cBhvr>
                                      <p:to>
                                        <p:strVal val="visible"/>
                                      </p:to>
                                    </p:set>
                                    <p:animEffect filter="fade" transition="in">
                                      <p:cBhvr>
                                        <p:cTn dur="1000"/>
                                        <p:tgtEl>
                                          <p:spTgt spid="3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8" st="8"/>
                                            </p:txEl>
                                          </p:spTgt>
                                        </p:tgtEl>
                                        <p:attrNameLst>
                                          <p:attrName>style.visibility</p:attrName>
                                        </p:attrNameLst>
                                      </p:cBhvr>
                                      <p:to>
                                        <p:strVal val="visible"/>
                                      </p:to>
                                    </p:set>
                                    <p:animEffect filter="fade" transition="in">
                                      <p:cBhvr>
                                        <p:cTn dur="1000"/>
                                        <p:tgtEl>
                                          <p:spTgt spid="3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9" st="9"/>
                                            </p:txEl>
                                          </p:spTgt>
                                        </p:tgtEl>
                                        <p:attrNameLst>
                                          <p:attrName>style.visibility</p:attrName>
                                        </p:attrNameLst>
                                      </p:cBhvr>
                                      <p:to>
                                        <p:strVal val="visible"/>
                                      </p:to>
                                    </p:set>
                                    <p:animEffect filter="fade" transition="in">
                                      <p:cBhvr>
                                        <p:cTn dur="1000"/>
                                        <p:tgtEl>
                                          <p:spTgt spid="3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0" st="10"/>
                                            </p:txEl>
                                          </p:spTgt>
                                        </p:tgtEl>
                                        <p:attrNameLst>
                                          <p:attrName>style.visibility</p:attrName>
                                        </p:attrNameLst>
                                      </p:cBhvr>
                                      <p:to>
                                        <p:strVal val="visible"/>
                                      </p:to>
                                    </p:set>
                                    <p:animEffect filter="fade" transition="in">
                                      <p:cBhvr>
                                        <p:cTn dur="1000"/>
                                        <p:tgtEl>
                                          <p:spTgt spid="3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1" st="11"/>
                                            </p:txEl>
                                          </p:spTgt>
                                        </p:tgtEl>
                                        <p:attrNameLst>
                                          <p:attrName>style.visibility</p:attrName>
                                        </p:attrNameLst>
                                      </p:cBhvr>
                                      <p:to>
                                        <p:strVal val="visible"/>
                                      </p:to>
                                    </p:set>
                                    <p:animEffect filter="fade" transition="in">
                                      <p:cBhvr>
                                        <p:cTn dur="1000"/>
                                        <p:tgtEl>
                                          <p:spTgt spid="3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2" st="12"/>
                                            </p:txEl>
                                          </p:spTgt>
                                        </p:tgtEl>
                                        <p:attrNameLst>
                                          <p:attrName>style.visibility</p:attrName>
                                        </p:attrNameLst>
                                      </p:cBhvr>
                                      <p:to>
                                        <p:strVal val="visible"/>
                                      </p:to>
                                    </p:set>
                                    <p:animEffect filter="fade" transition="in">
                                      <p:cBhvr>
                                        <p:cTn dur="1000"/>
                                        <p:tgtEl>
                                          <p:spTgt spid="3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3" st="13"/>
                                            </p:txEl>
                                          </p:spTgt>
                                        </p:tgtEl>
                                        <p:attrNameLst>
                                          <p:attrName>style.visibility</p:attrName>
                                        </p:attrNameLst>
                                      </p:cBhvr>
                                      <p:to>
                                        <p:strVal val="visible"/>
                                      </p:to>
                                    </p:set>
                                    <p:animEffect filter="fade" transition="in">
                                      <p:cBhvr>
                                        <p:cTn dur="1000"/>
                                        <p:tgtEl>
                                          <p:spTgt spid="36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4" st="14"/>
                                            </p:txEl>
                                          </p:spTgt>
                                        </p:tgtEl>
                                        <p:attrNameLst>
                                          <p:attrName>style.visibility</p:attrName>
                                        </p:attrNameLst>
                                      </p:cBhvr>
                                      <p:to>
                                        <p:strVal val="visible"/>
                                      </p:to>
                                    </p:set>
                                    <p:animEffect filter="fade" transition="in">
                                      <p:cBhvr>
                                        <p:cTn dur="1000"/>
                                        <p:tgtEl>
                                          <p:spTgt spid="36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5" st="15"/>
                                            </p:txEl>
                                          </p:spTgt>
                                        </p:tgtEl>
                                        <p:attrNameLst>
                                          <p:attrName>style.visibility</p:attrName>
                                        </p:attrNameLst>
                                      </p:cBhvr>
                                      <p:to>
                                        <p:strVal val="visible"/>
                                      </p:to>
                                    </p:set>
                                    <p:animEffect filter="fade" transition="in">
                                      <p:cBhvr>
                                        <p:cTn dur="1000"/>
                                        <p:tgtEl>
                                          <p:spTgt spid="369">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6" st="16"/>
                                            </p:txEl>
                                          </p:spTgt>
                                        </p:tgtEl>
                                        <p:attrNameLst>
                                          <p:attrName>style.visibility</p:attrName>
                                        </p:attrNameLst>
                                      </p:cBhvr>
                                      <p:to>
                                        <p:strVal val="visible"/>
                                      </p:to>
                                    </p:set>
                                    <p:animEffect filter="fade" transition="in">
                                      <p:cBhvr>
                                        <p:cTn dur="1000"/>
                                        <p:tgtEl>
                                          <p:spTgt spid="369">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90" name="Google Shape;390;p21"/>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391" name="Google Shape;391;p21"/>
          <p:cNvSpPr/>
          <p:nvPr/>
        </p:nvSpPr>
        <p:spPr>
          <a:xfrm>
            <a:off x="395536" y="1190181"/>
            <a:ext cx="2016224" cy="4752528"/>
          </a:xfrm>
          <a:prstGeom prst="frame">
            <a:avLst>
              <a:gd fmla="val 2367"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392" name="Google Shape;392;p21"/>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22"/>
          <p:cNvPicPr preferRelativeResize="0"/>
          <p:nvPr/>
        </p:nvPicPr>
        <p:blipFill rotWithShape="1">
          <a:blip r:embed="rId3">
            <a:alphaModFix/>
          </a:blip>
          <a:srcRect b="0" l="0" r="0" t="0"/>
          <a:stretch/>
        </p:blipFill>
        <p:spPr>
          <a:xfrm>
            <a:off x="728420" y="1766806"/>
            <a:ext cx="3333851" cy="4029559"/>
          </a:xfrm>
          <a:prstGeom prst="rect">
            <a:avLst/>
          </a:prstGeom>
          <a:noFill/>
          <a:ln>
            <a:noFill/>
          </a:ln>
        </p:spPr>
      </p:pic>
      <p:sp>
        <p:nvSpPr>
          <p:cNvPr id="398" name="Google Shape;39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Product Backlog</a:t>
            </a:r>
            <a:endParaRPr/>
          </a:p>
        </p:txBody>
      </p:sp>
      <p:sp>
        <p:nvSpPr>
          <p:cNvPr id="399" name="Google Shape;399;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The requirements</a:t>
            </a:r>
            <a:endParaRPr/>
          </a:p>
          <a:p>
            <a:pPr indent="-342900" lvl="0" marL="342900" rtl="0" algn="l">
              <a:lnSpc>
                <a:spcPct val="100000"/>
              </a:lnSpc>
              <a:spcBef>
                <a:spcPts val="2000"/>
              </a:spcBef>
              <a:spcAft>
                <a:spcPts val="0"/>
              </a:spcAft>
              <a:buClr>
                <a:schemeClr val="dk1"/>
              </a:buClr>
              <a:buSzPts val="2000"/>
              <a:buChar char="•"/>
            </a:pPr>
            <a:r>
              <a:rPr lang="en-US" sz="2000"/>
              <a:t>A list of all desired work on project</a:t>
            </a:r>
            <a:endParaRPr/>
          </a:p>
          <a:p>
            <a:pPr indent="-342900" lvl="0" marL="342900" rtl="0" algn="l">
              <a:lnSpc>
                <a:spcPct val="100000"/>
              </a:lnSpc>
              <a:spcBef>
                <a:spcPts val="2000"/>
              </a:spcBef>
              <a:spcAft>
                <a:spcPts val="0"/>
              </a:spcAft>
              <a:buClr>
                <a:schemeClr val="dk1"/>
              </a:buClr>
              <a:buSzPts val="2000"/>
              <a:buChar char="•"/>
            </a:pPr>
            <a:r>
              <a:rPr lang="en-US" sz="2000"/>
              <a:t>Ideally expressed as a list of user stories along with "story points", such that each item has value to users or customers of the product </a:t>
            </a:r>
            <a:endParaRPr/>
          </a:p>
          <a:p>
            <a:pPr indent="-342900" lvl="0" marL="342900" rtl="0" algn="l">
              <a:lnSpc>
                <a:spcPct val="100000"/>
              </a:lnSpc>
              <a:spcBef>
                <a:spcPts val="2000"/>
              </a:spcBef>
              <a:spcAft>
                <a:spcPts val="0"/>
              </a:spcAft>
              <a:buClr>
                <a:schemeClr val="dk1"/>
              </a:buClr>
              <a:buSzPts val="2000"/>
              <a:buChar char="•"/>
            </a:pPr>
            <a:r>
              <a:rPr lang="en-US" sz="2000"/>
              <a:t>Prioritized by the product owner</a:t>
            </a:r>
            <a:endParaRPr/>
          </a:p>
          <a:p>
            <a:pPr indent="-342900" lvl="0" marL="342900" rtl="0" algn="l">
              <a:lnSpc>
                <a:spcPct val="100000"/>
              </a:lnSpc>
              <a:spcBef>
                <a:spcPts val="2000"/>
              </a:spcBef>
              <a:spcAft>
                <a:spcPts val="0"/>
              </a:spcAft>
              <a:buClr>
                <a:schemeClr val="dk1"/>
              </a:buClr>
              <a:buSzPts val="2000"/>
              <a:buChar char="•"/>
            </a:pPr>
            <a:r>
              <a:rPr lang="en-US" sz="2000"/>
              <a:t>Reprioritized at start of each sprint</a:t>
            </a:r>
            <a:endParaRPr/>
          </a:p>
        </p:txBody>
      </p:sp>
      <p:sp>
        <p:nvSpPr>
          <p:cNvPr id="400" name="Google Shape;400;p22"/>
          <p:cNvSpPr/>
          <p:nvPr/>
        </p:nvSpPr>
        <p:spPr>
          <a:xfrm>
            <a:off x="1132488" y="5339165"/>
            <a:ext cx="2525713" cy="914400"/>
          </a:xfrm>
          <a:prstGeom prst="rect">
            <a:avLst/>
          </a:prstGeom>
          <a:blipFill rotWithShape="1">
            <a:blip r:embed="rId4">
              <a:alphaModFix/>
            </a:blip>
            <a:tile algn="tl" flip="none" tx="0" sx="100000" ty="0" sy="100000"/>
          </a:blipFill>
          <a:ln cap="flat" cmpd="sng" w="25400">
            <a:solidFill>
              <a:srgbClr val="003C83"/>
            </a:solidFill>
            <a:prstDash val="solid"/>
            <a:miter lim="800000"/>
            <a:headEnd len="sm" w="sm" type="none"/>
            <a:tailEnd len="sm" w="sm" type="none"/>
          </a:ln>
          <a:effectLst>
            <a:outerShdw blurRad="114300" rotWithShape="0" algn="ctr" dir="2700000" dist="63500">
              <a:schemeClr val="lt2">
                <a:alpha val="28627"/>
              </a:scheme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This is the</a:t>
            </a:r>
            <a:br>
              <a:rPr b="0" i="0" lang="en-US" sz="2400" u="none" cap="none" strike="noStrike">
                <a:solidFill>
                  <a:schemeClr val="dk1"/>
                </a:solidFill>
                <a:latin typeface="Gill Sans"/>
                <a:ea typeface="Gill Sans"/>
                <a:cs typeface="Gill Sans"/>
                <a:sym typeface="Gill Sans"/>
              </a:rPr>
            </a:br>
            <a:r>
              <a:rPr b="0" i="0" lang="en-US" sz="2400" u="none" cap="none" strike="noStrike">
                <a:solidFill>
                  <a:schemeClr val="dk1"/>
                </a:solidFill>
                <a:latin typeface="Gill Sans"/>
                <a:ea typeface="Gill Sans"/>
                <a:cs typeface="Gill Sans"/>
                <a:sym typeface="Gill Sans"/>
              </a:rPr>
              <a:t>product backlog</a:t>
            </a:r>
            <a:endParaRPr b="0" i="0" sz="1400" u="none" cap="none" strike="noStrike">
              <a:solidFill>
                <a:srgbClr val="000000"/>
              </a:solidFill>
              <a:latin typeface="Arial"/>
              <a:ea typeface="Arial"/>
              <a:cs typeface="Arial"/>
              <a:sym typeface="Arial"/>
            </a:endParaRPr>
          </a:p>
        </p:txBody>
      </p:sp>
      <p:pic>
        <p:nvPicPr>
          <p:cNvPr descr="brac.png" id="401" name="Google Shape;401;p22"/>
          <p:cNvPicPr preferRelativeResize="0"/>
          <p:nvPr/>
        </p:nvPicPr>
        <p:blipFill rotWithShape="1">
          <a:blip r:embed="rId5">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3"/>
          <p:cNvSpPr txBox="1"/>
          <p:nvPr>
            <p:ph idx="4294967295" type="title"/>
          </p:nvPr>
        </p:nvSpPr>
        <p:spPr>
          <a:xfrm>
            <a:off x="457200" y="274638"/>
            <a:ext cx="8229600" cy="1143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chemeClr val="dk1"/>
              </a:buClr>
              <a:buSzPts val="4400"/>
              <a:buFont typeface="Calibri"/>
              <a:buNone/>
            </a:pPr>
            <a:r>
              <a:rPr lang="en-US"/>
              <a:t>Artifact - Product Backlog</a:t>
            </a:r>
            <a:endParaRPr/>
          </a:p>
        </p:txBody>
      </p:sp>
      <p:graphicFrame>
        <p:nvGraphicFramePr>
          <p:cNvPr id="409" name="Google Shape;409;p23"/>
          <p:cNvGraphicFramePr/>
          <p:nvPr/>
        </p:nvGraphicFramePr>
        <p:xfrm>
          <a:off x="395536" y="1340768"/>
          <a:ext cx="3000000" cy="3000000"/>
        </p:xfrm>
        <a:graphic>
          <a:graphicData uri="http://schemas.openxmlformats.org/drawingml/2006/table">
            <a:tbl>
              <a:tblPr>
                <a:noFill/>
                <a:tableStyleId>{CF7FB6C7-F25F-404E-9922-050C46C72E83}</a:tableStyleId>
              </a:tblPr>
              <a:tblGrid>
                <a:gridCol w="1301100"/>
                <a:gridCol w="5177250"/>
                <a:gridCol w="1298525"/>
              </a:tblGrid>
              <a:tr h="730800">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Feature</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Backlog item</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c>
                  <a:txBody>
                    <a:bodyPr/>
                    <a:lstStyle/>
                    <a:p>
                      <a:pPr indent="0" lvl="0" marL="0" marR="0" rtl="0" algn="ctr">
                        <a:lnSpc>
                          <a:spcPct val="100000"/>
                        </a:lnSpc>
                        <a:spcBef>
                          <a:spcPts val="0"/>
                        </a:spcBef>
                        <a:spcAft>
                          <a:spcPts val="0"/>
                        </a:spcAft>
                        <a:buClr>
                          <a:srgbClr val="FFFFFF"/>
                        </a:buClr>
                        <a:buSzPts val="2400"/>
                        <a:buFont typeface="Tahoma"/>
                        <a:buNone/>
                      </a:pPr>
                      <a:r>
                        <a:rPr b="0" i="0" lang="en-US" sz="2400" u="none" cap="none" strike="noStrike">
                          <a:solidFill>
                            <a:srgbClr val="FFFFFF"/>
                          </a:solidFill>
                          <a:latin typeface="Tahoma"/>
                          <a:ea typeface="Tahoma"/>
                          <a:cs typeface="Tahoma"/>
                          <a:sym typeface="Tahoma"/>
                        </a:rPr>
                        <a:t>Estimate</a:t>
                      </a:r>
                      <a:endParaRPr sz="1400" u="none" cap="none" strike="noStrike"/>
                    </a:p>
                  </a:txBody>
                  <a:tcPr marT="34300" marB="34300" marR="34300" marL="34300" anchor="ctr">
                    <a:lnL cap="flat" cmpd="sng" w="25400">
                      <a:solidFill>
                        <a:srgbClr val="003C83"/>
                      </a:solidFill>
                      <a:prstDash val="solid"/>
                      <a:round/>
                      <a:headEnd len="sm" w="sm" type="none"/>
                      <a:tailEnd len="sm" w="sm" type="none"/>
                    </a:lnL>
                    <a:lnR cap="flat" cmpd="sng" w="25400">
                      <a:solidFill>
                        <a:srgbClr val="003C83"/>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3C83"/>
                      </a:solidFill>
                      <a:prstDash val="solid"/>
                      <a:round/>
                      <a:headEnd len="sm" w="sm" type="none"/>
                      <a:tailEnd len="sm" w="sm" type="none"/>
                    </a:lnB>
                    <a:solidFill>
                      <a:srgbClr val="3C88DC"/>
                    </a:solidFill>
                  </a:tcPr>
                </a:tc>
              </a:tr>
              <a:tr h="49835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Allow a guest to make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 (story points)</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3C83"/>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0070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B</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guest, I want to cancel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5</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15900">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C</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guest, I want to change the dates of a reservation.</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814375">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D</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As a hotel employee, I can run RevPAR reports (revenue-per-available-room)</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8</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92275">
                <a:tc>
                  <a:txBody>
                    <a:bodyPr/>
                    <a:lstStyle/>
                    <a:p>
                      <a:pPr indent="0" lvl="0" marL="11430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E</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Improve exception handling</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8</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60375">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30</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r h="458850">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11430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c>
                  <a:txBody>
                    <a:bodyPr/>
                    <a:lstStyle/>
                    <a:p>
                      <a:pPr indent="0" lvl="0" marL="0" marR="0" rtl="0" algn="ctr">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50</a:t>
                      </a:r>
                      <a:endParaRPr sz="1400" u="none" cap="none" strike="noStrike"/>
                    </a:p>
                  </a:txBody>
                  <a:tcPr marT="34300" marB="34300" marR="34300" marL="34300" anchor="ctr">
                    <a:lnL cap="flat" cmpd="sng" w="254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solidFill>
                      <a:srgbClr val="E6E6E6"/>
                    </a:solidFill>
                  </a:tcPr>
                </a:tc>
              </a:tr>
            </a:tbl>
          </a:graphicData>
        </a:graphic>
      </p:graphicFrame>
      <p:pic>
        <p:nvPicPr>
          <p:cNvPr descr="brac.png" id="410" name="Google Shape;410;p2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spd="med">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16" name="Google Shape;416;p24"/>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17" name="Google Shape;417;p24"/>
          <p:cNvSpPr/>
          <p:nvPr/>
        </p:nvSpPr>
        <p:spPr>
          <a:xfrm>
            <a:off x="611560" y="3978455"/>
            <a:ext cx="3189343" cy="2042833"/>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18" name="Google Shape;418;p2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Sprint Backlog</a:t>
            </a:r>
            <a:endParaRPr/>
          </a:p>
        </p:txBody>
      </p:sp>
      <p:sp>
        <p:nvSpPr>
          <p:cNvPr id="424" name="Google Shape;424;p25"/>
          <p:cNvSpPr txBox="1"/>
          <p:nvPr>
            <p:ph idx="1" type="body"/>
          </p:nvPr>
        </p:nvSpPr>
        <p:spPr>
          <a:xfrm>
            <a:off x="373775" y="5783425"/>
            <a:ext cx="6219300" cy="863700"/>
          </a:xfrm>
          <a:prstGeom prst="rect">
            <a:avLst/>
          </a:prstGeom>
          <a:noFill/>
          <a:ln>
            <a:noFill/>
          </a:ln>
        </p:spPr>
        <p:txBody>
          <a:bodyPr anchorCtr="0" anchor="t" bIns="45700" lIns="91425" spcFirstLastPara="1" rIns="91425" wrap="square" tIns="45700">
            <a:noAutofit/>
          </a:bodyPr>
          <a:lstStyle/>
          <a:p>
            <a:pPr indent="-292100" lvl="0" marL="342900" rtl="0" algn="ctr">
              <a:lnSpc>
                <a:spcPct val="80000"/>
              </a:lnSpc>
              <a:spcBef>
                <a:spcPts val="0"/>
              </a:spcBef>
              <a:spcAft>
                <a:spcPts val="0"/>
              </a:spcAft>
              <a:buClr>
                <a:schemeClr val="dk1"/>
              </a:buClr>
              <a:buSzPts val="800"/>
              <a:buNone/>
            </a:pPr>
            <a:r>
              <a:rPr lang="en-US" sz="1600">
                <a:solidFill>
                  <a:srgbClr val="003C83"/>
                </a:solidFill>
                <a:latin typeface="Georgia"/>
                <a:ea typeface="Georgia"/>
                <a:cs typeface="Georgia"/>
                <a:sym typeface="Georgia"/>
              </a:rPr>
              <a:t>If the work turns out to be different than they expected, they collaborate with the Product Owner to negotiate the scope of the Sprint Backlog within the Sprint without affecting the Sprint Goal.</a:t>
            </a:r>
            <a:endParaRPr sz="1600">
              <a:solidFill>
                <a:srgbClr val="003C83"/>
              </a:solidFill>
              <a:latin typeface="Georgia"/>
              <a:ea typeface="Georgia"/>
              <a:cs typeface="Georgia"/>
              <a:sym typeface="Georgia"/>
            </a:endParaRPr>
          </a:p>
        </p:txBody>
      </p:sp>
      <p:sp>
        <p:nvSpPr>
          <p:cNvPr id="425" name="Google Shape;425;p25"/>
          <p:cNvSpPr txBox="1"/>
          <p:nvPr/>
        </p:nvSpPr>
        <p:spPr>
          <a:xfrm>
            <a:off x="4644008" y="2204864"/>
            <a:ext cx="3748800" cy="3170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High priority features are selected based on points from product backlog.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These features will be covered within that 1-4 weeks time slot called as </a:t>
            </a:r>
            <a:r>
              <a:rPr b="1" i="0" lang="en-US" sz="2000" u="none" cap="none" strike="noStrike">
                <a:solidFill>
                  <a:schemeClr val="dk1"/>
                </a:solidFill>
                <a:latin typeface="Calibri"/>
                <a:ea typeface="Calibri"/>
                <a:cs typeface="Calibri"/>
                <a:sym typeface="Calibri"/>
              </a:rPr>
              <a:t>sprint</a:t>
            </a: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Estimated work remaining is updated daily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Any team member can not add, delete change sprint backlog</a:t>
            </a:r>
            <a:endParaRPr b="0" i="0" sz="1400" u="none" cap="none" strike="noStrike">
              <a:solidFill>
                <a:srgbClr val="000000"/>
              </a:solidFill>
              <a:latin typeface="Arial"/>
              <a:ea typeface="Arial"/>
              <a:cs typeface="Arial"/>
              <a:sym typeface="Arial"/>
            </a:endParaRPr>
          </a:p>
        </p:txBody>
      </p:sp>
      <p:pic>
        <p:nvPicPr>
          <p:cNvPr id="426" name="Google Shape;426;p25"/>
          <p:cNvPicPr preferRelativeResize="0"/>
          <p:nvPr/>
        </p:nvPicPr>
        <p:blipFill rotWithShape="1">
          <a:blip r:embed="rId3">
            <a:alphaModFix/>
          </a:blip>
          <a:srcRect b="0" l="0" r="0" t="0"/>
          <a:stretch/>
        </p:blipFill>
        <p:spPr>
          <a:xfrm>
            <a:off x="62882" y="2420888"/>
            <a:ext cx="3793439" cy="1490870"/>
          </a:xfrm>
          <a:prstGeom prst="rect">
            <a:avLst/>
          </a:prstGeom>
          <a:noFill/>
          <a:ln>
            <a:noFill/>
          </a:ln>
        </p:spPr>
      </p:pic>
      <p:sp>
        <p:nvSpPr>
          <p:cNvPr id="427" name="Google Shape;427;p25"/>
          <p:cNvSpPr/>
          <p:nvPr/>
        </p:nvSpPr>
        <p:spPr>
          <a:xfrm>
            <a:off x="467544" y="3911758"/>
            <a:ext cx="2525713" cy="914400"/>
          </a:xfrm>
          <a:prstGeom prst="rect">
            <a:avLst/>
          </a:prstGeom>
          <a:blipFill rotWithShape="1">
            <a:blip r:embed="rId4">
              <a:alphaModFix/>
            </a:blip>
            <a:tile algn="tl" flip="none" tx="0" sx="100000" ty="0" sy="100000"/>
          </a:blipFill>
          <a:ln cap="flat" cmpd="sng" w="25400">
            <a:solidFill>
              <a:srgbClr val="003C83"/>
            </a:solidFill>
            <a:prstDash val="solid"/>
            <a:miter lim="800000"/>
            <a:headEnd len="sm" w="sm" type="none"/>
            <a:tailEnd len="sm" w="sm" type="none"/>
          </a:ln>
          <a:effectLst>
            <a:outerShdw blurRad="114300" rotWithShape="0" algn="ctr" dir="2700000" dist="63500">
              <a:schemeClr val="lt2">
                <a:alpha val="28627"/>
              </a:scheme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This is the sprint backlog</a:t>
            </a:r>
            <a:endParaRPr b="0" i="0" sz="1400" u="none" cap="none" strike="noStrike">
              <a:solidFill>
                <a:srgbClr val="000000"/>
              </a:solidFill>
              <a:latin typeface="Arial"/>
              <a:ea typeface="Arial"/>
              <a:cs typeface="Arial"/>
              <a:sym typeface="Arial"/>
            </a:endParaRPr>
          </a:p>
        </p:txBody>
      </p:sp>
      <p:pic>
        <p:nvPicPr>
          <p:cNvPr descr="brac.png" id="428" name="Google Shape;428;p25"/>
          <p:cNvPicPr preferRelativeResize="0"/>
          <p:nvPr/>
        </p:nvPicPr>
        <p:blipFill rotWithShape="1">
          <a:blip r:embed="rId5">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34" name="Google Shape;434;p26"/>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35" name="Google Shape;435;p26"/>
          <p:cNvSpPr/>
          <p:nvPr/>
        </p:nvSpPr>
        <p:spPr>
          <a:xfrm>
            <a:off x="3563888" y="2852936"/>
            <a:ext cx="3240360" cy="2520280"/>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36" name="Google Shape;436;p26"/>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Sprint Board</a:t>
            </a:r>
            <a:endParaRPr/>
          </a:p>
        </p:txBody>
      </p:sp>
      <p:pic>
        <p:nvPicPr>
          <p:cNvPr id="442" name="Google Shape;442;p27"/>
          <p:cNvPicPr preferRelativeResize="0"/>
          <p:nvPr>
            <p:ph idx="1" type="body"/>
          </p:nvPr>
        </p:nvPicPr>
        <p:blipFill rotWithShape="1">
          <a:blip r:embed="rId3">
            <a:alphaModFix/>
          </a:blip>
          <a:srcRect b="0" l="0" r="0" t="0"/>
          <a:stretch/>
        </p:blipFill>
        <p:spPr>
          <a:xfrm>
            <a:off x="1095375" y="1844824"/>
            <a:ext cx="6953250" cy="3837632"/>
          </a:xfrm>
          <a:prstGeom prst="rect">
            <a:avLst/>
          </a:prstGeom>
          <a:noFill/>
          <a:ln>
            <a:noFill/>
          </a:ln>
        </p:spPr>
      </p:pic>
      <p:pic>
        <p:nvPicPr>
          <p:cNvPr descr="brac.png" id="443" name="Google Shape;443;p27"/>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49" name="Google Shape;449;p28"/>
          <p:cNvPicPr preferRelativeResize="0"/>
          <p:nvPr>
            <p:ph idx="1" type="body"/>
          </p:nvPr>
        </p:nvPicPr>
        <p:blipFill rotWithShape="1">
          <a:blip r:embed="rId3">
            <a:alphaModFix/>
          </a:blip>
          <a:srcRect b="0" l="0" r="0" t="0"/>
          <a:stretch/>
        </p:blipFill>
        <p:spPr>
          <a:xfrm>
            <a:off x="179512" y="260648"/>
            <a:ext cx="8856984" cy="6192688"/>
          </a:xfrm>
          <a:prstGeom prst="rect">
            <a:avLst/>
          </a:prstGeom>
          <a:noFill/>
          <a:ln>
            <a:noFill/>
          </a:ln>
        </p:spPr>
      </p:pic>
      <p:sp>
        <p:nvSpPr>
          <p:cNvPr id="450" name="Google Shape;450;p28"/>
          <p:cNvSpPr/>
          <p:nvPr/>
        </p:nvSpPr>
        <p:spPr>
          <a:xfrm>
            <a:off x="5004048" y="1268760"/>
            <a:ext cx="3528392" cy="194421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51" name="Google Shape;451;p28"/>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9"/>
          <p:cNvSpPr txBox="1"/>
          <p:nvPr>
            <p:ph idx="4294967295" type="title"/>
          </p:nvPr>
        </p:nvSpPr>
        <p:spPr>
          <a:xfrm>
            <a:off x="457200" y="274638"/>
            <a:ext cx="8229600" cy="1143000"/>
          </a:xfrm>
          <a:prstGeom prst="rect">
            <a:avLst/>
          </a:prstGeom>
          <a:noFill/>
          <a:ln>
            <a:noFill/>
          </a:ln>
        </p:spPr>
        <p:txBody>
          <a:bodyPr anchorCtr="0" anchor="ctr" bIns="34275" lIns="34275" spcFirstLastPara="1" rIns="34275" wrap="square" tIns="34275">
            <a:normAutofit/>
          </a:bodyPr>
          <a:lstStyle/>
          <a:p>
            <a:pPr indent="0" lvl="0" marL="0" rtl="0" algn="ctr">
              <a:lnSpc>
                <a:spcPct val="100000"/>
              </a:lnSpc>
              <a:spcBef>
                <a:spcPts val="0"/>
              </a:spcBef>
              <a:spcAft>
                <a:spcPts val="0"/>
              </a:spcAft>
              <a:buClr>
                <a:schemeClr val="dk1"/>
              </a:buClr>
              <a:buSzPts val="4400"/>
              <a:buFont typeface="Calibri"/>
              <a:buNone/>
            </a:pPr>
            <a:r>
              <a:rPr lang="en-US"/>
              <a:t>Ceremony - Daily Scrum Meeting</a:t>
            </a:r>
            <a:endParaRPr/>
          </a:p>
        </p:txBody>
      </p:sp>
      <p:sp>
        <p:nvSpPr>
          <p:cNvPr id="459" name="Google Shape;459;p29"/>
          <p:cNvSpPr txBox="1"/>
          <p:nvPr>
            <p:ph idx="4294967295" type="body"/>
          </p:nvPr>
        </p:nvSpPr>
        <p:spPr>
          <a:xfrm>
            <a:off x="-1844" y="1556792"/>
            <a:ext cx="8443664" cy="4926012"/>
          </a:xfrm>
          <a:prstGeom prst="rect">
            <a:avLst/>
          </a:prstGeom>
          <a:noFill/>
          <a:ln>
            <a:noFill/>
          </a:ln>
        </p:spPr>
        <p:txBody>
          <a:bodyPr anchorCtr="0" anchor="t" bIns="34275" lIns="34275" spcFirstLastPara="1" rIns="34275" wrap="square" tIns="34275">
            <a:normAutofit/>
          </a:bodyPr>
          <a:lstStyle/>
          <a:p>
            <a:pPr indent="-444500" lvl="0" marL="698500" rtl="0" algn="l">
              <a:lnSpc>
                <a:spcPct val="90000"/>
              </a:lnSpc>
              <a:spcBef>
                <a:spcPts val="0"/>
              </a:spcBef>
              <a:spcAft>
                <a:spcPts val="0"/>
              </a:spcAft>
              <a:buClr>
                <a:schemeClr val="dk1"/>
              </a:buClr>
              <a:buSzPts val="2800"/>
              <a:buChar char="•"/>
            </a:pPr>
            <a:r>
              <a:rPr lang="en-US" sz="2800"/>
              <a:t>Parameters</a:t>
            </a:r>
            <a:endParaRPr/>
          </a:p>
          <a:p>
            <a:pPr indent="-444500" lvl="1" marL="1041400" rtl="0" algn="l">
              <a:lnSpc>
                <a:spcPct val="90000"/>
              </a:lnSpc>
              <a:spcBef>
                <a:spcPts val="480"/>
              </a:spcBef>
              <a:spcAft>
                <a:spcPts val="0"/>
              </a:spcAft>
              <a:buClr>
                <a:schemeClr val="dk1"/>
              </a:buClr>
              <a:buSzPts val="2400"/>
              <a:buChar char="–"/>
            </a:pPr>
            <a:r>
              <a:rPr lang="en-US" sz="2400"/>
              <a:t>Daily, ~15 minutes, Stand-up</a:t>
            </a:r>
            <a:endParaRPr/>
          </a:p>
          <a:p>
            <a:pPr indent="-444500" lvl="1" marL="1041400" rtl="0" algn="l">
              <a:lnSpc>
                <a:spcPct val="90000"/>
              </a:lnSpc>
              <a:spcBef>
                <a:spcPts val="480"/>
              </a:spcBef>
              <a:spcAft>
                <a:spcPts val="0"/>
              </a:spcAft>
              <a:buClr>
                <a:schemeClr val="dk1"/>
              </a:buClr>
              <a:buSzPts val="2400"/>
              <a:buChar char="–"/>
            </a:pPr>
            <a:r>
              <a:rPr lang="en-US" sz="2400"/>
              <a:t>Anyone late pays a $1 fee</a:t>
            </a:r>
            <a:endParaRPr/>
          </a:p>
          <a:p>
            <a:pPr indent="-374650" lvl="1" marL="1041400" rtl="0" algn="l">
              <a:lnSpc>
                <a:spcPct val="90000"/>
              </a:lnSpc>
              <a:spcBef>
                <a:spcPts val="220"/>
              </a:spcBef>
              <a:spcAft>
                <a:spcPts val="0"/>
              </a:spcAft>
              <a:buClr>
                <a:schemeClr val="dk1"/>
              </a:buClr>
              <a:buSzPts val="1100"/>
              <a:buNone/>
            </a:pPr>
            <a:r>
              <a:t/>
            </a:r>
            <a:endParaRPr sz="1100"/>
          </a:p>
          <a:p>
            <a:pPr indent="-444500" lvl="0" marL="698500" rtl="0" algn="l">
              <a:lnSpc>
                <a:spcPct val="90000"/>
              </a:lnSpc>
              <a:spcBef>
                <a:spcPts val="560"/>
              </a:spcBef>
              <a:spcAft>
                <a:spcPts val="0"/>
              </a:spcAft>
              <a:buClr>
                <a:schemeClr val="dk1"/>
              </a:buClr>
              <a:buSzPts val="2800"/>
              <a:buChar char="•"/>
            </a:pPr>
            <a:r>
              <a:rPr lang="en-US" sz="2800"/>
              <a:t>Not for problem solving</a:t>
            </a:r>
            <a:endParaRPr/>
          </a:p>
          <a:p>
            <a:pPr indent="-444500" lvl="1" marL="1041400" rtl="0" algn="l">
              <a:lnSpc>
                <a:spcPct val="90000"/>
              </a:lnSpc>
              <a:spcBef>
                <a:spcPts val="480"/>
              </a:spcBef>
              <a:spcAft>
                <a:spcPts val="0"/>
              </a:spcAft>
              <a:buClr>
                <a:schemeClr val="dk1"/>
              </a:buClr>
              <a:buSzPts val="2400"/>
              <a:buChar char="–"/>
            </a:pPr>
            <a:r>
              <a:rPr lang="en-US" sz="2400"/>
              <a:t>Whole world is invited</a:t>
            </a:r>
            <a:endParaRPr/>
          </a:p>
          <a:p>
            <a:pPr indent="-444500" lvl="1" marL="1041400" rtl="0" algn="l">
              <a:lnSpc>
                <a:spcPct val="90000"/>
              </a:lnSpc>
              <a:spcBef>
                <a:spcPts val="480"/>
              </a:spcBef>
              <a:spcAft>
                <a:spcPts val="0"/>
              </a:spcAft>
              <a:buClr>
                <a:schemeClr val="dk1"/>
              </a:buClr>
              <a:buSzPts val="2400"/>
              <a:buChar char="–"/>
            </a:pPr>
            <a:r>
              <a:rPr lang="en-US" sz="2400"/>
              <a:t>Only team members, Scrum Master, product owner, can talk</a:t>
            </a:r>
            <a:endParaRPr sz="1100"/>
          </a:p>
          <a:p>
            <a:pPr indent="-444500" lvl="1" marL="1041400" rtl="0" algn="l">
              <a:lnSpc>
                <a:spcPct val="90000"/>
              </a:lnSpc>
              <a:spcBef>
                <a:spcPts val="480"/>
              </a:spcBef>
              <a:spcAft>
                <a:spcPts val="0"/>
              </a:spcAft>
              <a:buClr>
                <a:schemeClr val="dk1"/>
              </a:buClr>
              <a:buSzPts val="2400"/>
              <a:buChar char="–"/>
            </a:pPr>
            <a:r>
              <a:rPr lang="en-US" sz="2400"/>
              <a:t>Helps avoid other unnecessary meetings</a:t>
            </a:r>
            <a:endParaRPr/>
          </a:p>
          <a:p>
            <a:pPr indent="-374650" lvl="1" marL="1041400" rtl="0" algn="l">
              <a:lnSpc>
                <a:spcPct val="90000"/>
              </a:lnSpc>
              <a:spcBef>
                <a:spcPts val="220"/>
              </a:spcBef>
              <a:spcAft>
                <a:spcPts val="0"/>
              </a:spcAft>
              <a:buClr>
                <a:schemeClr val="dk1"/>
              </a:buClr>
              <a:buSzPts val="1100"/>
              <a:buNone/>
            </a:pPr>
            <a:r>
              <a:t/>
            </a:r>
            <a:endParaRPr sz="1100"/>
          </a:p>
          <a:p>
            <a:pPr indent="-444500" lvl="0" marL="698500" rtl="0" algn="l">
              <a:lnSpc>
                <a:spcPct val="90000"/>
              </a:lnSpc>
              <a:spcBef>
                <a:spcPts val="400"/>
              </a:spcBef>
              <a:spcAft>
                <a:spcPts val="0"/>
              </a:spcAft>
              <a:buClr>
                <a:schemeClr val="dk1"/>
              </a:buClr>
              <a:buSzPts val="2000"/>
              <a:buChar char="•"/>
            </a:pPr>
            <a:r>
              <a:rPr lang="en-US" sz="2000"/>
              <a:t>Three questions answered by each team member:</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did you do yesterday?</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will you do today?</a:t>
            </a:r>
            <a:endParaRPr/>
          </a:p>
          <a:p>
            <a:pPr indent="-444500" lvl="1" marL="1041400" rtl="0" algn="l">
              <a:lnSpc>
                <a:spcPct val="90000"/>
              </a:lnSpc>
              <a:spcBef>
                <a:spcPts val="360"/>
              </a:spcBef>
              <a:spcAft>
                <a:spcPts val="0"/>
              </a:spcAft>
              <a:buClr>
                <a:schemeClr val="dk1"/>
              </a:buClr>
              <a:buSzPts val="1800"/>
              <a:buFont typeface="Noto Sans Symbols"/>
              <a:buAutoNum type="arabicPeriod"/>
            </a:pPr>
            <a:r>
              <a:rPr lang="en-US" sz="1800"/>
              <a:t>What obstacles are in your way? </a:t>
            </a:r>
            <a:endParaRPr sz="2400"/>
          </a:p>
        </p:txBody>
      </p:sp>
      <p:pic>
        <p:nvPicPr>
          <p:cNvPr id="460" name="Google Shape;460;p29"/>
          <p:cNvPicPr preferRelativeResize="0"/>
          <p:nvPr/>
        </p:nvPicPr>
        <p:blipFill rotWithShape="1">
          <a:blip r:embed="rId3">
            <a:alphaModFix/>
          </a:blip>
          <a:srcRect b="0" l="0" r="0" t="0"/>
          <a:stretch/>
        </p:blipFill>
        <p:spPr>
          <a:xfrm>
            <a:off x="4644008" y="1268760"/>
            <a:ext cx="4499992" cy="2592288"/>
          </a:xfrm>
          <a:prstGeom prst="rect">
            <a:avLst/>
          </a:prstGeom>
          <a:noFill/>
          <a:ln>
            <a:noFill/>
          </a:ln>
        </p:spPr>
      </p:pic>
      <p:pic>
        <p:nvPicPr>
          <p:cNvPr descr="brac.png" id="461" name="Google Shape;461;p29"/>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0" st="0"/>
                                            </p:txEl>
                                          </p:spTgt>
                                        </p:tgtEl>
                                        <p:attrNameLst>
                                          <p:attrName>style.visibility</p:attrName>
                                        </p:attrNameLst>
                                      </p:cBhvr>
                                      <p:to>
                                        <p:strVal val="visible"/>
                                      </p:to>
                                    </p:set>
                                    <p:animEffect filter="fade" transition="in">
                                      <p:cBhvr>
                                        <p:cTn dur="1000"/>
                                        <p:tgtEl>
                                          <p:spTgt spid="4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 st="1"/>
                                            </p:txEl>
                                          </p:spTgt>
                                        </p:tgtEl>
                                        <p:attrNameLst>
                                          <p:attrName>style.visibility</p:attrName>
                                        </p:attrNameLst>
                                      </p:cBhvr>
                                      <p:to>
                                        <p:strVal val="visible"/>
                                      </p:to>
                                    </p:set>
                                    <p:animEffect filter="fade" transition="in">
                                      <p:cBhvr>
                                        <p:cTn dur="1000"/>
                                        <p:tgtEl>
                                          <p:spTgt spid="4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2" st="2"/>
                                            </p:txEl>
                                          </p:spTgt>
                                        </p:tgtEl>
                                        <p:attrNameLst>
                                          <p:attrName>style.visibility</p:attrName>
                                        </p:attrNameLst>
                                      </p:cBhvr>
                                      <p:to>
                                        <p:strVal val="visible"/>
                                      </p:to>
                                    </p:set>
                                    <p:animEffect filter="fade" transition="in">
                                      <p:cBhvr>
                                        <p:cTn dur="1000"/>
                                        <p:tgtEl>
                                          <p:spTgt spid="4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3" st="3"/>
                                            </p:txEl>
                                          </p:spTgt>
                                        </p:tgtEl>
                                        <p:attrNameLst>
                                          <p:attrName>style.visibility</p:attrName>
                                        </p:attrNameLst>
                                      </p:cBhvr>
                                      <p:to>
                                        <p:strVal val="visible"/>
                                      </p:to>
                                    </p:set>
                                    <p:animEffect filter="fade" transition="in">
                                      <p:cBhvr>
                                        <p:cTn dur="1000"/>
                                        <p:tgtEl>
                                          <p:spTgt spid="4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4" st="4"/>
                                            </p:txEl>
                                          </p:spTgt>
                                        </p:tgtEl>
                                        <p:attrNameLst>
                                          <p:attrName>style.visibility</p:attrName>
                                        </p:attrNameLst>
                                      </p:cBhvr>
                                      <p:to>
                                        <p:strVal val="visible"/>
                                      </p:to>
                                    </p:set>
                                    <p:animEffect filter="fade" transition="in">
                                      <p:cBhvr>
                                        <p:cTn dur="1000"/>
                                        <p:tgtEl>
                                          <p:spTgt spid="4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5" st="5"/>
                                            </p:txEl>
                                          </p:spTgt>
                                        </p:tgtEl>
                                        <p:attrNameLst>
                                          <p:attrName>style.visibility</p:attrName>
                                        </p:attrNameLst>
                                      </p:cBhvr>
                                      <p:to>
                                        <p:strVal val="visible"/>
                                      </p:to>
                                    </p:set>
                                    <p:animEffect filter="fade" transition="in">
                                      <p:cBhvr>
                                        <p:cTn dur="1000"/>
                                        <p:tgtEl>
                                          <p:spTgt spid="4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6" st="6"/>
                                            </p:txEl>
                                          </p:spTgt>
                                        </p:tgtEl>
                                        <p:attrNameLst>
                                          <p:attrName>style.visibility</p:attrName>
                                        </p:attrNameLst>
                                      </p:cBhvr>
                                      <p:to>
                                        <p:strVal val="visible"/>
                                      </p:to>
                                    </p:set>
                                    <p:animEffect filter="fade" transition="in">
                                      <p:cBhvr>
                                        <p:cTn dur="1000"/>
                                        <p:tgtEl>
                                          <p:spTgt spid="45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7" st="7"/>
                                            </p:txEl>
                                          </p:spTgt>
                                        </p:tgtEl>
                                        <p:attrNameLst>
                                          <p:attrName>style.visibility</p:attrName>
                                        </p:attrNameLst>
                                      </p:cBhvr>
                                      <p:to>
                                        <p:strVal val="visible"/>
                                      </p:to>
                                    </p:set>
                                    <p:animEffect filter="fade" transition="in">
                                      <p:cBhvr>
                                        <p:cTn dur="1000"/>
                                        <p:tgtEl>
                                          <p:spTgt spid="45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8" st="8"/>
                                            </p:txEl>
                                          </p:spTgt>
                                        </p:tgtEl>
                                        <p:attrNameLst>
                                          <p:attrName>style.visibility</p:attrName>
                                        </p:attrNameLst>
                                      </p:cBhvr>
                                      <p:to>
                                        <p:strVal val="visible"/>
                                      </p:to>
                                    </p:set>
                                    <p:animEffect filter="fade" transition="in">
                                      <p:cBhvr>
                                        <p:cTn dur="1000"/>
                                        <p:tgtEl>
                                          <p:spTgt spid="45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9" st="9"/>
                                            </p:txEl>
                                          </p:spTgt>
                                        </p:tgtEl>
                                        <p:attrNameLst>
                                          <p:attrName>style.visibility</p:attrName>
                                        </p:attrNameLst>
                                      </p:cBhvr>
                                      <p:to>
                                        <p:strVal val="visible"/>
                                      </p:to>
                                    </p:set>
                                    <p:animEffect filter="fade" transition="in">
                                      <p:cBhvr>
                                        <p:cTn dur="1000"/>
                                        <p:tgtEl>
                                          <p:spTgt spid="45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0" st="10"/>
                                            </p:txEl>
                                          </p:spTgt>
                                        </p:tgtEl>
                                        <p:attrNameLst>
                                          <p:attrName>style.visibility</p:attrName>
                                        </p:attrNameLst>
                                      </p:cBhvr>
                                      <p:to>
                                        <p:strVal val="visible"/>
                                      </p:to>
                                    </p:set>
                                    <p:animEffect filter="fade" transition="in">
                                      <p:cBhvr>
                                        <p:cTn dur="1000"/>
                                        <p:tgtEl>
                                          <p:spTgt spid="45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1" st="11"/>
                                            </p:txEl>
                                          </p:spTgt>
                                        </p:tgtEl>
                                        <p:attrNameLst>
                                          <p:attrName>style.visibility</p:attrName>
                                        </p:attrNameLst>
                                      </p:cBhvr>
                                      <p:to>
                                        <p:strVal val="visible"/>
                                      </p:to>
                                    </p:set>
                                    <p:animEffect filter="fade" transition="in">
                                      <p:cBhvr>
                                        <p:cTn dur="1000"/>
                                        <p:tgtEl>
                                          <p:spTgt spid="45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xEl>
                                              <p:pRg end="12" st="12"/>
                                            </p:txEl>
                                          </p:spTgt>
                                        </p:tgtEl>
                                        <p:attrNameLst>
                                          <p:attrName>style.visibility</p:attrName>
                                        </p:attrNameLst>
                                      </p:cBhvr>
                                      <p:to>
                                        <p:strVal val="visible"/>
                                      </p:to>
                                    </p:set>
                                    <p:animEffect filter="fade" transition="in">
                                      <p:cBhvr>
                                        <p:cTn dur="1000"/>
                                        <p:tgtEl>
                                          <p:spTgt spid="45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Burndown Chart</a:t>
            </a:r>
            <a:endParaRPr/>
          </a:p>
        </p:txBody>
      </p:sp>
      <p:sp>
        <p:nvSpPr>
          <p:cNvPr id="467" name="Google Shape;467;p30"/>
          <p:cNvSpPr txBox="1"/>
          <p:nvPr>
            <p:ph idx="1" type="body"/>
          </p:nvPr>
        </p:nvSpPr>
        <p:spPr>
          <a:xfrm>
            <a:off x="251525" y="1600200"/>
            <a:ext cx="8435400" cy="39507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80000"/>
              </a:lnSpc>
              <a:spcBef>
                <a:spcPts val="0"/>
              </a:spcBef>
              <a:spcAft>
                <a:spcPts val="0"/>
              </a:spcAft>
              <a:buClr>
                <a:schemeClr val="dk1"/>
              </a:buClr>
              <a:buSzPts val="2960"/>
              <a:buChar char="•"/>
            </a:pPr>
            <a:r>
              <a:rPr lang="en-US" sz="2960"/>
              <a:t>A display of what work has been completed</a:t>
            </a:r>
            <a:br>
              <a:rPr lang="en-US" sz="2960"/>
            </a:br>
            <a:r>
              <a:rPr lang="en-US" sz="2960"/>
              <a:t>and what is left to complete</a:t>
            </a:r>
            <a:endParaRPr/>
          </a:p>
          <a:p>
            <a:pPr indent="-285750" lvl="1" marL="742950" rtl="0" algn="l">
              <a:lnSpc>
                <a:spcPct val="80000"/>
              </a:lnSpc>
              <a:spcBef>
                <a:spcPts val="518"/>
              </a:spcBef>
              <a:spcAft>
                <a:spcPts val="0"/>
              </a:spcAft>
              <a:buClr>
                <a:schemeClr val="dk1"/>
              </a:buClr>
              <a:buSzPts val="2590"/>
              <a:buChar char="–"/>
            </a:pPr>
            <a:r>
              <a:rPr lang="en-US" sz="2590"/>
              <a:t>one for each developer or work item</a:t>
            </a:r>
            <a:endParaRPr/>
          </a:p>
          <a:p>
            <a:pPr indent="-285750" lvl="1" marL="742950" rtl="0" algn="l">
              <a:lnSpc>
                <a:spcPct val="80000"/>
              </a:lnSpc>
              <a:spcBef>
                <a:spcPts val="518"/>
              </a:spcBef>
              <a:spcAft>
                <a:spcPts val="0"/>
              </a:spcAft>
              <a:buClr>
                <a:schemeClr val="dk1"/>
              </a:buClr>
              <a:buSzPts val="2590"/>
              <a:buChar char="–"/>
            </a:pPr>
            <a:r>
              <a:rPr lang="en-US" sz="2590"/>
              <a:t>updated every day</a:t>
            </a:r>
            <a:endParaRPr/>
          </a:p>
          <a:p>
            <a:pPr indent="-285750" lvl="1" marL="742950" rtl="0" algn="l">
              <a:lnSpc>
                <a:spcPct val="80000"/>
              </a:lnSpc>
              <a:spcBef>
                <a:spcPts val="518"/>
              </a:spcBef>
              <a:spcAft>
                <a:spcPts val="0"/>
              </a:spcAft>
              <a:buClr>
                <a:schemeClr val="dk1"/>
              </a:buClr>
              <a:buSzPts val="2590"/>
              <a:buChar char="–"/>
            </a:pPr>
            <a:r>
              <a:rPr lang="en-US" sz="2590"/>
              <a:t>(make best guess about hours/points completed each day)</a:t>
            </a:r>
            <a:endParaRPr/>
          </a:p>
          <a:p>
            <a:pPr indent="-121284" lvl="1" marL="742950" rtl="0" algn="l">
              <a:lnSpc>
                <a:spcPct val="80000"/>
              </a:lnSpc>
              <a:spcBef>
                <a:spcPts val="518"/>
              </a:spcBef>
              <a:spcAft>
                <a:spcPts val="0"/>
              </a:spcAft>
              <a:buClr>
                <a:schemeClr val="dk1"/>
              </a:buClr>
              <a:buSzPts val="2590"/>
              <a:buNone/>
            </a:pPr>
            <a:r>
              <a:t/>
            </a:r>
            <a:endParaRPr sz="2590"/>
          </a:p>
          <a:p>
            <a:pPr indent="-121284" lvl="1" marL="742950" rtl="0" algn="l">
              <a:lnSpc>
                <a:spcPct val="80000"/>
              </a:lnSpc>
              <a:spcBef>
                <a:spcPts val="518"/>
              </a:spcBef>
              <a:spcAft>
                <a:spcPts val="0"/>
              </a:spcAft>
              <a:buClr>
                <a:schemeClr val="dk1"/>
              </a:buClr>
              <a:buSzPts val="2590"/>
              <a:buNone/>
            </a:pPr>
            <a:r>
              <a:t/>
            </a:r>
            <a:endParaRPr sz="2590"/>
          </a:p>
          <a:p>
            <a:pPr indent="-342900" lvl="0" marL="342900" rtl="0" algn="l">
              <a:lnSpc>
                <a:spcPct val="80000"/>
              </a:lnSpc>
              <a:spcBef>
                <a:spcPts val="592"/>
              </a:spcBef>
              <a:spcAft>
                <a:spcPts val="0"/>
              </a:spcAft>
              <a:buClr>
                <a:schemeClr val="dk1"/>
              </a:buClr>
              <a:buSzPts val="2960"/>
              <a:buChar char="•"/>
            </a:pPr>
            <a:r>
              <a:rPr i="1" lang="en-US" sz="2960"/>
              <a:t>variation:</a:t>
            </a:r>
            <a:r>
              <a:rPr lang="en-US" sz="2960"/>
              <a:t> Release burndown chart</a:t>
            </a:r>
            <a:endParaRPr/>
          </a:p>
          <a:p>
            <a:pPr indent="-285750" lvl="1" marL="742950" rtl="0" algn="l">
              <a:lnSpc>
                <a:spcPct val="80000"/>
              </a:lnSpc>
              <a:spcBef>
                <a:spcPts val="518"/>
              </a:spcBef>
              <a:spcAft>
                <a:spcPts val="0"/>
              </a:spcAft>
              <a:buClr>
                <a:schemeClr val="dk1"/>
              </a:buClr>
              <a:buSzPts val="2590"/>
              <a:buChar char="–"/>
            </a:pPr>
            <a:r>
              <a:rPr lang="en-US" sz="2590"/>
              <a:t>shows overall progress</a:t>
            </a:r>
            <a:endParaRPr/>
          </a:p>
          <a:p>
            <a:pPr indent="-285750" lvl="1" marL="742950" rtl="0" algn="l">
              <a:lnSpc>
                <a:spcPct val="80000"/>
              </a:lnSpc>
              <a:spcBef>
                <a:spcPts val="518"/>
              </a:spcBef>
              <a:spcAft>
                <a:spcPts val="0"/>
              </a:spcAft>
              <a:buClr>
                <a:schemeClr val="dk1"/>
              </a:buClr>
              <a:buSzPts val="2590"/>
              <a:buChar char="–"/>
            </a:pPr>
            <a:r>
              <a:rPr lang="en-US" sz="2590"/>
              <a:t>updated at end of each sprint</a:t>
            </a:r>
            <a:endParaRPr sz="2590"/>
          </a:p>
          <a:p>
            <a:pPr indent="0" lvl="0" marL="0" rtl="0" algn="l">
              <a:lnSpc>
                <a:spcPct val="80000"/>
              </a:lnSpc>
              <a:spcBef>
                <a:spcPts val="592"/>
              </a:spcBef>
              <a:spcAft>
                <a:spcPts val="0"/>
              </a:spcAft>
              <a:buClr>
                <a:schemeClr val="dk1"/>
              </a:buClr>
              <a:buSzPts val="2960"/>
              <a:buNone/>
            </a:pPr>
            <a:r>
              <a:t/>
            </a:r>
            <a:endParaRPr sz="2960"/>
          </a:p>
        </p:txBody>
      </p:sp>
      <p:pic>
        <p:nvPicPr>
          <p:cNvPr descr="brac.png" id="468" name="Google Shape;468;p3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
        <p:nvSpPr>
          <p:cNvPr id="469" name="Google Shape;469;p30"/>
          <p:cNvSpPr txBox="1"/>
          <p:nvPr/>
        </p:nvSpPr>
        <p:spPr>
          <a:xfrm>
            <a:off x="921150" y="5181550"/>
            <a:ext cx="7301700" cy="5517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518"/>
              </a:spcBef>
              <a:spcAft>
                <a:spcPts val="0"/>
              </a:spcAft>
              <a:buClr>
                <a:srgbClr val="000000"/>
              </a:buClr>
              <a:buSzPts val="1490"/>
              <a:buFont typeface="Arial"/>
              <a:buNone/>
            </a:pPr>
            <a:r>
              <a:rPr b="1" i="0" lang="en-US" sz="1490" u="sng" cap="none" strike="noStrike">
                <a:solidFill>
                  <a:schemeClr val="hlink"/>
                </a:solidFill>
                <a:latin typeface="Calibri"/>
                <a:ea typeface="Calibri"/>
                <a:cs typeface="Calibri"/>
                <a:sym typeface="Calibri"/>
                <a:hlinkClick r:id="rId4"/>
              </a:rPr>
              <a:t>2 min read: </a:t>
            </a:r>
            <a:r>
              <a:rPr b="0" i="0" lang="en-US" sz="1490" u="sng" cap="none" strike="noStrike">
                <a:solidFill>
                  <a:schemeClr val="hlink"/>
                </a:solidFill>
                <a:latin typeface="Calibri"/>
                <a:ea typeface="Calibri"/>
                <a:cs typeface="Calibri"/>
                <a:sym typeface="Calibri"/>
                <a:hlinkClick r:id="rId5"/>
              </a:rPr>
              <a:t>https://www.mountaingoatsoftware.com/agile/scrum/scrum-tools/release-burndown</a:t>
            </a:r>
            <a:endParaRPr b="0" i="0" sz="3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0" st="0"/>
                                            </p:txEl>
                                          </p:spTgt>
                                        </p:tgtEl>
                                        <p:attrNameLst>
                                          <p:attrName>style.visibility</p:attrName>
                                        </p:attrNameLst>
                                      </p:cBhvr>
                                      <p:to>
                                        <p:strVal val="visible"/>
                                      </p:to>
                                    </p:set>
                                    <p:anim calcmode="lin" valueType="num">
                                      <p:cBhvr additive="base">
                                        <p:cTn dur="2000"/>
                                        <p:tgtEl>
                                          <p:spTgt spid="46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1" st="1"/>
                                            </p:txEl>
                                          </p:spTgt>
                                        </p:tgtEl>
                                        <p:attrNameLst>
                                          <p:attrName>style.visibility</p:attrName>
                                        </p:attrNameLst>
                                      </p:cBhvr>
                                      <p:to>
                                        <p:strVal val="visible"/>
                                      </p:to>
                                    </p:set>
                                    <p:anim calcmode="lin" valueType="num">
                                      <p:cBhvr additive="base">
                                        <p:cTn dur="2000"/>
                                        <p:tgtEl>
                                          <p:spTgt spid="46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2" st="2"/>
                                            </p:txEl>
                                          </p:spTgt>
                                        </p:tgtEl>
                                        <p:attrNameLst>
                                          <p:attrName>style.visibility</p:attrName>
                                        </p:attrNameLst>
                                      </p:cBhvr>
                                      <p:to>
                                        <p:strVal val="visible"/>
                                      </p:to>
                                    </p:set>
                                    <p:anim calcmode="lin" valueType="num">
                                      <p:cBhvr additive="base">
                                        <p:cTn dur="2000"/>
                                        <p:tgtEl>
                                          <p:spTgt spid="46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3" st="3"/>
                                            </p:txEl>
                                          </p:spTgt>
                                        </p:tgtEl>
                                        <p:attrNameLst>
                                          <p:attrName>style.visibility</p:attrName>
                                        </p:attrNameLst>
                                      </p:cBhvr>
                                      <p:to>
                                        <p:strVal val="visible"/>
                                      </p:to>
                                    </p:set>
                                    <p:anim calcmode="lin" valueType="num">
                                      <p:cBhvr additive="base">
                                        <p:cTn dur="2000"/>
                                        <p:tgtEl>
                                          <p:spTgt spid="46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4" st="4"/>
                                            </p:txEl>
                                          </p:spTgt>
                                        </p:tgtEl>
                                        <p:attrNameLst>
                                          <p:attrName>style.visibility</p:attrName>
                                        </p:attrNameLst>
                                      </p:cBhvr>
                                      <p:to>
                                        <p:strVal val="visible"/>
                                      </p:to>
                                    </p:set>
                                    <p:anim calcmode="lin" valueType="num">
                                      <p:cBhvr additive="base">
                                        <p:cTn dur="2000"/>
                                        <p:tgtEl>
                                          <p:spTgt spid="46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5" st="5"/>
                                            </p:txEl>
                                          </p:spTgt>
                                        </p:tgtEl>
                                        <p:attrNameLst>
                                          <p:attrName>style.visibility</p:attrName>
                                        </p:attrNameLst>
                                      </p:cBhvr>
                                      <p:to>
                                        <p:strVal val="visible"/>
                                      </p:to>
                                    </p:set>
                                    <p:anim calcmode="lin" valueType="num">
                                      <p:cBhvr additive="base">
                                        <p:cTn dur="2000"/>
                                        <p:tgtEl>
                                          <p:spTgt spid="46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6" st="6"/>
                                            </p:txEl>
                                          </p:spTgt>
                                        </p:tgtEl>
                                        <p:attrNameLst>
                                          <p:attrName>style.visibility</p:attrName>
                                        </p:attrNameLst>
                                      </p:cBhvr>
                                      <p:to>
                                        <p:strVal val="visible"/>
                                      </p:to>
                                    </p:set>
                                    <p:anim calcmode="lin" valueType="num">
                                      <p:cBhvr additive="base">
                                        <p:cTn dur="2000"/>
                                        <p:tgtEl>
                                          <p:spTgt spid="46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7" st="7"/>
                                            </p:txEl>
                                          </p:spTgt>
                                        </p:tgtEl>
                                        <p:attrNameLst>
                                          <p:attrName>style.visibility</p:attrName>
                                        </p:attrNameLst>
                                      </p:cBhvr>
                                      <p:to>
                                        <p:strVal val="visible"/>
                                      </p:to>
                                    </p:set>
                                    <p:anim calcmode="lin" valueType="num">
                                      <p:cBhvr additive="base">
                                        <p:cTn dur="2000"/>
                                        <p:tgtEl>
                                          <p:spTgt spid="46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8" st="8"/>
                                            </p:txEl>
                                          </p:spTgt>
                                        </p:tgtEl>
                                        <p:attrNameLst>
                                          <p:attrName>style.visibility</p:attrName>
                                        </p:attrNameLst>
                                      </p:cBhvr>
                                      <p:to>
                                        <p:strVal val="visible"/>
                                      </p:to>
                                    </p:set>
                                    <p:anim calcmode="lin" valueType="num">
                                      <p:cBhvr additive="base">
                                        <p:cTn dur="2000"/>
                                        <p:tgtEl>
                                          <p:spTgt spid="46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7">
                                            <p:txEl>
                                              <p:pRg end="9" st="9"/>
                                            </p:txEl>
                                          </p:spTgt>
                                        </p:tgtEl>
                                        <p:attrNameLst>
                                          <p:attrName>style.visibility</p:attrName>
                                        </p:attrNameLst>
                                      </p:cBhvr>
                                      <p:to>
                                        <p:strVal val="visible"/>
                                      </p:to>
                                    </p:set>
                                    <p:anim calcmode="lin" valueType="num">
                                      <p:cBhvr additive="base">
                                        <p:cTn dur="2000"/>
                                        <p:tgtEl>
                                          <p:spTgt spid="46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Artifact – Burndown Chart</a:t>
            </a:r>
            <a:endParaRPr/>
          </a:p>
        </p:txBody>
      </p:sp>
      <p:pic>
        <p:nvPicPr>
          <p:cNvPr id="475" name="Google Shape;475;p31"/>
          <p:cNvPicPr preferRelativeResize="0"/>
          <p:nvPr>
            <p:ph idx="1" type="body"/>
          </p:nvPr>
        </p:nvPicPr>
        <p:blipFill rotWithShape="1">
          <a:blip r:embed="rId3">
            <a:alphaModFix/>
          </a:blip>
          <a:srcRect b="0" l="0" r="0" t="0"/>
          <a:stretch/>
        </p:blipFill>
        <p:spPr>
          <a:xfrm>
            <a:off x="457200" y="1808996"/>
            <a:ext cx="8229600" cy="4108371"/>
          </a:xfrm>
          <a:prstGeom prst="rect">
            <a:avLst/>
          </a:prstGeom>
          <a:noFill/>
          <a:ln>
            <a:noFill/>
          </a:ln>
        </p:spPr>
      </p:pic>
      <p:pic>
        <p:nvPicPr>
          <p:cNvPr descr="brac.png" id="476" name="Google Shape;476;p3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82" name="Google Shape;482;p32"/>
          <p:cNvPicPr preferRelativeResize="0"/>
          <p:nvPr>
            <p:ph idx="1" type="body"/>
          </p:nvPr>
        </p:nvPicPr>
        <p:blipFill rotWithShape="1">
          <a:blip r:embed="rId3">
            <a:alphaModFix/>
          </a:blip>
          <a:srcRect b="0" l="0" r="0" t="0"/>
          <a:stretch/>
        </p:blipFill>
        <p:spPr>
          <a:xfrm>
            <a:off x="282854" y="332656"/>
            <a:ext cx="8856984" cy="6192688"/>
          </a:xfrm>
          <a:prstGeom prst="rect">
            <a:avLst/>
          </a:prstGeom>
          <a:noFill/>
          <a:ln>
            <a:noFill/>
          </a:ln>
        </p:spPr>
      </p:pic>
      <p:sp>
        <p:nvSpPr>
          <p:cNvPr id="483" name="Google Shape;483;p32"/>
          <p:cNvSpPr/>
          <p:nvPr/>
        </p:nvSpPr>
        <p:spPr>
          <a:xfrm>
            <a:off x="7308304" y="4005064"/>
            <a:ext cx="1656184" cy="1008112"/>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p32"/>
          <p:cNvSpPr/>
          <p:nvPr/>
        </p:nvSpPr>
        <p:spPr>
          <a:xfrm>
            <a:off x="7460704" y="5057508"/>
            <a:ext cx="1431776" cy="122413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p32"/>
          <p:cNvSpPr/>
          <p:nvPr/>
        </p:nvSpPr>
        <p:spPr>
          <a:xfrm>
            <a:off x="7436862" y="2828027"/>
            <a:ext cx="1431776" cy="1224136"/>
          </a:xfrm>
          <a:prstGeom prst="frame">
            <a:avLst>
              <a:gd fmla="val 3446" name="adj1"/>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rac.png" id="486" name="Google Shape;486;p32"/>
          <p:cNvPicPr preferRelativeResize="0"/>
          <p:nvPr/>
        </p:nvPicPr>
        <p:blipFill rotWithShape="1">
          <a:blip r:embed="rId4">
            <a:alphaModFix/>
          </a:blip>
          <a:srcRect b="0" l="0" r="0" t="0"/>
          <a:stretch/>
        </p:blipFill>
        <p:spPr>
          <a:xfrm>
            <a:off x="0"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83"/>
                                        </p:tgtEl>
                                      </p:cBhvr>
                                    </p:animEffect>
                                    <p:set>
                                      <p:cBhvr>
                                        <p:cTn dur="1" fill="hold">
                                          <p:stCondLst>
                                            <p:cond delay="500"/>
                                          </p:stCondLst>
                                        </p:cTn>
                                        <p:tgtEl>
                                          <p:spTgt spid="4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10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Ceremony - Sprint Review</a:t>
            </a:r>
            <a:endParaRPr/>
          </a:p>
        </p:txBody>
      </p:sp>
      <p:sp>
        <p:nvSpPr>
          <p:cNvPr id="492" name="Google Shape;492;p33"/>
          <p:cNvSpPr txBox="1"/>
          <p:nvPr>
            <p:ph idx="1" type="body"/>
          </p:nvPr>
        </p:nvSpPr>
        <p:spPr>
          <a:xfrm>
            <a:off x="323528" y="16288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Team presents what it accomplished during the sprint</a:t>
            </a:r>
            <a:endParaRPr/>
          </a:p>
          <a:p>
            <a:pPr indent="-342900" lvl="0" marL="342900" rtl="0" algn="l">
              <a:lnSpc>
                <a:spcPct val="100000"/>
              </a:lnSpc>
              <a:spcBef>
                <a:spcPts val="400"/>
              </a:spcBef>
              <a:spcAft>
                <a:spcPts val="0"/>
              </a:spcAft>
              <a:buClr>
                <a:schemeClr val="dk1"/>
              </a:buClr>
              <a:buSzPts val="2000"/>
              <a:buChar char="•"/>
            </a:pPr>
            <a:r>
              <a:rPr lang="en-US" sz="2000"/>
              <a:t>Typically takes the form of a demo of new features or underlying architecture</a:t>
            </a:r>
            <a:endParaRPr/>
          </a:p>
          <a:p>
            <a:pPr indent="-342900" lvl="0" marL="342900" rtl="0" algn="l">
              <a:lnSpc>
                <a:spcPct val="100000"/>
              </a:lnSpc>
              <a:spcBef>
                <a:spcPts val="400"/>
              </a:spcBef>
              <a:spcAft>
                <a:spcPts val="0"/>
              </a:spcAft>
              <a:buClr>
                <a:schemeClr val="dk1"/>
              </a:buClr>
              <a:buSzPts val="2000"/>
              <a:buChar char="•"/>
            </a:pPr>
            <a:r>
              <a:rPr lang="en-US" sz="2000"/>
              <a:t>Informal</a:t>
            </a:r>
            <a:endParaRPr/>
          </a:p>
          <a:p>
            <a:pPr indent="-285750" lvl="1" marL="742950" rtl="0" algn="l">
              <a:lnSpc>
                <a:spcPct val="100000"/>
              </a:lnSpc>
              <a:spcBef>
                <a:spcPts val="400"/>
              </a:spcBef>
              <a:spcAft>
                <a:spcPts val="0"/>
              </a:spcAft>
              <a:buClr>
                <a:schemeClr val="dk1"/>
              </a:buClr>
              <a:buSzPts val="2000"/>
              <a:buChar char="–"/>
            </a:pPr>
            <a:r>
              <a:rPr lang="en-US" sz="2000"/>
              <a:t>2-hour prep time rule</a:t>
            </a:r>
            <a:endParaRPr/>
          </a:p>
          <a:p>
            <a:pPr indent="-285750" lvl="1" marL="742950" rtl="0" algn="l">
              <a:lnSpc>
                <a:spcPct val="100000"/>
              </a:lnSpc>
              <a:spcBef>
                <a:spcPts val="400"/>
              </a:spcBef>
              <a:spcAft>
                <a:spcPts val="0"/>
              </a:spcAft>
              <a:buClr>
                <a:schemeClr val="dk1"/>
              </a:buClr>
              <a:buSzPts val="2000"/>
              <a:buChar char="–"/>
            </a:pPr>
            <a:r>
              <a:rPr lang="en-US" sz="2000"/>
              <a:t>No slides</a:t>
            </a:r>
            <a:endParaRPr/>
          </a:p>
          <a:p>
            <a:pPr indent="-342900" lvl="0" marL="342900" rtl="0" algn="l">
              <a:lnSpc>
                <a:spcPct val="100000"/>
              </a:lnSpc>
              <a:spcBef>
                <a:spcPts val="400"/>
              </a:spcBef>
              <a:spcAft>
                <a:spcPts val="0"/>
              </a:spcAft>
              <a:buClr>
                <a:schemeClr val="dk1"/>
              </a:buClr>
              <a:buSzPts val="2000"/>
              <a:buChar char="•"/>
            </a:pPr>
            <a:r>
              <a:rPr lang="en-US" sz="2000"/>
              <a:t>Whole team participates</a:t>
            </a:r>
            <a:endParaRPr/>
          </a:p>
          <a:p>
            <a:pPr indent="-342900" lvl="0" marL="342900" rtl="0" algn="l">
              <a:lnSpc>
                <a:spcPct val="100000"/>
              </a:lnSpc>
              <a:spcBef>
                <a:spcPts val="400"/>
              </a:spcBef>
              <a:spcAft>
                <a:spcPts val="0"/>
              </a:spcAft>
              <a:buClr>
                <a:schemeClr val="dk1"/>
              </a:buClr>
              <a:buSzPts val="2000"/>
              <a:buChar char="•"/>
            </a:pPr>
            <a:r>
              <a:rPr lang="en-US" sz="2000"/>
              <a:t>Invite the world</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493" name="Google Shape;493;p33"/>
          <p:cNvPicPr preferRelativeResize="0"/>
          <p:nvPr/>
        </p:nvPicPr>
        <p:blipFill rotWithShape="1">
          <a:blip r:embed="rId3">
            <a:alphaModFix/>
          </a:blip>
          <a:srcRect b="0" l="0" r="0" t="0"/>
          <a:stretch/>
        </p:blipFill>
        <p:spPr>
          <a:xfrm>
            <a:off x="6444208" y="2383775"/>
            <a:ext cx="2508250" cy="1674813"/>
          </a:xfrm>
          <a:prstGeom prst="rect">
            <a:avLst/>
          </a:prstGeom>
          <a:noFill/>
          <a:ln>
            <a:noFill/>
          </a:ln>
        </p:spPr>
      </p:pic>
      <p:pic>
        <p:nvPicPr>
          <p:cNvPr descr="brac.png" id="494" name="Google Shape;494;p33"/>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0" st="0"/>
                                            </p:txEl>
                                          </p:spTgt>
                                        </p:tgtEl>
                                        <p:attrNameLst>
                                          <p:attrName>style.visibility</p:attrName>
                                        </p:attrNameLst>
                                      </p:cBhvr>
                                      <p:to>
                                        <p:strVal val="visible"/>
                                      </p:to>
                                    </p:set>
                                    <p:animEffect filter="fade" transition="in">
                                      <p:cBhvr>
                                        <p:cTn dur="1000"/>
                                        <p:tgtEl>
                                          <p:spTgt spid="4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1" st="1"/>
                                            </p:txEl>
                                          </p:spTgt>
                                        </p:tgtEl>
                                        <p:attrNameLst>
                                          <p:attrName>style.visibility</p:attrName>
                                        </p:attrNameLst>
                                      </p:cBhvr>
                                      <p:to>
                                        <p:strVal val="visible"/>
                                      </p:to>
                                    </p:set>
                                    <p:animEffect filter="fade" transition="in">
                                      <p:cBhvr>
                                        <p:cTn dur="1000"/>
                                        <p:tgtEl>
                                          <p:spTgt spid="4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2" st="2"/>
                                            </p:txEl>
                                          </p:spTgt>
                                        </p:tgtEl>
                                        <p:attrNameLst>
                                          <p:attrName>style.visibility</p:attrName>
                                        </p:attrNameLst>
                                      </p:cBhvr>
                                      <p:to>
                                        <p:strVal val="visible"/>
                                      </p:to>
                                    </p:set>
                                    <p:animEffect filter="fade" transition="in">
                                      <p:cBhvr>
                                        <p:cTn dur="1000"/>
                                        <p:tgtEl>
                                          <p:spTgt spid="4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3" st="3"/>
                                            </p:txEl>
                                          </p:spTgt>
                                        </p:tgtEl>
                                        <p:attrNameLst>
                                          <p:attrName>style.visibility</p:attrName>
                                        </p:attrNameLst>
                                      </p:cBhvr>
                                      <p:to>
                                        <p:strVal val="visible"/>
                                      </p:to>
                                    </p:set>
                                    <p:animEffect filter="fade" transition="in">
                                      <p:cBhvr>
                                        <p:cTn dur="1000"/>
                                        <p:tgtEl>
                                          <p:spTgt spid="4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4" st="4"/>
                                            </p:txEl>
                                          </p:spTgt>
                                        </p:tgtEl>
                                        <p:attrNameLst>
                                          <p:attrName>style.visibility</p:attrName>
                                        </p:attrNameLst>
                                      </p:cBhvr>
                                      <p:to>
                                        <p:strVal val="visible"/>
                                      </p:to>
                                    </p:set>
                                    <p:animEffect filter="fade" transition="in">
                                      <p:cBhvr>
                                        <p:cTn dur="1000"/>
                                        <p:tgtEl>
                                          <p:spTgt spid="4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5" st="5"/>
                                            </p:txEl>
                                          </p:spTgt>
                                        </p:tgtEl>
                                        <p:attrNameLst>
                                          <p:attrName>style.visibility</p:attrName>
                                        </p:attrNameLst>
                                      </p:cBhvr>
                                      <p:to>
                                        <p:strVal val="visible"/>
                                      </p:to>
                                    </p:set>
                                    <p:animEffect filter="fade" transition="in">
                                      <p:cBhvr>
                                        <p:cTn dur="1000"/>
                                        <p:tgtEl>
                                          <p:spTgt spid="4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6" st="6"/>
                                            </p:txEl>
                                          </p:spTgt>
                                        </p:tgtEl>
                                        <p:attrNameLst>
                                          <p:attrName>style.visibility</p:attrName>
                                        </p:attrNameLst>
                                      </p:cBhvr>
                                      <p:to>
                                        <p:strVal val="visible"/>
                                      </p:to>
                                    </p:set>
                                    <p:animEffect filter="fade" transition="in">
                                      <p:cBhvr>
                                        <p:cTn dur="1000"/>
                                        <p:tgtEl>
                                          <p:spTgt spid="4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xEl>
                                              <p:pRg end="7" st="7"/>
                                            </p:txEl>
                                          </p:spTgt>
                                        </p:tgtEl>
                                        <p:attrNameLst>
                                          <p:attrName>style.visibility</p:attrName>
                                        </p:attrNameLst>
                                      </p:cBhvr>
                                      <p:to>
                                        <p:strVal val="visible"/>
                                      </p:to>
                                    </p:set>
                                    <p:animEffect filter="fade" transition="in">
                                      <p:cBhvr>
                                        <p:cTn dur="1000"/>
                                        <p:tgtEl>
                                          <p:spTgt spid="49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Ceremony – Sprint Retrospective</a:t>
            </a:r>
            <a:endParaRPr/>
          </a:p>
        </p:txBody>
      </p:sp>
      <p:pic>
        <p:nvPicPr>
          <p:cNvPr id="500" name="Google Shape;500;p34"/>
          <p:cNvPicPr preferRelativeResize="0"/>
          <p:nvPr>
            <p:ph idx="1" type="body"/>
          </p:nvPr>
        </p:nvPicPr>
        <p:blipFill rotWithShape="1">
          <a:blip r:embed="rId3">
            <a:alphaModFix/>
          </a:blip>
          <a:srcRect b="0" l="0" r="0" t="0"/>
          <a:stretch/>
        </p:blipFill>
        <p:spPr>
          <a:xfrm>
            <a:off x="5508104" y="2204864"/>
            <a:ext cx="3507730" cy="2376264"/>
          </a:xfrm>
          <a:prstGeom prst="rect">
            <a:avLst/>
          </a:prstGeom>
          <a:noFill/>
          <a:ln>
            <a:noFill/>
          </a:ln>
        </p:spPr>
      </p:pic>
      <p:sp>
        <p:nvSpPr>
          <p:cNvPr id="501" name="Google Shape;501;p34"/>
          <p:cNvSpPr txBox="1"/>
          <p:nvPr/>
        </p:nvSpPr>
        <p:spPr>
          <a:xfrm>
            <a:off x="457200" y="2708920"/>
            <a:ext cx="4906888" cy="2262981"/>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Identify the scopes of improvement for better result in next sprints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What worked well, what went wrong are also discussed</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descr="brac.png" id="502" name="Google Shape;502;p34"/>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
        <p:nvSpPr>
          <p:cNvPr id="503" name="Google Shape;503;p34"/>
          <p:cNvSpPr txBox="1"/>
          <p:nvPr/>
        </p:nvSpPr>
        <p:spPr>
          <a:xfrm>
            <a:off x="359700" y="5323325"/>
            <a:ext cx="6534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2 min read:</a:t>
            </a:r>
            <a:r>
              <a:rPr b="0" i="0" lang="en-US" sz="1400" u="none" cap="none" strike="noStrike">
                <a:solidFill>
                  <a:srgbClr val="000000"/>
                </a:solidFill>
                <a:latin typeface="Arial"/>
                <a:ea typeface="Arial"/>
                <a:cs typeface="Arial"/>
                <a:sym typeface="Arial"/>
              </a:rPr>
              <a:t> </a:t>
            </a:r>
            <a:r>
              <a:rPr b="0" i="0" lang="en-US" sz="1400" u="sng" cap="none" strike="noStrike">
                <a:solidFill>
                  <a:schemeClr val="hlink"/>
                </a:solidFill>
                <a:latin typeface="Arial"/>
                <a:ea typeface="Arial"/>
                <a:cs typeface="Arial"/>
                <a:sym typeface="Arial"/>
                <a:hlinkClick r:id="rId5"/>
              </a:rPr>
              <a:t>https://www.scrum.org/resources/what-is-a-sprint-retrospective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Summary</a:t>
            </a:r>
            <a:endParaRPr/>
          </a:p>
        </p:txBody>
      </p:sp>
      <p:sp>
        <p:nvSpPr>
          <p:cNvPr id="509" name="Google Shape;509;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We have learnt three types of agile principles used in the industry.</a:t>
            </a:r>
            <a:endParaRPr/>
          </a:p>
        </p:txBody>
      </p:sp>
      <p:pic>
        <p:nvPicPr>
          <p:cNvPr descr="1474612861_giphy (1).gif" id="510" name="Google Shape;510;p35"/>
          <p:cNvPicPr preferRelativeResize="0"/>
          <p:nvPr/>
        </p:nvPicPr>
        <p:blipFill rotWithShape="1">
          <a:blip r:embed="rId3">
            <a:alphaModFix/>
          </a:blip>
          <a:srcRect b="0" l="0" r="0" t="0"/>
          <a:stretch/>
        </p:blipFill>
        <p:spPr>
          <a:xfrm>
            <a:off x="2843808" y="2636912"/>
            <a:ext cx="3810000" cy="3657600"/>
          </a:xfrm>
          <a:prstGeom prst="rect">
            <a:avLst/>
          </a:prstGeom>
          <a:noFill/>
          <a:ln>
            <a:noFill/>
          </a:ln>
        </p:spPr>
      </p:pic>
      <p:pic>
        <p:nvPicPr>
          <p:cNvPr descr="brac.png" id="511" name="Google Shape;511;p35"/>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2020-07-06T16:06:01Z</dcterms:created>
  <dc:creator>afrin</dc:creator>
</cp:coreProperties>
</file>