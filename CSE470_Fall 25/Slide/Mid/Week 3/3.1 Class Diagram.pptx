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y="6858000" cx="12192000"/>
  <p:notesSz cx="6858000" cy="9144000"/>
  <p:embeddedFontLst>
    <p:embeddedFont>
      <p:font typeface="Tahoma"/>
      <p:regular r:id="rId35"/>
      <p:bold r:id="rId36"/>
    </p:embeddedFont>
    <p:embeddedFont>
      <p:font typeface="Lexend"/>
      <p:regular r:id="rId37"/>
      <p:bold r:id="rId38"/>
    </p:embeddedFont>
    <p:embeddedFont>
      <p:font typeface="Gill Sans"/>
      <p:regular r:id="rId39"/>
      <p:bold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4E41A91-DC5A-4CB9-8738-F65A5F49743D}">
  <a:tblStyle styleId="{C4E41A91-DC5A-4CB9-8738-F65A5F49743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GillSans-bold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Tahoma-regular.fntdata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Lexend-regular.fntdata"/><Relationship Id="rId14" Type="http://schemas.openxmlformats.org/officeDocument/2006/relationships/slide" Target="slides/slide9.xml"/><Relationship Id="rId36" Type="http://schemas.openxmlformats.org/officeDocument/2006/relationships/font" Target="fonts/Tahoma-bold.fntdata"/><Relationship Id="rId17" Type="http://schemas.openxmlformats.org/officeDocument/2006/relationships/slide" Target="slides/slide12.xml"/><Relationship Id="rId39" Type="http://schemas.openxmlformats.org/officeDocument/2006/relationships/font" Target="fonts/GillSans-regular.fntdata"/><Relationship Id="rId16" Type="http://schemas.openxmlformats.org/officeDocument/2006/relationships/slide" Target="slides/slide11.xml"/><Relationship Id="rId38" Type="http://schemas.openxmlformats.org/officeDocument/2006/relationships/font" Target="fonts/Lexend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8eaa84513d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8eaa84513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8eaa84513d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8eaa84513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8eaa84513d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8eaa84513d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8eaa84513d_0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8eaa84513d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8eaa84513d_0_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8eaa84513d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8eaa84513d_0_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8eaa84513d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8eaa84513d_0_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8eaa84513d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8eaa84513d_0_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8eaa84513d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8eaa84513d_0_6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8eaa84513d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8eaa84513d_0_7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8eaa84513d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8eaa84513d_0_7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8eaa84513d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8eaa84513d_0_9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8eaa84513d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8eaa84513d_0_1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8eaa84513d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8eaa84513d_0_1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8eaa84513d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8eaa84513d_0_1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8eaa84513d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8eaa84513d_0_1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8eaa84513d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8eaa84513d_0_1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8eaa84513d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8eaa84513d_0_2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8eaa84513d_0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8eaa84513d_0_20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38eaa84513d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8eaa84513d_0_2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8eaa84513d_0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8eaa84513d_0_27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8eaa84513d_0_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8eaa84513d_0_30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38eaa84513d_0_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8eaa84513d_0_3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38eaa84513d_0_3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8eaa84513d_0_16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38eaa84513d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8eaa84513d_0_38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38eaa84513d_0_3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8eaa84513d_0_39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38eaa84513d_0_3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8eaa84513d_0_40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38eaa84513d_0_4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8eaa84513d_0_40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38eaa84513d_0_4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7" name="Google Shape;17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6" name="Google Shape;26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5" name="Google Shape;35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5" name="Google Shape;45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1" name="Google Shape;51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3" name="Google Shape;53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7" name="Google Shape;57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5" name="Google Shape;65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2" name="Google Shape;72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8" name="Google Shape;78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9" name="Google Shape;79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2" name="Google Shape;82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8" name="Google Shape;88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9" name="Google Shape;89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2" name="Google Shape;92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1" name="Google Shape;101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7" name="Google Shape;10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0" name="Google Shape;110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700">
                <a:latin typeface="Arial"/>
                <a:ea typeface="Arial"/>
                <a:cs typeface="Arial"/>
                <a:sym typeface="Arial"/>
              </a:rPr>
              <a:t>CSE470: Software Engineering</a:t>
            </a:r>
            <a:endParaRPr/>
          </a:p>
        </p:txBody>
      </p:sp>
      <p:sp>
        <p:nvSpPr>
          <p:cNvPr id="118" name="Google Shape;118;p1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3500"/>
              <a:t>Class Diagram</a:t>
            </a:r>
            <a:endParaRPr sz="3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What is a Class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" name="Google Shape;124;p1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/>
              <a:t>A general template that we use to create specific instances or objects in the application domain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/>
              <a:t>Represents a kind of person, place, or thing about which </a:t>
            </a:r>
            <a:r>
              <a:rPr lang="en-US" u="sng"/>
              <a:t>the system will need to capture and store information</a:t>
            </a:r>
            <a:endParaRPr u="sng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/>
              <a:t>Abstractions that specify the attributes and behaviors of a set of objects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What is an Object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" name="Google Shape;130;p1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Font typeface="Calibri"/>
              <a:buChar char="●"/>
            </a:pPr>
            <a:r>
              <a:rPr lang="en-US"/>
              <a:t>Entities that encapsulate state(attributes) and behavior(methods)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Font typeface="Calibri"/>
              <a:buChar char="●"/>
            </a:pPr>
            <a:r>
              <a:rPr lang="en-US"/>
              <a:t>Each object has an identity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sz="2800"/>
              <a:t>It can be referred individually </a:t>
            </a:r>
            <a:endParaRPr sz="2800"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sz="2800"/>
              <a:t>It is distinguishable from other objects (separate memory location for each object)</a:t>
            </a:r>
            <a:endParaRPr sz="2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Potential Classes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" name="Google Shape;136;p16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•"/>
            </a:pPr>
            <a:r>
              <a:rPr lang="en-US" sz="1800"/>
              <a:t>External entities (e.g., other systems, devices, people) that produce or consume information to be used by a computer-based system.</a:t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•"/>
            </a:pPr>
            <a:r>
              <a:rPr lang="en-US" sz="1800"/>
              <a:t>Things (e.g., reports, displays, letters, signals) that are part of the information domain for the problem.</a:t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•"/>
            </a:pPr>
            <a:r>
              <a:rPr lang="en-US" sz="1800"/>
              <a:t>Occurrences or events (e.g., a property transfer or the completion of a series of robot movements) that occur within the context of system operation.</a:t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•"/>
            </a:pPr>
            <a:r>
              <a:rPr lang="en-US" sz="1800"/>
              <a:t>Roles (e.g., manager, engineer, salesperson) played by people who interact with the system.</a:t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•"/>
            </a:pPr>
            <a:r>
              <a:rPr lang="en-US" sz="1800"/>
              <a:t>Organizational units (e.g., division, group, team) that are relevant to an application.</a:t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•"/>
            </a:pPr>
            <a:r>
              <a:rPr lang="en-US" sz="1800"/>
              <a:t>Places (e.g., manufacturing floor or loading dock) that establish the context of the problem and the overall function of the system.</a:t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•"/>
            </a:pPr>
            <a:r>
              <a:rPr lang="en-US" sz="1800"/>
              <a:t>Structures (e.g., sensors, four-wheeled vehicles, or computers) that define a class of objects or related classes of objects.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Types of Classes during Analysis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Concrete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Class from application domain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Example:  Customer class and Employee class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Abstract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Useful abstractions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Example:  Person class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Classes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" name="Google Shape;148;p18"/>
          <p:cNvSpPr txBox="1"/>
          <p:nvPr>
            <p:ph idx="1" type="body"/>
          </p:nvPr>
        </p:nvSpPr>
        <p:spPr>
          <a:xfrm>
            <a:off x="838200" y="1825625"/>
            <a:ext cx="60591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class is a description of a set of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objects that share the same attributes,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operations, relationships, and semantics.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Graphically, a class is rendered as a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rectangle, usually including its name,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attributes, and operations in separate,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designated compartments.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grpSp>
        <p:nvGrpSpPr>
          <p:cNvPr id="149" name="Google Shape;149;p18"/>
          <p:cNvGrpSpPr/>
          <p:nvPr/>
        </p:nvGrpSpPr>
        <p:grpSpPr>
          <a:xfrm>
            <a:off x="8243400" y="2238375"/>
            <a:ext cx="1905000" cy="2381250"/>
            <a:chOff x="576" y="1236"/>
            <a:chExt cx="1200" cy="1500"/>
          </a:xfrm>
        </p:grpSpPr>
        <p:sp>
          <p:nvSpPr>
            <p:cNvPr id="150" name="Google Shape;150;p18"/>
            <p:cNvSpPr/>
            <p:nvPr/>
          </p:nvSpPr>
          <p:spPr>
            <a:xfrm>
              <a:off x="576" y="1236"/>
              <a:ext cx="1200" cy="3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ClassName</a:t>
              </a:r>
              <a:endParaRPr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" name="Google Shape;151;p18"/>
            <p:cNvSpPr/>
            <p:nvPr/>
          </p:nvSpPr>
          <p:spPr>
            <a:xfrm>
              <a:off x="576" y="1536"/>
              <a:ext cx="1200" cy="6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2800">
                  <a:latin typeface="Calibri"/>
                  <a:ea typeface="Calibri"/>
                  <a:cs typeface="Calibri"/>
                  <a:sym typeface="Calibri"/>
                </a:rPr>
                <a:t>A</a:t>
              </a:r>
              <a:r>
                <a:rPr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ttributes</a:t>
              </a:r>
              <a:endParaRPr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" name="Google Shape;152;p18"/>
            <p:cNvSpPr/>
            <p:nvPr/>
          </p:nvSpPr>
          <p:spPr>
            <a:xfrm>
              <a:off x="576" y="2136"/>
              <a:ext cx="1200" cy="6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2800">
                  <a:latin typeface="Calibri"/>
                  <a:ea typeface="Calibri"/>
                  <a:cs typeface="Calibri"/>
                  <a:sym typeface="Calibri"/>
                </a:rPr>
                <a:t>Operations</a:t>
              </a:r>
              <a:endParaRPr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Class Name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" name="Google Shape;158;p19"/>
          <p:cNvSpPr txBox="1"/>
          <p:nvPr>
            <p:ph idx="1" type="body"/>
          </p:nvPr>
        </p:nvSpPr>
        <p:spPr>
          <a:xfrm>
            <a:off x="838200" y="1825625"/>
            <a:ext cx="60591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name of the class is the only required tag in the graphical representation of a class.  It always appears in the top-most compartment.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9" name="Google Shape;159;p19"/>
          <p:cNvGrpSpPr/>
          <p:nvPr/>
        </p:nvGrpSpPr>
        <p:grpSpPr>
          <a:xfrm>
            <a:off x="8243400" y="2238375"/>
            <a:ext cx="1905000" cy="2381250"/>
            <a:chOff x="576" y="1236"/>
            <a:chExt cx="1200" cy="1500"/>
          </a:xfrm>
        </p:grpSpPr>
        <p:sp>
          <p:nvSpPr>
            <p:cNvPr id="160" name="Google Shape;160;p19"/>
            <p:cNvSpPr/>
            <p:nvPr/>
          </p:nvSpPr>
          <p:spPr>
            <a:xfrm>
              <a:off x="576" y="1236"/>
              <a:ext cx="1200" cy="300"/>
            </a:xfrm>
            <a:prstGeom prst="rect">
              <a:avLst/>
            </a:prstGeom>
            <a:noFill/>
            <a:ln cap="flat" cmpd="sng" w="762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ClassName</a:t>
              </a:r>
              <a:endParaRPr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" name="Google Shape;161;p19"/>
            <p:cNvSpPr/>
            <p:nvPr/>
          </p:nvSpPr>
          <p:spPr>
            <a:xfrm>
              <a:off x="576" y="1536"/>
              <a:ext cx="1200" cy="6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2800">
                  <a:latin typeface="Calibri"/>
                  <a:ea typeface="Calibri"/>
                  <a:cs typeface="Calibri"/>
                  <a:sym typeface="Calibri"/>
                </a:rPr>
                <a:t>A</a:t>
              </a:r>
              <a:r>
                <a:rPr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ttributes</a:t>
              </a:r>
              <a:endParaRPr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" name="Google Shape;162;p19"/>
            <p:cNvSpPr/>
            <p:nvPr/>
          </p:nvSpPr>
          <p:spPr>
            <a:xfrm>
              <a:off x="576" y="2136"/>
              <a:ext cx="1200" cy="6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2800">
                  <a:latin typeface="Calibri"/>
                  <a:ea typeface="Calibri"/>
                  <a:cs typeface="Calibri"/>
                  <a:sym typeface="Calibri"/>
                </a:rPr>
                <a:t>Operations</a:t>
              </a:r>
              <a:endParaRPr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Attributes in a Class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" name="Google Shape;168;p2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/>
              <a:t>Properties of the class about which we want to capture information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/>
              <a:t>Represents a piece of information that is relevant to the description of the class within the application domain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/>
              <a:t>Only add attributes that are primitive or atomic types like Boolean, string, char, integer, float, double, date etc.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/>
              <a:t>Derived attribute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•"/>
            </a:pPr>
            <a:r>
              <a:rPr lang="en-US"/>
              <a:t>Attributes that are calculated or derived from other attributes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•"/>
            </a:pPr>
            <a:r>
              <a:rPr lang="en-US"/>
              <a:t>Denoted by placing slash (/) before name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Class Attributes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1"/>
          <p:cNvSpPr txBox="1"/>
          <p:nvPr>
            <p:ph idx="1" type="body"/>
          </p:nvPr>
        </p:nvSpPr>
        <p:spPr>
          <a:xfrm>
            <a:off x="838200" y="1825625"/>
            <a:ext cx="60591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 attribute is a named property of a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class that describes the object being modeled.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 the class diagram, attributes appear in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second compartment just below the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name-compartment.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5" name="Google Shape;175;p21"/>
          <p:cNvGrpSpPr/>
          <p:nvPr/>
        </p:nvGrpSpPr>
        <p:grpSpPr>
          <a:xfrm>
            <a:off x="8312348" y="1563398"/>
            <a:ext cx="2530078" cy="3386300"/>
            <a:chOff x="313" y="945"/>
            <a:chExt cx="1500" cy="2133"/>
          </a:xfrm>
        </p:grpSpPr>
        <p:sp>
          <p:nvSpPr>
            <p:cNvPr id="176" name="Google Shape;176;p21"/>
            <p:cNvSpPr/>
            <p:nvPr/>
          </p:nvSpPr>
          <p:spPr>
            <a:xfrm>
              <a:off x="313" y="945"/>
              <a:ext cx="1500" cy="6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Gill Sans"/>
                  <a:ea typeface="Gill Sans"/>
                  <a:cs typeface="Gill Sans"/>
                  <a:sym typeface="Gill Sans"/>
                </a:rPr>
                <a:t>Person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21"/>
            <p:cNvSpPr/>
            <p:nvPr/>
          </p:nvSpPr>
          <p:spPr>
            <a:xfrm>
              <a:off x="313" y="1545"/>
              <a:ext cx="1500" cy="1200"/>
            </a:xfrm>
            <a:prstGeom prst="rect">
              <a:avLst/>
            </a:prstGeom>
            <a:noFill/>
            <a:ln cap="flat" cmpd="sng" w="762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Gill Sans"/>
                  <a:ea typeface="Gill Sans"/>
                  <a:cs typeface="Gill Sans"/>
                  <a:sym typeface="Gill Sans"/>
                </a:rPr>
                <a:t>name      : String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Gill Sans"/>
                  <a:ea typeface="Gill Sans"/>
                  <a:cs typeface="Gill Sans"/>
                  <a:sym typeface="Gill Sans"/>
                </a:rPr>
                <a:t>address   : Address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Gill Sans"/>
                  <a:ea typeface="Gill Sans"/>
                  <a:cs typeface="Gill Sans"/>
                  <a:sym typeface="Gill Sans"/>
                </a:rPr>
                <a:t>birthdate : Date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Gill Sans"/>
                  <a:ea typeface="Gill Sans"/>
                  <a:cs typeface="Gill Sans"/>
                  <a:sym typeface="Gill Sans"/>
                </a:rPr>
                <a:t>ssn          : Id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21"/>
            <p:cNvSpPr/>
            <p:nvPr/>
          </p:nvSpPr>
          <p:spPr>
            <a:xfrm>
              <a:off x="313" y="2778"/>
              <a:ext cx="1500" cy="3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Class Attributes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2"/>
          <p:cNvSpPr txBox="1"/>
          <p:nvPr>
            <p:ph idx="1" type="body"/>
          </p:nvPr>
        </p:nvSpPr>
        <p:spPr>
          <a:xfrm>
            <a:off x="838200" y="1825625"/>
            <a:ext cx="60591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/>
              <a:t>Attributes are usually listed in the form:</a:t>
            </a:r>
            <a:endParaRPr sz="2600"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Calibri"/>
              <a:buChar char="•"/>
            </a:pPr>
            <a:r>
              <a:rPr lang="en-US" sz="2600"/>
              <a:t>attributeName : Type</a:t>
            </a:r>
            <a:endParaRPr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/>
              <a:t>A derived attribute is one that can be</a:t>
            </a:r>
            <a:endParaRPr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/>
              <a:t>computed from other attributes, but</a:t>
            </a:r>
            <a:endParaRPr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/>
              <a:t>doesn’t actually exist. For example,</a:t>
            </a:r>
            <a:endParaRPr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/>
              <a:t>a Person’s age can be computed from </a:t>
            </a:r>
            <a:endParaRPr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/>
              <a:t>his birth date. </a:t>
            </a:r>
            <a:endParaRPr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/>
              <a:t>A derived attribute is designated by a preceding ‘/’ as in:</a:t>
            </a:r>
            <a:endParaRPr sz="2600"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Calibri"/>
              <a:buChar char="•"/>
            </a:pPr>
            <a:r>
              <a:rPr lang="en-US" sz="2600"/>
              <a:t>/ age : Date</a:t>
            </a:r>
            <a:endParaRPr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5" name="Google Shape;185;p22"/>
          <p:cNvGrpSpPr/>
          <p:nvPr/>
        </p:nvGrpSpPr>
        <p:grpSpPr>
          <a:xfrm>
            <a:off x="8312348" y="1563398"/>
            <a:ext cx="2530078" cy="3386300"/>
            <a:chOff x="313" y="945"/>
            <a:chExt cx="1500" cy="2133"/>
          </a:xfrm>
        </p:grpSpPr>
        <p:sp>
          <p:nvSpPr>
            <p:cNvPr id="186" name="Google Shape;186;p22"/>
            <p:cNvSpPr/>
            <p:nvPr/>
          </p:nvSpPr>
          <p:spPr>
            <a:xfrm>
              <a:off x="313" y="945"/>
              <a:ext cx="1500" cy="6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0" lang="en-US" sz="2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Person</a:t>
              </a:r>
              <a:endParaRPr i="0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" name="Google Shape;187;p22"/>
            <p:cNvSpPr/>
            <p:nvPr/>
          </p:nvSpPr>
          <p:spPr>
            <a:xfrm>
              <a:off x="313" y="1545"/>
              <a:ext cx="1500" cy="1200"/>
            </a:xfrm>
            <a:prstGeom prst="rect">
              <a:avLst/>
            </a:prstGeom>
            <a:noFill/>
            <a:ln cap="flat" cmpd="sng" w="762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name      : String</a:t>
              </a:r>
              <a:endParaRPr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address   : Address</a:t>
              </a:r>
              <a:endParaRPr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birthdate : Date</a:t>
              </a:r>
              <a:endParaRPr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/ age        : Date</a:t>
              </a:r>
              <a:endParaRPr sz="2000"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ssn          : Id</a:t>
              </a:r>
              <a:endParaRPr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p22"/>
            <p:cNvSpPr/>
            <p:nvPr/>
          </p:nvSpPr>
          <p:spPr>
            <a:xfrm>
              <a:off x="313" y="2778"/>
              <a:ext cx="1500" cy="3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Class </a:t>
            </a: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Operations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3"/>
          <p:cNvSpPr txBox="1"/>
          <p:nvPr>
            <p:ph idx="1" type="body"/>
          </p:nvPr>
        </p:nvSpPr>
        <p:spPr>
          <a:xfrm>
            <a:off x="838200" y="1825625"/>
            <a:ext cx="57735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/>
              <a:t>Represents the actions or functions that a class can perform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/>
              <a:t>Describes the actions to which the instances of the class will be capable of responding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/>
              <a:t>Can be classified as a constructor, query, or update operation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/>
              <a:t>Operations describe the class behavior and appear in the third compartment.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5" name="Google Shape;195;p23"/>
          <p:cNvGrpSpPr/>
          <p:nvPr/>
        </p:nvGrpSpPr>
        <p:grpSpPr>
          <a:xfrm>
            <a:off x="8312348" y="1563398"/>
            <a:ext cx="2530078" cy="3862554"/>
            <a:chOff x="313" y="945"/>
            <a:chExt cx="1500" cy="2433"/>
          </a:xfrm>
        </p:grpSpPr>
        <p:sp>
          <p:nvSpPr>
            <p:cNvPr id="196" name="Google Shape;196;p23"/>
            <p:cNvSpPr/>
            <p:nvPr/>
          </p:nvSpPr>
          <p:spPr>
            <a:xfrm>
              <a:off x="313" y="945"/>
              <a:ext cx="1500" cy="6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0" lang="en-US" sz="2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Person</a:t>
              </a:r>
              <a:endParaRPr i="0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" name="Google Shape;197;p23"/>
            <p:cNvSpPr/>
            <p:nvPr/>
          </p:nvSpPr>
          <p:spPr>
            <a:xfrm>
              <a:off x="313" y="1545"/>
              <a:ext cx="1500" cy="12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name      : String</a:t>
              </a:r>
              <a:endParaRPr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address   : Address</a:t>
              </a:r>
              <a:endParaRPr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birthdate : Date</a:t>
              </a:r>
              <a:endParaRPr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/ age        : Date</a:t>
              </a:r>
              <a:endParaRPr sz="2000"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ssn          : Id</a:t>
              </a:r>
              <a:endParaRPr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" name="Google Shape;198;p23"/>
            <p:cNvSpPr/>
            <p:nvPr/>
          </p:nvSpPr>
          <p:spPr>
            <a:xfrm>
              <a:off x="313" y="2778"/>
              <a:ext cx="1500" cy="600"/>
            </a:xfrm>
            <a:prstGeom prst="rect">
              <a:avLst/>
            </a:prstGeom>
            <a:solidFill>
              <a:srgbClr val="FFFFFF"/>
            </a:solidFill>
            <a:ln cap="flat" cmpd="sng" w="762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>
                  <a:latin typeface="Gill Sans"/>
                  <a:ea typeface="Gill Sans"/>
                  <a:cs typeface="Gill Sans"/>
                  <a:sym typeface="Gill Sans"/>
                </a:rPr>
                <a:t>eat()</a:t>
              </a:r>
              <a:endParaRPr sz="1800">
                <a:latin typeface="Gill Sans"/>
                <a:ea typeface="Gill Sans"/>
                <a:cs typeface="Gill Sans"/>
                <a:sym typeface="Gill San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>
                  <a:latin typeface="Gill Sans"/>
                  <a:ea typeface="Gill Sans"/>
                  <a:cs typeface="Gill Sans"/>
                  <a:sym typeface="Gill Sans"/>
                </a:rPr>
                <a:t>sleep()</a:t>
              </a:r>
              <a:endParaRPr sz="1800"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Class Operations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4"/>
          <p:cNvSpPr txBox="1"/>
          <p:nvPr>
            <p:ph idx="1" type="body"/>
          </p:nvPr>
        </p:nvSpPr>
        <p:spPr>
          <a:xfrm>
            <a:off x="838200" y="1825625"/>
            <a:ext cx="10515600" cy="2103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You can specify an operation by stating its signature: listing the name, type, and default value of all parameters, and, in the case of functions, a return type.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5" name="Google Shape;205;p24"/>
          <p:cNvGrpSpPr/>
          <p:nvPr/>
        </p:nvGrpSpPr>
        <p:grpSpPr>
          <a:xfrm>
            <a:off x="1990075" y="3587476"/>
            <a:ext cx="8211845" cy="1901937"/>
            <a:chOff x="288" y="1370"/>
            <a:chExt cx="4800" cy="1198"/>
          </a:xfrm>
        </p:grpSpPr>
        <p:sp>
          <p:nvSpPr>
            <p:cNvPr id="206" name="Google Shape;206;p24"/>
            <p:cNvSpPr/>
            <p:nvPr/>
          </p:nvSpPr>
          <p:spPr>
            <a:xfrm>
              <a:off x="288" y="1370"/>
              <a:ext cx="4800" cy="3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Gill Sans"/>
                  <a:ea typeface="Gill Sans"/>
                  <a:cs typeface="Gill Sans"/>
                  <a:sym typeface="Gill Sans"/>
                </a:rPr>
                <a:t>PhoneBook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24"/>
            <p:cNvSpPr/>
            <p:nvPr/>
          </p:nvSpPr>
          <p:spPr>
            <a:xfrm>
              <a:off x="288" y="1670"/>
              <a:ext cx="4800" cy="3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08" name="Google Shape;208;p24"/>
            <p:cNvSpPr/>
            <p:nvPr/>
          </p:nvSpPr>
          <p:spPr>
            <a:xfrm>
              <a:off x="288" y="1968"/>
              <a:ext cx="4800" cy="600"/>
            </a:xfrm>
            <a:prstGeom prst="rect">
              <a:avLst/>
            </a:prstGeom>
            <a:noFill/>
            <a:ln cap="flat" cmpd="sng" w="762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Gill Sans"/>
                  <a:ea typeface="Gill Sans"/>
                  <a:cs typeface="Gill Sans"/>
                  <a:sym typeface="Gill Sans"/>
                </a:rPr>
                <a:t>newEntry (n : Name, a : Address, p : PhoneNumber, d : Description)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Gill Sans"/>
                  <a:ea typeface="Gill Sans"/>
                  <a:cs typeface="Gill Sans"/>
                  <a:sym typeface="Gill Sans"/>
                </a:rPr>
                <a:t>getPhone ( n : Name, a : Address) : PhoneNumber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Drawing Classes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14" name="Google Shape;214;p25"/>
          <p:cNvGrpSpPr/>
          <p:nvPr/>
        </p:nvGrpSpPr>
        <p:grpSpPr>
          <a:xfrm>
            <a:off x="7565492" y="2929047"/>
            <a:ext cx="2081433" cy="2747900"/>
            <a:chOff x="3936" y="1296"/>
            <a:chExt cx="1500" cy="2400"/>
          </a:xfrm>
        </p:grpSpPr>
        <p:sp>
          <p:nvSpPr>
            <p:cNvPr id="215" name="Google Shape;215;p25"/>
            <p:cNvSpPr/>
            <p:nvPr/>
          </p:nvSpPr>
          <p:spPr>
            <a:xfrm>
              <a:off x="3936" y="1296"/>
              <a:ext cx="1500" cy="300"/>
            </a:xfrm>
            <a:prstGeom prst="rect">
              <a:avLst/>
            </a:prstGeom>
            <a:noFill/>
            <a:ln cap="flat" cmpd="sng" w="83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9950" lIns="79925" spcFirstLastPara="1" rIns="79925" wrap="square" tIns="399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73"/>
                <a:buFont typeface="Arial"/>
                <a:buNone/>
              </a:pPr>
              <a:r>
                <a:rPr b="0" i="0" lang="en-US" sz="1573" u="none" cap="none" strike="noStrike">
                  <a:solidFill>
                    <a:srgbClr val="000000"/>
                  </a:solidFill>
                  <a:latin typeface="Gill Sans"/>
                  <a:ea typeface="Gill Sans"/>
                  <a:cs typeface="Gill Sans"/>
                  <a:sym typeface="Gill Sans"/>
                </a:rPr>
                <a:t>Person</a:t>
              </a:r>
              <a:endParaRPr b="0" i="0" sz="12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25"/>
            <p:cNvSpPr/>
            <p:nvPr/>
          </p:nvSpPr>
          <p:spPr>
            <a:xfrm>
              <a:off x="3936" y="1596"/>
              <a:ext cx="1500" cy="900"/>
            </a:xfrm>
            <a:prstGeom prst="rect">
              <a:avLst/>
            </a:prstGeom>
            <a:noFill/>
            <a:ln cap="flat" cmpd="sng" w="83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9950" lIns="79925" spcFirstLastPara="1" rIns="79925" wrap="square" tIns="39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73"/>
                <a:buFont typeface="Arial"/>
                <a:buNone/>
              </a:pPr>
              <a:r>
                <a:rPr b="0" i="0" lang="en-US" sz="1573" u="none" cap="none" strike="noStrike">
                  <a:solidFill>
                    <a:srgbClr val="000000"/>
                  </a:solidFill>
                  <a:latin typeface="Gill Sans"/>
                  <a:ea typeface="Gill Sans"/>
                  <a:cs typeface="Gill Sans"/>
                  <a:sym typeface="Gill Sans"/>
                </a:rPr>
                <a:t>name      : String</a:t>
              </a:r>
              <a:endParaRPr b="0" i="0" sz="12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73"/>
                <a:buFont typeface="Arial"/>
                <a:buNone/>
              </a:pPr>
              <a:r>
                <a:rPr b="0" i="0" lang="en-US" sz="1573" u="none" cap="none" strike="noStrike">
                  <a:solidFill>
                    <a:srgbClr val="000000"/>
                  </a:solidFill>
                  <a:latin typeface="Gill Sans"/>
                  <a:ea typeface="Gill Sans"/>
                  <a:cs typeface="Gill Sans"/>
                  <a:sym typeface="Gill Sans"/>
                </a:rPr>
                <a:t>birthdate : Date</a:t>
              </a:r>
              <a:endParaRPr b="0" i="0" sz="12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73"/>
                <a:buFont typeface="Arial"/>
                <a:buNone/>
              </a:pPr>
              <a:r>
                <a:rPr b="0" i="0" lang="en-US" sz="1573" u="none" cap="none" strike="noStrike">
                  <a:solidFill>
                    <a:srgbClr val="000000"/>
                  </a:solidFill>
                  <a:latin typeface="Gill Sans"/>
                  <a:ea typeface="Gill Sans"/>
                  <a:cs typeface="Gill Sans"/>
                  <a:sym typeface="Gill Sans"/>
                </a:rPr>
                <a:t>ssn          : Id</a:t>
              </a:r>
              <a:endParaRPr b="0" i="0" sz="12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25"/>
            <p:cNvSpPr/>
            <p:nvPr/>
          </p:nvSpPr>
          <p:spPr>
            <a:xfrm>
              <a:off x="3936" y="2496"/>
              <a:ext cx="1500" cy="1200"/>
            </a:xfrm>
            <a:prstGeom prst="rect">
              <a:avLst/>
            </a:prstGeom>
            <a:noFill/>
            <a:ln cap="flat" cmpd="sng" w="83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9950" lIns="79925" spcFirstLastPara="1" rIns="79925" wrap="square" tIns="399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73"/>
                <a:buFont typeface="Arial"/>
                <a:buNone/>
              </a:pPr>
              <a:r>
                <a:rPr b="0" i="0" lang="en-US" sz="1573" u="none" cap="none" strike="noStrike">
                  <a:solidFill>
                    <a:srgbClr val="000000"/>
                  </a:solidFill>
                  <a:latin typeface="Gill Sans"/>
                  <a:ea typeface="Gill Sans"/>
                  <a:cs typeface="Gill Sans"/>
                  <a:sym typeface="Gill Sans"/>
                </a:rPr>
                <a:t>eat()</a:t>
              </a:r>
              <a:endParaRPr b="0" i="0" sz="12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73"/>
                <a:buFont typeface="Arial"/>
                <a:buNone/>
              </a:pPr>
              <a:r>
                <a:rPr b="0" i="0" lang="en-US" sz="1573" u="none" cap="none" strike="noStrike">
                  <a:solidFill>
                    <a:srgbClr val="000000"/>
                  </a:solidFill>
                  <a:latin typeface="Gill Sans"/>
                  <a:ea typeface="Gill Sans"/>
                  <a:cs typeface="Gill Sans"/>
                  <a:sym typeface="Gill Sans"/>
                </a:rPr>
                <a:t>sleep()</a:t>
              </a:r>
              <a:endParaRPr b="0" i="0" sz="12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73"/>
                <a:buFont typeface="Arial"/>
                <a:buNone/>
              </a:pPr>
              <a:r>
                <a:rPr b="0" i="0" lang="en-US" sz="1573" u="none" cap="none" strike="noStrike">
                  <a:solidFill>
                    <a:srgbClr val="000000"/>
                  </a:solidFill>
                  <a:latin typeface="Gill Sans"/>
                  <a:ea typeface="Gill Sans"/>
                  <a:cs typeface="Gill Sans"/>
                  <a:sym typeface="Gill Sans"/>
                </a:rPr>
                <a:t>work()</a:t>
              </a:r>
              <a:endParaRPr b="0" i="0" sz="12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73"/>
                <a:buFont typeface="Arial"/>
                <a:buNone/>
              </a:pPr>
              <a:r>
                <a:rPr b="0" i="0" lang="en-US" sz="1573" u="none" cap="none" strike="noStrike">
                  <a:solidFill>
                    <a:srgbClr val="000000"/>
                  </a:solidFill>
                  <a:latin typeface="Gill Sans"/>
                  <a:ea typeface="Gill Sans"/>
                  <a:cs typeface="Gill Sans"/>
                  <a:sym typeface="Gill Sans"/>
                </a:rPr>
                <a:t>play()</a:t>
              </a:r>
              <a:endParaRPr b="0" i="0" sz="12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8" name="Google Shape;218;p25"/>
          <p:cNvSpPr/>
          <p:nvPr/>
        </p:nvSpPr>
        <p:spPr>
          <a:xfrm>
            <a:off x="2545075" y="2902048"/>
            <a:ext cx="2131500" cy="666000"/>
          </a:xfrm>
          <a:prstGeom prst="rect">
            <a:avLst/>
          </a:prstGeom>
          <a:noFill/>
          <a:ln cap="flat" cmpd="sng" w="83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9950" lIns="79925" spcFirstLastPara="1" rIns="79925" wrap="square" tIns="399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3"/>
              <a:buFont typeface="Arial"/>
              <a:buNone/>
            </a:pPr>
            <a:r>
              <a:rPr b="0" i="0" lang="en-US" sz="1573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Person</a:t>
            </a:r>
            <a:endParaRPr b="0" i="0" sz="122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9" name="Google Shape;219;p25"/>
          <p:cNvGrpSpPr/>
          <p:nvPr/>
        </p:nvGrpSpPr>
        <p:grpSpPr>
          <a:xfrm>
            <a:off x="2570052" y="3928129"/>
            <a:ext cx="2081433" cy="2081420"/>
            <a:chOff x="288" y="2400"/>
            <a:chExt cx="1500" cy="1500"/>
          </a:xfrm>
        </p:grpSpPr>
        <p:sp>
          <p:nvSpPr>
            <p:cNvPr id="220" name="Google Shape;220;p25"/>
            <p:cNvSpPr/>
            <p:nvPr/>
          </p:nvSpPr>
          <p:spPr>
            <a:xfrm>
              <a:off x="288" y="2400"/>
              <a:ext cx="1500" cy="600"/>
            </a:xfrm>
            <a:prstGeom prst="rect">
              <a:avLst/>
            </a:prstGeom>
            <a:noFill/>
            <a:ln cap="flat" cmpd="sng" w="83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9950" lIns="79925" spcFirstLastPara="1" rIns="79925" wrap="square" tIns="399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73"/>
                <a:buFont typeface="Arial"/>
                <a:buNone/>
              </a:pPr>
              <a:r>
                <a:rPr b="0" i="0" lang="en-US" sz="1573" u="none" cap="none" strike="noStrike">
                  <a:solidFill>
                    <a:srgbClr val="000000"/>
                  </a:solidFill>
                  <a:latin typeface="Gill Sans"/>
                  <a:ea typeface="Gill Sans"/>
                  <a:cs typeface="Gill Sans"/>
                  <a:sym typeface="Gill Sans"/>
                </a:rPr>
                <a:t>Person</a:t>
              </a:r>
              <a:endParaRPr b="0" i="0" sz="12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25"/>
            <p:cNvSpPr/>
            <p:nvPr/>
          </p:nvSpPr>
          <p:spPr>
            <a:xfrm>
              <a:off x="288" y="3000"/>
              <a:ext cx="1500" cy="600"/>
            </a:xfrm>
            <a:prstGeom prst="rect">
              <a:avLst/>
            </a:prstGeom>
            <a:noFill/>
            <a:ln cap="flat" cmpd="sng" w="83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9950" lIns="79925" spcFirstLastPara="1" rIns="79925" wrap="square" tIns="399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73"/>
                <a:buFont typeface="Arial"/>
                <a:buNone/>
              </a:pPr>
              <a:r>
                <a:rPr b="0" i="0" lang="en-US" sz="1573" u="none" cap="none" strike="noStrike">
                  <a:solidFill>
                    <a:srgbClr val="000000"/>
                  </a:solidFill>
                  <a:latin typeface="Gill Sans"/>
                  <a:ea typeface="Gill Sans"/>
                  <a:cs typeface="Gill Sans"/>
                  <a:sym typeface="Gill Sans"/>
                </a:rPr>
                <a:t>name</a:t>
              </a:r>
              <a:endParaRPr b="0" i="0" sz="12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73"/>
                <a:buFont typeface="Arial"/>
                <a:buNone/>
              </a:pPr>
              <a:r>
                <a:rPr b="0" i="0" lang="en-US" sz="1573" u="none" cap="none" strike="noStrike">
                  <a:solidFill>
                    <a:srgbClr val="000000"/>
                  </a:solidFill>
                  <a:latin typeface="Gill Sans"/>
                  <a:ea typeface="Gill Sans"/>
                  <a:cs typeface="Gill Sans"/>
                  <a:sym typeface="Gill Sans"/>
                </a:rPr>
                <a:t>address</a:t>
              </a:r>
              <a:endParaRPr b="0" i="0" sz="12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73"/>
                <a:buFont typeface="Arial"/>
                <a:buNone/>
              </a:pPr>
              <a:r>
                <a:rPr b="0" i="0" lang="en-US" sz="1573" u="none" cap="none" strike="noStrike">
                  <a:solidFill>
                    <a:srgbClr val="000000"/>
                  </a:solidFill>
                  <a:latin typeface="Gill Sans"/>
                  <a:ea typeface="Gill Sans"/>
                  <a:cs typeface="Gill Sans"/>
                  <a:sym typeface="Gill Sans"/>
                </a:rPr>
                <a:t>birthdate</a:t>
              </a:r>
              <a:endParaRPr b="0" i="0" sz="12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25"/>
            <p:cNvSpPr/>
            <p:nvPr/>
          </p:nvSpPr>
          <p:spPr>
            <a:xfrm>
              <a:off x="288" y="3600"/>
              <a:ext cx="1500" cy="300"/>
            </a:xfrm>
            <a:prstGeom prst="rect">
              <a:avLst/>
            </a:prstGeom>
            <a:noFill/>
            <a:ln cap="flat" cmpd="sng" w="83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9950" lIns="79925" spcFirstLastPara="1" rIns="79925" wrap="square" tIns="39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73"/>
                <a:buFont typeface="Arial"/>
                <a:buNone/>
              </a:pPr>
              <a:r>
                <a:t/>
              </a:r>
              <a:endParaRPr b="0" i="0" sz="1573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grpSp>
        <p:nvGrpSpPr>
          <p:cNvPr id="223" name="Google Shape;223;p25"/>
          <p:cNvGrpSpPr/>
          <p:nvPr/>
        </p:nvGrpSpPr>
        <p:grpSpPr>
          <a:xfrm>
            <a:off x="5101075" y="4660789"/>
            <a:ext cx="2081433" cy="1648485"/>
            <a:chOff x="2208" y="2592"/>
            <a:chExt cx="1500" cy="1188"/>
          </a:xfrm>
        </p:grpSpPr>
        <p:sp>
          <p:nvSpPr>
            <p:cNvPr id="224" name="Google Shape;224;p25"/>
            <p:cNvSpPr/>
            <p:nvPr/>
          </p:nvSpPr>
          <p:spPr>
            <a:xfrm>
              <a:off x="2208" y="2592"/>
              <a:ext cx="1500" cy="300"/>
            </a:xfrm>
            <a:prstGeom prst="rect">
              <a:avLst/>
            </a:prstGeom>
            <a:noFill/>
            <a:ln cap="flat" cmpd="sng" w="83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9950" lIns="79925" spcFirstLastPara="1" rIns="79925" wrap="square" tIns="399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73"/>
                <a:buFont typeface="Arial"/>
                <a:buNone/>
              </a:pPr>
              <a:r>
                <a:rPr b="0" i="0" lang="en-US" sz="1573" u="none" cap="none" strike="noStrike">
                  <a:solidFill>
                    <a:srgbClr val="000000"/>
                  </a:solidFill>
                  <a:latin typeface="Gill Sans"/>
                  <a:ea typeface="Gill Sans"/>
                  <a:cs typeface="Gill Sans"/>
                  <a:sym typeface="Gill Sans"/>
                </a:rPr>
                <a:t>Person</a:t>
              </a:r>
              <a:endParaRPr b="0" i="0" sz="12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25"/>
            <p:cNvSpPr/>
            <p:nvPr/>
          </p:nvSpPr>
          <p:spPr>
            <a:xfrm>
              <a:off x="2208" y="2880"/>
              <a:ext cx="1500" cy="300"/>
            </a:xfrm>
            <a:prstGeom prst="rect">
              <a:avLst/>
            </a:prstGeom>
            <a:noFill/>
            <a:ln cap="flat" cmpd="sng" w="83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9950" lIns="79925" spcFirstLastPara="1" rIns="79925" wrap="square" tIns="399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73"/>
                <a:buFont typeface="Arial"/>
                <a:buNone/>
              </a:pPr>
              <a:r>
                <a:t/>
              </a:r>
              <a:endParaRPr b="0" i="0" sz="1573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26" name="Google Shape;226;p25"/>
            <p:cNvSpPr/>
            <p:nvPr/>
          </p:nvSpPr>
          <p:spPr>
            <a:xfrm>
              <a:off x="2208" y="3180"/>
              <a:ext cx="1500" cy="600"/>
            </a:xfrm>
            <a:prstGeom prst="rect">
              <a:avLst/>
            </a:prstGeom>
            <a:noFill/>
            <a:ln cap="flat" cmpd="sng" w="83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9950" lIns="79925" spcFirstLastPara="1" rIns="79925" wrap="square" tIns="399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73"/>
                <a:buFont typeface="Arial"/>
                <a:buNone/>
              </a:pPr>
              <a:r>
                <a:rPr b="0" i="0" lang="en-US" sz="1573" u="none" cap="none" strike="noStrike">
                  <a:solidFill>
                    <a:srgbClr val="000000"/>
                  </a:solidFill>
                  <a:latin typeface="Gill Sans"/>
                  <a:ea typeface="Gill Sans"/>
                  <a:cs typeface="Gill Sans"/>
                  <a:sym typeface="Gill Sans"/>
                </a:rPr>
                <a:t>eat ()</a:t>
              </a:r>
              <a:endParaRPr b="0" i="0" sz="1573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73"/>
                <a:buFont typeface="Arial"/>
                <a:buNone/>
              </a:pPr>
              <a:r>
                <a:rPr b="0" i="0" lang="en-US" sz="1573" u="none" cap="none" strike="noStrike">
                  <a:solidFill>
                    <a:srgbClr val="000000"/>
                  </a:solidFill>
                  <a:latin typeface="Gill Sans"/>
                  <a:ea typeface="Gill Sans"/>
                  <a:cs typeface="Gill Sans"/>
                  <a:sym typeface="Gill Sans"/>
                </a:rPr>
                <a:t>play ()</a:t>
              </a:r>
              <a:endParaRPr b="0" i="0" sz="1573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grpSp>
        <p:nvGrpSpPr>
          <p:cNvPr id="227" name="Google Shape;227;p25"/>
          <p:cNvGrpSpPr/>
          <p:nvPr/>
        </p:nvGrpSpPr>
        <p:grpSpPr>
          <a:xfrm>
            <a:off x="5111466" y="2968161"/>
            <a:ext cx="2081444" cy="1258687"/>
            <a:chOff x="2160" y="1505"/>
            <a:chExt cx="1500" cy="907"/>
          </a:xfrm>
        </p:grpSpPr>
        <p:sp>
          <p:nvSpPr>
            <p:cNvPr id="228" name="Google Shape;228;p25"/>
            <p:cNvSpPr/>
            <p:nvPr/>
          </p:nvSpPr>
          <p:spPr>
            <a:xfrm>
              <a:off x="2160" y="1505"/>
              <a:ext cx="1500" cy="300"/>
            </a:xfrm>
            <a:prstGeom prst="rect">
              <a:avLst/>
            </a:prstGeom>
            <a:noFill/>
            <a:ln cap="flat" cmpd="sng" w="83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9950" lIns="79925" spcFirstLastPara="1" rIns="79925" wrap="square" tIns="399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73"/>
                <a:buFont typeface="Arial"/>
                <a:buNone/>
              </a:pPr>
              <a:r>
                <a:rPr b="0" i="0" lang="en-US" sz="1573" u="none" cap="none" strike="noStrike">
                  <a:solidFill>
                    <a:srgbClr val="000000"/>
                  </a:solidFill>
                  <a:latin typeface="Gill Sans"/>
                  <a:ea typeface="Gill Sans"/>
                  <a:cs typeface="Gill Sans"/>
                  <a:sym typeface="Gill Sans"/>
                </a:rPr>
                <a:t>Person</a:t>
              </a:r>
              <a:endParaRPr b="0" i="0" sz="12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25"/>
            <p:cNvSpPr/>
            <p:nvPr/>
          </p:nvSpPr>
          <p:spPr>
            <a:xfrm>
              <a:off x="2160" y="1824"/>
              <a:ext cx="1500" cy="300"/>
            </a:xfrm>
            <a:prstGeom prst="rect">
              <a:avLst/>
            </a:prstGeom>
            <a:noFill/>
            <a:ln cap="flat" cmpd="sng" w="83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9950" lIns="79925" spcFirstLastPara="1" rIns="79925" wrap="square" tIns="39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73"/>
                <a:buFont typeface="Arial"/>
                <a:buNone/>
              </a:pPr>
              <a:r>
                <a:t/>
              </a:r>
              <a:endParaRPr b="0" i="0" sz="1573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30" name="Google Shape;230;p25"/>
            <p:cNvSpPr/>
            <p:nvPr/>
          </p:nvSpPr>
          <p:spPr>
            <a:xfrm>
              <a:off x="2160" y="2112"/>
              <a:ext cx="1500" cy="300"/>
            </a:xfrm>
            <a:prstGeom prst="rect">
              <a:avLst/>
            </a:prstGeom>
            <a:noFill/>
            <a:ln cap="flat" cmpd="sng" w="83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9950" lIns="79925" spcFirstLastPara="1" rIns="79925" wrap="square" tIns="39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73"/>
                <a:buFont typeface="Arial"/>
                <a:buNone/>
              </a:pPr>
              <a:r>
                <a:t/>
              </a:r>
              <a:endParaRPr b="0" i="0" sz="1573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231" name="Google Shape;231;p25"/>
          <p:cNvSpPr txBox="1"/>
          <p:nvPr/>
        </p:nvSpPr>
        <p:spPr>
          <a:xfrm>
            <a:off x="838200" y="1690825"/>
            <a:ext cx="10515600" cy="10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drawing a class, you need not show attributes and operation in every diagram.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Visibility of Attributes and Operations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" name="Google Shape;237;p26"/>
          <p:cNvSpPr txBox="1"/>
          <p:nvPr>
            <p:ph idx="1" type="body"/>
          </p:nvPr>
        </p:nvSpPr>
        <p:spPr>
          <a:xfrm>
            <a:off x="838200" y="1825625"/>
            <a:ext cx="10515600" cy="1199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You can specify an operation by stating its signature: listing the name, type, and default value of all parameters, and, in the case of functions, a return type.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38" name="Google Shape;238;p26"/>
          <p:cNvGraphicFramePr/>
          <p:nvPr/>
        </p:nvGraphicFramePr>
        <p:xfrm>
          <a:off x="952500" y="3274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{C4E41A91-DC5A-4CB9-8738-F65A5F49743D}</a:tableStyleId>
              </a:tblPr>
              <a:tblGrid>
                <a:gridCol w="1625800"/>
                <a:gridCol w="1734225"/>
                <a:gridCol w="69269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/>
                        <a:t>Visibility</a:t>
                      </a:r>
                      <a:endParaRPr b="1" sz="2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/>
                        <a:t>Symbol</a:t>
                      </a:r>
                      <a:endParaRPr b="1" sz="2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/>
                        <a:t>Accessible to</a:t>
                      </a:r>
                      <a:endParaRPr b="1" sz="21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/>
                        <a:t>Public</a:t>
                      </a:r>
                      <a:endParaRPr sz="2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/>
                        <a:t>+</a:t>
                      </a:r>
                      <a:endParaRPr sz="2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All objects within your system</a:t>
                      </a:r>
                      <a:endParaRPr sz="2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/>
                        <a:t>Protected</a:t>
                      </a:r>
                      <a:endParaRPr sz="2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/>
                        <a:t>#</a:t>
                      </a:r>
                      <a:endParaRPr sz="2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Instances of the implementing class and its subclasses</a:t>
                      </a:r>
                      <a:endParaRPr sz="2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/>
                        <a:t>Private</a:t>
                      </a:r>
                      <a:endParaRPr sz="2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/>
                        <a:t>-</a:t>
                      </a:r>
                      <a:endParaRPr sz="2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Instances of the </a:t>
                      </a:r>
                      <a:r>
                        <a:rPr lang="en-US" sz="2000"/>
                        <a:t>implementing</a:t>
                      </a:r>
                      <a:r>
                        <a:rPr lang="en-US" sz="2000"/>
                        <a:t> class</a:t>
                      </a:r>
                      <a:endParaRPr sz="2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/>
                        <a:t>Package</a:t>
                      </a:r>
                      <a:endParaRPr sz="2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/>
                        <a:t>~</a:t>
                      </a:r>
                      <a:endParaRPr sz="2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Instances within the same package</a:t>
                      </a:r>
                      <a:endParaRPr sz="2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Visibility of Attributes and Operations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" name="Google Shape;244;p27"/>
          <p:cNvSpPr/>
          <p:nvPr/>
        </p:nvSpPr>
        <p:spPr>
          <a:xfrm>
            <a:off x="4528650" y="1690825"/>
            <a:ext cx="2590800" cy="762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Person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27"/>
          <p:cNvSpPr/>
          <p:nvPr/>
        </p:nvSpPr>
        <p:spPr>
          <a:xfrm>
            <a:off x="4528650" y="2452825"/>
            <a:ext cx="2590800" cy="2286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+ name      : String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# address   : Address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# birthdate : Date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/ age           : Date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- ssn           : Id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27"/>
          <p:cNvSpPr/>
          <p:nvPr/>
        </p:nvSpPr>
        <p:spPr>
          <a:xfrm>
            <a:off x="4528650" y="4738825"/>
            <a:ext cx="2590800" cy="609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+ eat 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+ sleep ()</a:t>
            </a:r>
            <a:endParaRPr b="0" i="0" sz="18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Relationships among Classes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" name="Google Shape;252;p28"/>
          <p:cNvSpPr txBox="1"/>
          <p:nvPr>
            <p:ph idx="1" type="body"/>
          </p:nvPr>
        </p:nvSpPr>
        <p:spPr>
          <a:xfrm>
            <a:off x="838200" y="1825625"/>
            <a:ext cx="10515600" cy="447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Represents a connection between multiple classes or a class and itself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 basic categories: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lang="en-US"/>
              <a:t>Association relationships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○"/>
            </a:pPr>
            <a:r>
              <a:rPr lang="en-US"/>
              <a:t>Aggregation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○"/>
            </a:pPr>
            <a:r>
              <a:rPr lang="en-US"/>
              <a:t>Composition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○"/>
            </a:pPr>
            <a:r>
              <a:rPr lang="en-US"/>
              <a:t>Reflexive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○"/>
            </a:pPr>
            <a:r>
              <a:rPr lang="en-US"/>
              <a:t>Dependency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lang="en-US"/>
              <a:t>Generalization relationships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Association Relationship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8" name="Google Shape;258;p29"/>
          <p:cNvSpPr txBox="1"/>
          <p:nvPr>
            <p:ph idx="1" type="body"/>
          </p:nvPr>
        </p:nvSpPr>
        <p:spPr>
          <a:xfrm>
            <a:off x="838200" y="1825625"/>
            <a:ext cx="10515600" cy="3808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/>
              <a:t>If two classes in a model need to communicate with each other, there must be link between them. An association denotes that link.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/>
              <a:t>Name of relationship type shown by:</a:t>
            </a:r>
            <a:endParaRPr b="1"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Font typeface="Calibri"/>
              <a:buChar char="•"/>
            </a:pPr>
            <a:r>
              <a:rPr lang="en-US" sz="2300"/>
              <a:t>drawing line between classes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Font typeface="Calibri"/>
              <a:buChar char="•"/>
            </a:pPr>
            <a:r>
              <a:rPr lang="en-US" sz="2300"/>
              <a:t>labeling with the name of the relationship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Font typeface="Calibri"/>
              <a:buChar char="•"/>
            </a:pPr>
            <a:r>
              <a:rPr lang="en-US" sz="2300"/>
              <a:t>indicating with a small solid triangle beside the name of the relationship the direction of the association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29"/>
          <p:cNvSpPr/>
          <p:nvPr/>
        </p:nvSpPr>
        <p:spPr>
          <a:xfrm>
            <a:off x="2409450" y="5348425"/>
            <a:ext cx="1752600" cy="533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300">
                <a:latin typeface="Calibri"/>
                <a:ea typeface="Calibri"/>
                <a:cs typeface="Calibri"/>
                <a:sym typeface="Calibri"/>
              </a:rPr>
              <a:t>Patient</a:t>
            </a:r>
            <a:endParaRPr i="0" sz="2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9"/>
          <p:cNvSpPr/>
          <p:nvPr/>
        </p:nvSpPr>
        <p:spPr>
          <a:xfrm>
            <a:off x="7438650" y="5348425"/>
            <a:ext cx="2343900" cy="533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Medical History</a:t>
            </a:r>
            <a:endParaRPr sz="23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1" name="Google Shape;261;p29"/>
          <p:cNvCxnSpPr/>
          <p:nvPr/>
        </p:nvCxnSpPr>
        <p:spPr>
          <a:xfrm>
            <a:off x="4162050" y="5653225"/>
            <a:ext cx="32766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2" name="Google Shape;262;p29"/>
          <p:cNvSpPr txBox="1"/>
          <p:nvPr/>
        </p:nvSpPr>
        <p:spPr>
          <a:xfrm>
            <a:off x="4695450" y="5272225"/>
            <a:ext cx="228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Provides </a:t>
            </a:r>
            <a:endParaRPr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3" name="Google Shape;263;p29"/>
          <p:cNvCxnSpPr>
            <a:endCxn id="262" idx="3"/>
          </p:cNvCxnSpPr>
          <p:nvPr/>
        </p:nvCxnSpPr>
        <p:spPr>
          <a:xfrm flipH="1" rot="10800000">
            <a:off x="6295650" y="5472325"/>
            <a:ext cx="685800" cy="285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Aggregation </a:t>
            </a: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Relationship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9" name="Google Shape;269;p30"/>
          <p:cNvSpPr txBox="1"/>
          <p:nvPr>
            <p:ph idx="1" type="body"/>
          </p:nvPr>
        </p:nvSpPr>
        <p:spPr>
          <a:xfrm>
            <a:off x="838200" y="1825625"/>
            <a:ext cx="10515600" cy="2928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•"/>
            </a:pPr>
            <a:r>
              <a:rPr lang="en-US" sz="2300"/>
              <a:t>Specialized form of association in which a whole is related to its part(s)</a:t>
            </a:r>
            <a:endParaRPr sz="23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•"/>
            </a:pPr>
            <a:r>
              <a:rPr lang="en-US" sz="2300"/>
              <a:t>Represented by </a:t>
            </a:r>
            <a:r>
              <a:rPr lang="en-US" sz="2300" u="sng"/>
              <a:t>a-part-of</a:t>
            </a:r>
            <a:r>
              <a:rPr lang="en-US" sz="2300"/>
              <a:t> relationship</a:t>
            </a:r>
            <a:endParaRPr sz="23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•"/>
            </a:pPr>
            <a:r>
              <a:rPr lang="en-US" sz="2300"/>
              <a:t>Specifies a whole-part relationship between an aggregate (a whole) and a constituent part, where the part can exist </a:t>
            </a:r>
            <a:r>
              <a:rPr lang="en-US" sz="2300" u="sng"/>
              <a:t>independently </a:t>
            </a:r>
            <a:r>
              <a:rPr lang="en-US" sz="2300"/>
              <a:t>from the aggregate.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•"/>
            </a:pPr>
            <a:r>
              <a:rPr lang="en-US" sz="2300"/>
              <a:t>Denoted </a:t>
            </a:r>
            <a:r>
              <a:rPr lang="en-US" sz="2300"/>
              <a:t>by a hollow diamond on the association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0" name="Google Shape;270;p30"/>
          <p:cNvGrpSpPr/>
          <p:nvPr/>
        </p:nvGrpSpPr>
        <p:grpSpPr>
          <a:xfrm>
            <a:off x="3565012" y="4802575"/>
            <a:ext cx="952500" cy="476250"/>
            <a:chOff x="4253" y="96"/>
            <a:chExt cx="600" cy="300"/>
          </a:xfrm>
        </p:grpSpPr>
        <p:sp>
          <p:nvSpPr>
            <p:cNvPr id="271" name="Google Shape;271;p30"/>
            <p:cNvSpPr txBox="1"/>
            <p:nvPr/>
          </p:nvSpPr>
          <p:spPr>
            <a:xfrm>
              <a:off x="4253" y="96"/>
              <a:ext cx="600" cy="3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4450" lIns="90475" spcFirstLastPara="1" rIns="90475" wrap="square" tIns="44450">
              <a:noAutofit/>
            </a:bodyPr>
            <a:lstStyle/>
            <a:p>
              <a:pPr indent="-342900" lvl="0" marL="34290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Verdana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Verdana"/>
                  <a:ea typeface="Verdana"/>
                  <a:cs typeface="Verdana"/>
                  <a:sym typeface="Verdana"/>
                </a:rPr>
                <a:t>Car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72" name="Google Shape;272;p30"/>
            <p:cNvCxnSpPr/>
            <p:nvPr/>
          </p:nvCxnSpPr>
          <p:spPr>
            <a:xfrm>
              <a:off x="4253" y="393"/>
              <a:ext cx="6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273" name="Google Shape;273;p30"/>
          <p:cNvGrpSpPr/>
          <p:nvPr/>
        </p:nvGrpSpPr>
        <p:grpSpPr>
          <a:xfrm>
            <a:off x="4517512" y="4906761"/>
            <a:ext cx="3135312" cy="267890"/>
            <a:chOff x="3840" y="1826"/>
            <a:chExt cx="2400" cy="300"/>
          </a:xfrm>
        </p:grpSpPr>
        <p:cxnSp>
          <p:nvCxnSpPr>
            <p:cNvPr id="274" name="Google Shape;274;p30"/>
            <p:cNvCxnSpPr>
              <a:stCxn id="275" idx="3"/>
              <a:endCxn id="276" idx="1"/>
            </p:cNvCxnSpPr>
            <p:nvPr/>
          </p:nvCxnSpPr>
          <p:spPr>
            <a:xfrm>
              <a:off x="4140" y="1976"/>
              <a:ext cx="21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75" name="Google Shape;275;p30"/>
            <p:cNvSpPr/>
            <p:nvPr/>
          </p:nvSpPr>
          <p:spPr>
            <a:xfrm>
              <a:off x="3840" y="1826"/>
              <a:ext cx="300" cy="300"/>
            </a:xfrm>
            <a:prstGeom prst="diamond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276" name="Google Shape;276;p30"/>
          <p:cNvSpPr txBox="1"/>
          <p:nvPr/>
        </p:nvSpPr>
        <p:spPr>
          <a:xfrm>
            <a:off x="7674499" y="4802576"/>
            <a:ext cx="952500" cy="47625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Verdana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Engine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Aggregation Relationship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82" name="Google Shape;28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1690829"/>
            <a:ext cx="9144002" cy="45038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Composition </a:t>
            </a: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Relationship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8" name="Google Shape;288;p32"/>
          <p:cNvSpPr txBox="1"/>
          <p:nvPr>
            <p:ph idx="1" type="body"/>
          </p:nvPr>
        </p:nvSpPr>
        <p:spPr>
          <a:xfrm>
            <a:off x="838200" y="1825625"/>
            <a:ext cx="10515600" cy="2928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/>
              <a:t>A composition indicates a strong ownership and coincident lifetime of parts by the whole. 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•"/>
            </a:pPr>
            <a:r>
              <a:rPr lang="en-US" sz="2300"/>
              <a:t>Represented  by a </a:t>
            </a:r>
            <a:r>
              <a:rPr lang="en-US" sz="2300"/>
              <a:t>"is entirely made of" relationship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•"/>
            </a:pPr>
            <a:r>
              <a:rPr lang="en-US" sz="2300"/>
              <a:t>stronger version of aggregation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•"/>
            </a:pPr>
            <a:r>
              <a:rPr lang="en-US" sz="2300"/>
              <a:t>the parts live and die with the whole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•"/>
            </a:pPr>
            <a:r>
              <a:rPr lang="en-US" sz="2300"/>
              <a:t>symbolized by a black diamond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32"/>
          <p:cNvSpPr/>
          <p:nvPr/>
        </p:nvSpPr>
        <p:spPr>
          <a:xfrm>
            <a:off x="3145225" y="4331875"/>
            <a:ext cx="1137900" cy="2362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Window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0" name="Google Shape;290;p32"/>
          <p:cNvGrpSpPr/>
          <p:nvPr/>
        </p:nvGrpSpPr>
        <p:grpSpPr>
          <a:xfrm>
            <a:off x="4339175" y="4217250"/>
            <a:ext cx="4707601" cy="476250"/>
            <a:chOff x="1824" y="2760"/>
            <a:chExt cx="3528" cy="300"/>
          </a:xfrm>
        </p:grpSpPr>
        <p:grpSp>
          <p:nvGrpSpPr>
            <p:cNvPr id="291" name="Google Shape;291;p32"/>
            <p:cNvGrpSpPr/>
            <p:nvPr/>
          </p:nvGrpSpPr>
          <p:grpSpPr>
            <a:xfrm>
              <a:off x="1824" y="2930"/>
              <a:ext cx="1875" cy="110"/>
              <a:chOff x="1920" y="2736"/>
              <a:chExt cx="1692" cy="96"/>
            </a:xfrm>
          </p:grpSpPr>
          <p:cxnSp>
            <p:nvCxnSpPr>
              <p:cNvPr id="292" name="Google Shape;292;p32"/>
              <p:cNvCxnSpPr/>
              <p:nvPr/>
            </p:nvCxnSpPr>
            <p:spPr>
              <a:xfrm>
                <a:off x="2112" y="2784"/>
                <a:ext cx="150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93" name="Google Shape;293;p32"/>
              <p:cNvSpPr/>
              <p:nvPr/>
            </p:nvSpPr>
            <p:spPr>
              <a:xfrm>
                <a:off x="1920" y="2736"/>
                <a:ext cx="192" cy="96"/>
              </a:xfrm>
              <a:custGeom>
                <a:rect b="b" l="l" r="r" t="t"/>
                <a:pathLst>
                  <a:path extrusionOk="0" h="96" w="192">
                    <a:moveTo>
                      <a:pt x="0" y="48"/>
                    </a:moveTo>
                    <a:lnTo>
                      <a:pt x="96" y="0"/>
                    </a:lnTo>
                    <a:lnTo>
                      <a:pt x="192" y="48"/>
                    </a:lnTo>
                    <a:lnTo>
                      <a:pt x="96" y="96"/>
                    </a:lnTo>
                    <a:lnTo>
                      <a:pt x="0" y="48"/>
                    </a:lnTo>
                    <a:close/>
                  </a:path>
                </a:pathLst>
              </a:custGeom>
              <a:solidFill>
                <a:srgbClr val="000000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</p:grpSp>
        <p:sp>
          <p:nvSpPr>
            <p:cNvPr id="294" name="Google Shape;294;p32"/>
            <p:cNvSpPr/>
            <p:nvPr/>
          </p:nvSpPr>
          <p:spPr>
            <a:xfrm>
              <a:off x="3552" y="2760"/>
              <a:ext cx="1800" cy="3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Gill Sans"/>
                  <a:ea typeface="Gill Sans"/>
                  <a:cs typeface="Gill Sans"/>
                  <a:sym typeface="Gill Sans"/>
                </a:rPr>
                <a:t>Scrollbar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5" name="Google Shape;295;p32"/>
          <p:cNvGrpSpPr/>
          <p:nvPr/>
        </p:nvGrpSpPr>
        <p:grpSpPr>
          <a:xfrm>
            <a:off x="4339175" y="5055450"/>
            <a:ext cx="4707601" cy="476250"/>
            <a:chOff x="1824" y="2760"/>
            <a:chExt cx="3528" cy="300"/>
          </a:xfrm>
        </p:grpSpPr>
        <p:grpSp>
          <p:nvGrpSpPr>
            <p:cNvPr id="296" name="Google Shape;296;p32"/>
            <p:cNvGrpSpPr/>
            <p:nvPr/>
          </p:nvGrpSpPr>
          <p:grpSpPr>
            <a:xfrm>
              <a:off x="1824" y="2930"/>
              <a:ext cx="1875" cy="110"/>
              <a:chOff x="1920" y="2736"/>
              <a:chExt cx="1692" cy="96"/>
            </a:xfrm>
          </p:grpSpPr>
          <p:cxnSp>
            <p:nvCxnSpPr>
              <p:cNvPr id="297" name="Google Shape;297;p32"/>
              <p:cNvCxnSpPr/>
              <p:nvPr/>
            </p:nvCxnSpPr>
            <p:spPr>
              <a:xfrm>
                <a:off x="2112" y="2784"/>
                <a:ext cx="150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98" name="Google Shape;298;p32"/>
              <p:cNvSpPr/>
              <p:nvPr/>
            </p:nvSpPr>
            <p:spPr>
              <a:xfrm>
                <a:off x="1920" y="2736"/>
                <a:ext cx="192" cy="96"/>
              </a:xfrm>
              <a:custGeom>
                <a:rect b="b" l="l" r="r" t="t"/>
                <a:pathLst>
                  <a:path extrusionOk="0" h="96" w="192">
                    <a:moveTo>
                      <a:pt x="0" y="48"/>
                    </a:moveTo>
                    <a:lnTo>
                      <a:pt x="96" y="0"/>
                    </a:lnTo>
                    <a:lnTo>
                      <a:pt x="192" y="48"/>
                    </a:lnTo>
                    <a:lnTo>
                      <a:pt x="96" y="96"/>
                    </a:lnTo>
                    <a:lnTo>
                      <a:pt x="0" y="48"/>
                    </a:lnTo>
                    <a:close/>
                  </a:path>
                </a:pathLst>
              </a:custGeom>
              <a:solidFill>
                <a:srgbClr val="000000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</p:grpSp>
        <p:sp>
          <p:nvSpPr>
            <p:cNvPr id="299" name="Google Shape;299;p32"/>
            <p:cNvSpPr/>
            <p:nvPr/>
          </p:nvSpPr>
          <p:spPr>
            <a:xfrm>
              <a:off x="3552" y="2760"/>
              <a:ext cx="1800" cy="3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Gill Sans"/>
                  <a:ea typeface="Gill Sans"/>
                  <a:cs typeface="Gill Sans"/>
                  <a:sym typeface="Gill Sans"/>
                </a:rPr>
                <a:t>Titlebar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0" name="Google Shape;300;p32"/>
          <p:cNvGrpSpPr/>
          <p:nvPr/>
        </p:nvGrpSpPr>
        <p:grpSpPr>
          <a:xfrm>
            <a:off x="4339175" y="5893650"/>
            <a:ext cx="4707601" cy="476250"/>
            <a:chOff x="1824" y="2760"/>
            <a:chExt cx="3528" cy="300"/>
          </a:xfrm>
        </p:grpSpPr>
        <p:grpSp>
          <p:nvGrpSpPr>
            <p:cNvPr id="301" name="Google Shape;301;p32"/>
            <p:cNvGrpSpPr/>
            <p:nvPr/>
          </p:nvGrpSpPr>
          <p:grpSpPr>
            <a:xfrm>
              <a:off x="1824" y="2930"/>
              <a:ext cx="1875" cy="110"/>
              <a:chOff x="1920" y="2736"/>
              <a:chExt cx="1692" cy="96"/>
            </a:xfrm>
          </p:grpSpPr>
          <p:cxnSp>
            <p:nvCxnSpPr>
              <p:cNvPr id="302" name="Google Shape;302;p32"/>
              <p:cNvCxnSpPr/>
              <p:nvPr/>
            </p:nvCxnSpPr>
            <p:spPr>
              <a:xfrm>
                <a:off x="2112" y="2784"/>
                <a:ext cx="150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303" name="Google Shape;303;p32"/>
              <p:cNvSpPr/>
              <p:nvPr/>
            </p:nvSpPr>
            <p:spPr>
              <a:xfrm>
                <a:off x="1920" y="2736"/>
                <a:ext cx="192" cy="96"/>
              </a:xfrm>
              <a:custGeom>
                <a:rect b="b" l="l" r="r" t="t"/>
                <a:pathLst>
                  <a:path extrusionOk="0" h="96" w="192">
                    <a:moveTo>
                      <a:pt x="0" y="48"/>
                    </a:moveTo>
                    <a:lnTo>
                      <a:pt x="96" y="0"/>
                    </a:lnTo>
                    <a:lnTo>
                      <a:pt x="192" y="48"/>
                    </a:lnTo>
                    <a:lnTo>
                      <a:pt x="96" y="96"/>
                    </a:lnTo>
                    <a:lnTo>
                      <a:pt x="0" y="48"/>
                    </a:lnTo>
                    <a:close/>
                  </a:path>
                </a:pathLst>
              </a:custGeom>
              <a:solidFill>
                <a:srgbClr val="000000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</p:grpSp>
        <p:sp>
          <p:nvSpPr>
            <p:cNvPr id="304" name="Google Shape;304;p32"/>
            <p:cNvSpPr/>
            <p:nvPr/>
          </p:nvSpPr>
          <p:spPr>
            <a:xfrm>
              <a:off x="3552" y="2760"/>
              <a:ext cx="1800" cy="3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Gill Sans"/>
                  <a:ea typeface="Gill Sans"/>
                  <a:cs typeface="Gill Sans"/>
                  <a:sym typeface="Gill Sans"/>
                </a:rPr>
                <a:t>Menu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Composition Relationship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10" name="Google Shape;31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1690825"/>
            <a:ext cx="9143999" cy="4479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Generalization </a:t>
            </a: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Relationship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4"/>
          <p:cNvSpPr txBox="1"/>
          <p:nvPr>
            <p:ph idx="1" type="body"/>
          </p:nvPr>
        </p:nvSpPr>
        <p:spPr>
          <a:xfrm>
            <a:off x="838200" y="1825625"/>
            <a:ext cx="10515600" cy="2480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generalization connects a subclass to its superclass. It denotes an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inheritance of attributes and behavior from the superclass to the subclass and indicates a specialization in the subclass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of the more general superclass.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Represented by a-kind-of relationship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Dog is a kind of Animal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</p:txBody>
      </p:sp>
      <p:sp>
        <p:nvSpPr>
          <p:cNvPr id="317" name="Google Shape;317;p34"/>
          <p:cNvSpPr/>
          <p:nvPr/>
        </p:nvSpPr>
        <p:spPr>
          <a:xfrm>
            <a:off x="1888350" y="5018700"/>
            <a:ext cx="2438400" cy="762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500">
                <a:latin typeface="Calibri"/>
                <a:ea typeface="Calibri"/>
                <a:cs typeface="Calibri"/>
                <a:sym typeface="Calibri"/>
              </a:rPr>
              <a:t>Animal</a:t>
            </a:r>
            <a:endParaRPr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34"/>
          <p:cNvSpPr/>
          <p:nvPr/>
        </p:nvSpPr>
        <p:spPr>
          <a:xfrm>
            <a:off x="7865225" y="5018700"/>
            <a:ext cx="2438400" cy="762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500">
                <a:latin typeface="Calibri"/>
                <a:ea typeface="Calibri"/>
                <a:cs typeface="Calibri"/>
                <a:sym typeface="Calibri"/>
              </a:rPr>
              <a:t>Dog</a:t>
            </a:r>
            <a:endParaRPr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34"/>
          <p:cNvSpPr/>
          <p:nvPr/>
        </p:nvSpPr>
        <p:spPr>
          <a:xfrm rot="-5400000">
            <a:off x="4307898" y="5169348"/>
            <a:ext cx="418719" cy="381000"/>
          </a:xfrm>
          <a:custGeom>
            <a:rect b="b" l="l" r="r" t="t"/>
            <a:pathLst>
              <a:path extrusionOk="0" h="240" w="336">
                <a:moveTo>
                  <a:pt x="144" y="0"/>
                </a:moveTo>
                <a:lnTo>
                  <a:pt x="0" y="240"/>
                </a:lnTo>
                <a:lnTo>
                  <a:pt x="336" y="240"/>
                </a:lnTo>
                <a:lnTo>
                  <a:pt x="144" y="0"/>
                </a:lnTo>
                <a:close/>
              </a:path>
            </a:pathLst>
          </a:cu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320" name="Google Shape;320;p34"/>
          <p:cNvCxnSpPr>
            <a:endCxn id="318" idx="1"/>
          </p:cNvCxnSpPr>
          <p:nvPr/>
        </p:nvCxnSpPr>
        <p:spPr>
          <a:xfrm>
            <a:off x="4706225" y="5360400"/>
            <a:ext cx="3159000" cy="3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Generalization Relationship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6" name="Google Shape;326;p35"/>
          <p:cNvSpPr txBox="1"/>
          <p:nvPr>
            <p:ph idx="1" type="body"/>
          </p:nvPr>
        </p:nvSpPr>
        <p:spPr>
          <a:xfrm>
            <a:off x="838200" y="1825625"/>
            <a:ext cx="10515600" cy="1258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UML permits a class to inherit from multiple superclasses, although some programming languages (e.g., Java) do not permit multiple inheritance.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35"/>
          <p:cNvSpPr/>
          <p:nvPr/>
        </p:nvSpPr>
        <p:spPr>
          <a:xfrm>
            <a:off x="940675" y="3417350"/>
            <a:ext cx="1791600" cy="559800"/>
          </a:xfrm>
          <a:prstGeom prst="rect">
            <a:avLst/>
          </a:prstGeom>
          <a:solidFill>
            <a:schemeClr val="lt1"/>
          </a:solidFill>
          <a:ln cap="flat" cmpd="sng" w="70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3575" lIns="67175" spcFirstLastPara="1" rIns="67175" wrap="square" tIns="33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3"/>
              <a:buFont typeface="Arial"/>
              <a:buNone/>
            </a:pPr>
            <a:r>
              <a:rPr i="0" lang="en-US" sz="2222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Student</a:t>
            </a:r>
            <a:endParaRPr i="0" sz="192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35"/>
          <p:cNvSpPr/>
          <p:nvPr/>
        </p:nvSpPr>
        <p:spPr>
          <a:xfrm>
            <a:off x="1990439" y="5329903"/>
            <a:ext cx="2239500" cy="559800"/>
          </a:xfrm>
          <a:prstGeom prst="rect">
            <a:avLst/>
          </a:prstGeom>
          <a:solidFill>
            <a:schemeClr val="lt1"/>
          </a:solidFill>
          <a:ln cap="flat" cmpd="sng" w="70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3575" lIns="67175" spcFirstLastPara="1" rIns="67175" wrap="square" tIns="33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3"/>
              <a:buFont typeface="Arial"/>
              <a:buNone/>
            </a:pPr>
            <a:r>
              <a:rPr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Teaching Assistant</a:t>
            </a:r>
            <a:endParaRPr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35"/>
          <p:cNvSpPr/>
          <p:nvPr/>
        </p:nvSpPr>
        <p:spPr>
          <a:xfrm>
            <a:off x="3460222" y="3417340"/>
            <a:ext cx="1791600" cy="559800"/>
          </a:xfrm>
          <a:prstGeom prst="rect">
            <a:avLst/>
          </a:prstGeom>
          <a:solidFill>
            <a:schemeClr val="lt1"/>
          </a:solidFill>
          <a:ln cap="flat" cmpd="sng" w="70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3575" lIns="67175" spcFirstLastPara="1" rIns="67175" wrap="square" tIns="33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3"/>
              <a:buFont typeface="Arial"/>
              <a:buNone/>
            </a:pPr>
            <a:r>
              <a:rPr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Employee</a:t>
            </a:r>
            <a:endParaRPr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35"/>
          <p:cNvSpPr/>
          <p:nvPr/>
        </p:nvSpPr>
        <p:spPr>
          <a:xfrm>
            <a:off x="4076111" y="3977237"/>
            <a:ext cx="307945" cy="292780"/>
          </a:xfrm>
          <a:custGeom>
            <a:rect b="b" l="l" r="r" t="t"/>
            <a:pathLst>
              <a:path extrusionOk="0" h="240" w="336">
                <a:moveTo>
                  <a:pt x="144" y="0"/>
                </a:moveTo>
                <a:lnTo>
                  <a:pt x="0" y="240"/>
                </a:lnTo>
                <a:lnTo>
                  <a:pt x="336" y="240"/>
                </a:lnTo>
                <a:lnTo>
                  <a:pt x="144" y="0"/>
                </a:lnTo>
                <a:close/>
              </a:path>
            </a:pathLst>
          </a:custGeom>
          <a:solidFill>
            <a:srgbClr val="FFFFFF"/>
          </a:solidFill>
          <a:ln cap="flat" cmpd="sng" w="140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3575" lIns="67175" spcFirstLastPara="1" rIns="67175" wrap="square" tIns="33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3"/>
              <a:buFont typeface="Arial"/>
              <a:buNone/>
            </a:pPr>
            <a:r>
              <a:t/>
            </a:r>
            <a:endParaRPr b="0" i="0" sz="1322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31" name="Google Shape;331;p35"/>
          <p:cNvSpPr/>
          <p:nvPr/>
        </p:nvSpPr>
        <p:spPr>
          <a:xfrm>
            <a:off x="1682511" y="3977237"/>
            <a:ext cx="307945" cy="292780"/>
          </a:xfrm>
          <a:custGeom>
            <a:rect b="b" l="l" r="r" t="t"/>
            <a:pathLst>
              <a:path extrusionOk="0" h="240" w="336">
                <a:moveTo>
                  <a:pt x="144" y="0"/>
                </a:moveTo>
                <a:lnTo>
                  <a:pt x="0" y="240"/>
                </a:lnTo>
                <a:lnTo>
                  <a:pt x="336" y="240"/>
                </a:lnTo>
                <a:lnTo>
                  <a:pt x="144" y="0"/>
                </a:lnTo>
                <a:close/>
              </a:path>
            </a:pathLst>
          </a:custGeom>
          <a:solidFill>
            <a:srgbClr val="FFFFFF"/>
          </a:solidFill>
          <a:ln cap="flat" cmpd="sng" w="140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3575" lIns="67175" spcFirstLastPara="1" rIns="67175" wrap="square" tIns="33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3"/>
              <a:buFont typeface="Arial"/>
              <a:buNone/>
            </a:pPr>
            <a:r>
              <a:t/>
            </a:r>
            <a:endParaRPr b="0" i="0" sz="1322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32" name="Google Shape;332;p35"/>
          <p:cNvSpPr/>
          <p:nvPr/>
        </p:nvSpPr>
        <p:spPr>
          <a:xfrm>
            <a:off x="1826525" y="4252500"/>
            <a:ext cx="2440025" cy="457450"/>
          </a:xfrm>
          <a:custGeom>
            <a:rect b="b" l="l" r="r" t="t"/>
            <a:pathLst>
              <a:path extrusionOk="0" h="18298" w="97601">
                <a:moveTo>
                  <a:pt x="0" y="0"/>
                </a:moveTo>
                <a:lnTo>
                  <a:pt x="0" y="18288"/>
                </a:lnTo>
                <a:lnTo>
                  <a:pt x="97601" y="18298"/>
                </a:lnTo>
                <a:lnTo>
                  <a:pt x="97207" y="1744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333" name="Google Shape;333;p35"/>
          <p:cNvCxnSpPr>
            <a:stCxn id="328" idx="0"/>
          </p:cNvCxnSpPr>
          <p:nvPr/>
        </p:nvCxnSpPr>
        <p:spPr>
          <a:xfrm rot="10800000">
            <a:off x="3093989" y="4719703"/>
            <a:ext cx="16200" cy="61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4" name="Google Shape;334;p35"/>
          <p:cNvSpPr/>
          <p:nvPr/>
        </p:nvSpPr>
        <p:spPr>
          <a:xfrm>
            <a:off x="7665614" y="3417350"/>
            <a:ext cx="1715400" cy="553500"/>
          </a:xfrm>
          <a:prstGeom prst="rect">
            <a:avLst/>
          </a:prstGeom>
          <a:solidFill>
            <a:schemeClr val="lt1"/>
          </a:solidFill>
          <a:ln cap="flat" cmpd="sng" w="69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3200" lIns="66400" spcFirstLastPara="1" rIns="66400" wrap="square" tIns="332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7"/>
              <a:buFont typeface="Arial"/>
              <a:buNone/>
            </a:pP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Person</a:t>
            </a:r>
            <a:endParaRPr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35"/>
          <p:cNvSpPr/>
          <p:nvPr/>
        </p:nvSpPr>
        <p:spPr>
          <a:xfrm>
            <a:off x="6669527" y="4551776"/>
            <a:ext cx="1715400" cy="553500"/>
          </a:xfrm>
          <a:prstGeom prst="rect">
            <a:avLst/>
          </a:prstGeom>
          <a:solidFill>
            <a:schemeClr val="lt1"/>
          </a:solidFill>
          <a:ln cap="flat" cmpd="sng" w="69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3200" lIns="66400" spcFirstLastPara="1" rIns="66400" wrap="square" tIns="332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7"/>
              <a:buFont typeface="Arial"/>
              <a:buNone/>
            </a:pPr>
            <a:r>
              <a:rPr lang="en-US" sz="2200">
                <a:latin typeface="Gill Sans"/>
                <a:ea typeface="Gill Sans"/>
                <a:cs typeface="Gill Sans"/>
                <a:sym typeface="Gill Sans"/>
              </a:rPr>
              <a:t>Employee</a:t>
            </a:r>
            <a:endParaRPr b="0" i="0" sz="2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36" name="Google Shape;336;p35"/>
          <p:cNvSpPr/>
          <p:nvPr/>
        </p:nvSpPr>
        <p:spPr>
          <a:xfrm>
            <a:off x="8827716" y="4551776"/>
            <a:ext cx="1715400" cy="553500"/>
          </a:xfrm>
          <a:prstGeom prst="rect">
            <a:avLst/>
          </a:prstGeom>
          <a:solidFill>
            <a:schemeClr val="lt1"/>
          </a:solidFill>
          <a:ln cap="flat" cmpd="sng" w="69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3200" lIns="66400" spcFirstLastPara="1" rIns="66400" wrap="square" tIns="332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7"/>
              <a:buFont typeface="Arial"/>
              <a:buNone/>
            </a:pPr>
            <a:r>
              <a:rPr lang="en-US" sz="2200">
                <a:latin typeface="Gill Sans"/>
                <a:ea typeface="Gill Sans"/>
                <a:cs typeface="Gill Sans"/>
                <a:sym typeface="Gill Sans"/>
              </a:rPr>
              <a:t>Customer</a:t>
            </a:r>
            <a:endParaRPr b="0" i="0" sz="2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37" name="Google Shape;337;p35"/>
          <p:cNvSpPr/>
          <p:nvPr/>
        </p:nvSpPr>
        <p:spPr>
          <a:xfrm>
            <a:off x="5931125" y="5686193"/>
            <a:ext cx="1217400" cy="553500"/>
          </a:xfrm>
          <a:prstGeom prst="rect">
            <a:avLst/>
          </a:prstGeom>
          <a:solidFill>
            <a:schemeClr val="lt1"/>
          </a:solidFill>
          <a:ln cap="flat" cmpd="sng" w="69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3200" lIns="66400" spcFirstLastPara="1" rIns="66400" wrap="square" tIns="332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43"/>
              <a:buFont typeface="Arial"/>
              <a:buNone/>
            </a:pP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Manager</a:t>
            </a:r>
            <a:endParaRPr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35"/>
          <p:cNvSpPr/>
          <p:nvPr/>
        </p:nvSpPr>
        <p:spPr>
          <a:xfrm>
            <a:off x="7914619" y="5686193"/>
            <a:ext cx="1217400" cy="553500"/>
          </a:xfrm>
          <a:prstGeom prst="rect">
            <a:avLst/>
          </a:prstGeom>
          <a:solidFill>
            <a:schemeClr val="lt1"/>
          </a:solidFill>
          <a:ln cap="flat" cmpd="sng" w="69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3200" lIns="66400" spcFirstLastPara="1" rIns="66400" wrap="square" tIns="332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7"/>
              <a:buFont typeface="Arial"/>
              <a:buNone/>
            </a:pPr>
            <a:r>
              <a:rPr lang="en-US" sz="2200">
                <a:latin typeface="Gill Sans"/>
                <a:ea typeface="Gill Sans"/>
                <a:cs typeface="Gill Sans"/>
                <a:sym typeface="Gill Sans"/>
              </a:rPr>
              <a:t>Engineer</a:t>
            </a:r>
            <a:endParaRPr b="0" i="0" sz="2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339" name="Google Shape;339;p35"/>
          <p:cNvCxnSpPr/>
          <p:nvPr/>
        </p:nvCxnSpPr>
        <p:spPr>
          <a:xfrm>
            <a:off x="7409800" y="4256700"/>
            <a:ext cx="2286000" cy="99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0" name="Google Shape;340;p35"/>
          <p:cNvCxnSpPr>
            <a:stCxn id="335" idx="0"/>
          </p:cNvCxnSpPr>
          <p:nvPr/>
        </p:nvCxnSpPr>
        <p:spPr>
          <a:xfrm rot="10800000">
            <a:off x="7518227" y="4246676"/>
            <a:ext cx="9000" cy="30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1" name="Google Shape;341;p35"/>
          <p:cNvCxnSpPr>
            <a:stCxn id="336" idx="0"/>
          </p:cNvCxnSpPr>
          <p:nvPr/>
        </p:nvCxnSpPr>
        <p:spPr>
          <a:xfrm rot="10800000">
            <a:off x="9666216" y="4266476"/>
            <a:ext cx="19200" cy="28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2" name="Google Shape;342;p35"/>
          <p:cNvCxnSpPr/>
          <p:nvPr/>
        </p:nvCxnSpPr>
        <p:spPr>
          <a:xfrm flipH="1" rot="10800000">
            <a:off x="6532825" y="5468625"/>
            <a:ext cx="1990500" cy="99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3" name="Google Shape;343;p35"/>
          <p:cNvCxnSpPr>
            <a:stCxn id="337" idx="0"/>
          </p:cNvCxnSpPr>
          <p:nvPr/>
        </p:nvCxnSpPr>
        <p:spPr>
          <a:xfrm rot="10800000">
            <a:off x="6532925" y="5438993"/>
            <a:ext cx="6900" cy="24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4" name="Google Shape;344;p35"/>
          <p:cNvCxnSpPr>
            <a:stCxn id="338" idx="0"/>
          </p:cNvCxnSpPr>
          <p:nvPr/>
        </p:nvCxnSpPr>
        <p:spPr>
          <a:xfrm rot="10800000">
            <a:off x="8513719" y="5458793"/>
            <a:ext cx="9600" cy="22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5" name="Google Shape;345;p35"/>
          <p:cNvCxnSpPr>
            <a:endCxn id="334" idx="2"/>
          </p:cNvCxnSpPr>
          <p:nvPr/>
        </p:nvCxnSpPr>
        <p:spPr>
          <a:xfrm rot="10800000">
            <a:off x="8523314" y="3970850"/>
            <a:ext cx="9900" cy="33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6" name="Google Shape;346;p35"/>
          <p:cNvCxnSpPr>
            <a:endCxn id="335" idx="2"/>
          </p:cNvCxnSpPr>
          <p:nvPr/>
        </p:nvCxnSpPr>
        <p:spPr>
          <a:xfrm rot="10800000">
            <a:off x="7527227" y="5105276"/>
            <a:ext cx="900" cy="38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Generalization Relationship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2" name="Google Shape;352;p36"/>
          <p:cNvSpPr/>
          <p:nvPr/>
        </p:nvSpPr>
        <p:spPr>
          <a:xfrm>
            <a:off x="3429000" y="1524000"/>
            <a:ext cx="2438400" cy="2286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53" name="Google Shape;353;p36"/>
          <p:cNvSpPr txBox="1"/>
          <p:nvPr/>
        </p:nvSpPr>
        <p:spPr>
          <a:xfrm>
            <a:off x="3886200" y="1524000"/>
            <a:ext cx="1828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Employee</a:t>
            </a:r>
            <a:endParaRPr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36"/>
          <p:cNvSpPr txBox="1"/>
          <p:nvPr/>
        </p:nvSpPr>
        <p:spPr>
          <a:xfrm>
            <a:off x="3485675" y="2162100"/>
            <a:ext cx="228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-"/>
            </a:pPr>
            <a:r>
              <a:rPr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hireDate: Date</a:t>
            </a:r>
            <a:endParaRPr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36"/>
          <p:cNvSpPr txBox="1"/>
          <p:nvPr/>
        </p:nvSpPr>
        <p:spPr>
          <a:xfrm>
            <a:off x="3505200" y="2895600"/>
            <a:ext cx="2286000" cy="8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- receivePay()</a:t>
            </a:r>
            <a:endParaRPr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- performWork()</a:t>
            </a:r>
            <a:endParaRPr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6" name="Google Shape;356;p36"/>
          <p:cNvCxnSpPr/>
          <p:nvPr/>
        </p:nvCxnSpPr>
        <p:spPr>
          <a:xfrm>
            <a:off x="3429000" y="2743200"/>
            <a:ext cx="24384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7" name="Google Shape;357;p36"/>
          <p:cNvCxnSpPr/>
          <p:nvPr/>
        </p:nvCxnSpPr>
        <p:spPr>
          <a:xfrm>
            <a:off x="3429000" y="1981200"/>
            <a:ext cx="24384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8" name="Google Shape;358;p36"/>
          <p:cNvSpPr/>
          <p:nvPr/>
        </p:nvSpPr>
        <p:spPr>
          <a:xfrm>
            <a:off x="1447800" y="4343400"/>
            <a:ext cx="2438400" cy="2286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59" name="Google Shape;359;p36"/>
          <p:cNvSpPr/>
          <p:nvPr/>
        </p:nvSpPr>
        <p:spPr>
          <a:xfrm>
            <a:off x="5334000" y="4343400"/>
            <a:ext cx="2438400" cy="2286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60" name="Google Shape;360;p36"/>
          <p:cNvSpPr txBox="1"/>
          <p:nvPr/>
        </p:nvSpPr>
        <p:spPr>
          <a:xfrm>
            <a:off x="1524000" y="4419600"/>
            <a:ext cx="2209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Manager</a:t>
            </a:r>
            <a:endParaRPr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36"/>
          <p:cNvSpPr txBox="1"/>
          <p:nvPr/>
        </p:nvSpPr>
        <p:spPr>
          <a:xfrm>
            <a:off x="1270500" y="4865700"/>
            <a:ext cx="27930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-"/>
            </a:pPr>
            <a:r>
              <a:rPr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department: String</a:t>
            </a:r>
            <a:endParaRPr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-"/>
            </a:pPr>
            <a:r>
              <a:rPr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bonus: Float</a:t>
            </a:r>
            <a:endParaRPr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36"/>
          <p:cNvSpPr txBox="1"/>
          <p:nvPr/>
        </p:nvSpPr>
        <p:spPr>
          <a:xfrm>
            <a:off x="1232400" y="5791200"/>
            <a:ext cx="27930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-"/>
            </a:pPr>
            <a:r>
              <a:rPr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hireEmployee()</a:t>
            </a:r>
            <a:endParaRPr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-"/>
            </a:pPr>
            <a:r>
              <a:rPr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promoteEmployee()</a:t>
            </a:r>
            <a:endParaRPr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3" name="Google Shape;363;p36"/>
          <p:cNvCxnSpPr/>
          <p:nvPr/>
        </p:nvCxnSpPr>
        <p:spPr>
          <a:xfrm>
            <a:off x="1447800" y="4800600"/>
            <a:ext cx="24384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4" name="Google Shape;364;p36"/>
          <p:cNvCxnSpPr/>
          <p:nvPr/>
        </p:nvCxnSpPr>
        <p:spPr>
          <a:xfrm>
            <a:off x="1447800" y="5638800"/>
            <a:ext cx="24384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5" name="Google Shape;365;p36"/>
          <p:cNvSpPr txBox="1"/>
          <p:nvPr/>
        </p:nvSpPr>
        <p:spPr>
          <a:xfrm>
            <a:off x="5486400" y="4419600"/>
            <a:ext cx="1828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Engineer</a:t>
            </a:r>
            <a:endParaRPr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36"/>
          <p:cNvSpPr txBox="1"/>
          <p:nvPr/>
        </p:nvSpPr>
        <p:spPr>
          <a:xfrm>
            <a:off x="5130000" y="4933900"/>
            <a:ext cx="284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-"/>
            </a:pPr>
            <a:r>
              <a:rPr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certifications: String</a:t>
            </a:r>
            <a:endParaRPr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36"/>
          <p:cNvSpPr txBox="1"/>
          <p:nvPr/>
        </p:nvSpPr>
        <p:spPr>
          <a:xfrm>
            <a:off x="5486400" y="5715000"/>
            <a:ext cx="20574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-"/>
            </a:pPr>
            <a:r>
              <a:rPr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analyze()</a:t>
            </a:r>
            <a:endParaRPr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-"/>
            </a:pPr>
            <a:r>
              <a:rPr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design()</a:t>
            </a:r>
            <a:endParaRPr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8" name="Google Shape;368;p36"/>
          <p:cNvCxnSpPr/>
          <p:nvPr/>
        </p:nvCxnSpPr>
        <p:spPr>
          <a:xfrm>
            <a:off x="5334000" y="4800600"/>
            <a:ext cx="24384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9" name="Google Shape;369;p36"/>
          <p:cNvCxnSpPr/>
          <p:nvPr/>
        </p:nvCxnSpPr>
        <p:spPr>
          <a:xfrm>
            <a:off x="5334000" y="5638800"/>
            <a:ext cx="24384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0" name="Google Shape;370;p36"/>
          <p:cNvCxnSpPr/>
          <p:nvPr/>
        </p:nvCxnSpPr>
        <p:spPr>
          <a:xfrm rot="10800000">
            <a:off x="1905000" y="4191000"/>
            <a:ext cx="0" cy="152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1" name="Google Shape;371;p36"/>
          <p:cNvCxnSpPr/>
          <p:nvPr/>
        </p:nvCxnSpPr>
        <p:spPr>
          <a:xfrm>
            <a:off x="4495800" y="4876800"/>
            <a:ext cx="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2" name="Google Shape;372;p36"/>
          <p:cNvCxnSpPr/>
          <p:nvPr/>
        </p:nvCxnSpPr>
        <p:spPr>
          <a:xfrm rot="10800000">
            <a:off x="7239000" y="4191000"/>
            <a:ext cx="0" cy="152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3" name="Google Shape;373;p36"/>
          <p:cNvCxnSpPr/>
          <p:nvPr/>
        </p:nvCxnSpPr>
        <p:spPr>
          <a:xfrm>
            <a:off x="1905000" y="4191000"/>
            <a:ext cx="53340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4" name="Google Shape;374;p36"/>
          <p:cNvCxnSpPr/>
          <p:nvPr/>
        </p:nvCxnSpPr>
        <p:spPr>
          <a:xfrm rot="10800000">
            <a:off x="4648200" y="38100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Multiplicity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0" name="Google Shape;380;p37"/>
          <p:cNvSpPr txBox="1"/>
          <p:nvPr>
            <p:ph idx="1" type="body"/>
          </p:nvPr>
        </p:nvSpPr>
        <p:spPr>
          <a:xfrm>
            <a:off x="838200" y="1825625"/>
            <a:ext cx="10515600" cy="2401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/>
              <a:t>The multiplicity of a property is an indication of how many objects may fill the property. The most common multiplicities you will see are: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•"/>
            </a:pPr>
            <a:r>
              <a:rPr b="1" lang="en-US" sz="2300"/>
              <a:t>1 </a:t>
            </a:r>
            <a:r>
              <a:rPr lang="en-US" sz="2000"/>
              <a:t>(An order must have exactly one customer.)</a:t>
            </a:r>
            <a:endParaRPr sz="20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•"/>
            </a:pPr>
            <a:r>
              <a:rPr b="1" lang="en-US" sz="2300"/>
              <a:t>0..1</a:t>
            </a:r>
            <a:r>
              <a:rPr lang="en-US" sz="2300"/>
              <a:t> </a:t>
            </a:r>
            <a:r>
              <a:rPr lang="en-US" sz="2000"/>
              <a:t>(A corporate customer may or may not have a single sales rep.)</a:t>
            </a:r>
            <a:endParaRPr sz="20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•"/>
            </a:pPr>
            <a:r>
              <a:rPr b="1" lang="en-US" sz="2300"/>
              <a:t>*</a:t>
            </a:r>
            <a:r>
              <a:rPr lang="en-US" sz="2300"/>
              <a:t> </a:t>
            </a:r>
            <a:r>
              <a:rPr lang="en-US" sz="2000"/>
              <a:t>(A customer need not place an Order and there is no upper limit to the number of Orders a Customer may place—zero or more orders.)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Multiplicity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8"/>
          <p:cNvSpPr txBox="1"/>
          <p:nvPr>
            <p:ph idx="1" type="body"/>
          </p:nvPr>
        </p:nvSpPr>
        <p:spPr>
          <a:xfrm>
            <a:off x="838200" y="1825625"/>
            <a:ext cx="10515600" cy="1376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/>
              <a:t>We can indicate the multiplicity of an association by adding multiplicity adornments to the line denoting the association. 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/>
              <a:t>The example indicates that a Student has one or more Instructors: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</p:txBody>
      </p:sp>
      <p:cxnSp>
        <p:nvCxnSpPr>
          <p:cNvPr id="387" name="Google Shape;387;p38"/>
          <p:cNvCxnSpPr/>
          <p:nvPr/>
        </p:nvCxnSpPr>
        <p:spPr>
          <a:xfrm>
            <a:off x="4305300" y="3603825"/>
            <a:ext cx="36576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8" name="Google Shape;388;p38"/>
          <p:cNvSpPr/>
          <p:nvPr/>
        </p:nvSpPr>
        <p:spPr>
          <a:xfrm>
            <a:off x="7886700" y="3375225"/>
            <a:ext cx="2057400" cy="533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Instructor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38"/>
          <p:cNvSpPr/>
          <p:nvPr/>
        </p:nvSpPr>
        <p:spPr>
          <a:xfrm>
            <a:off x="2247900" y="3337125"/>
            <a:ext cx="2057400" cy="533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Student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38"/>
          <p:cNvSpPr txBox="1"/>
          <p:nvPr/>
        </p:nvSpPr>
        <p:spPr>
          <a:xfrm>
            <a:off x="7200900" y="3603825"/>
            <a:ext cx="685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1..*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38"/>
          <p:cNvSpPr txBox="1"/>
          <p:nvPr/>
        </p:nvSpPr>
        <p:spPr>
          <a:xfrm>
            <a:off x="985350" y="4345375"/>
            <a:ext cx="103686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example indicates that every Instructor has one or more Students: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2" name="Google Shape;392;p38"/>
          <p:cNvCxnSpPr/>
          <p:nvPr/>
        </p:nvCxnSpPr>
        <p:spPr>
          <a:xfrm>
            <a:off x="4305300" y="5319550"/>
            <a:ext cx="36576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3" name="Google Shape;393;p38"/>
          <p:cNvSpPr/>
          <p:nvPr/>
        </p:nvSpPr>
        <p:spPr>
          <a:xfrm>
            <a:off x="7886700" y="5090950"/>
            <a:ext cx="2057400" cy="533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Instructor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38"/>
          <p:cNvSpPr/>
          <p:nvPr/>
        </p:nvSpPr>
        <p:spPr>
          <a:xfrm>
            <a:off x="2247900" y="5052850"/>
            <a:ext cx="2057400" cy="533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Student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38"/>
          <p:cNvSpPr txBox="1"/>
          <p:nvPr/>
        </p:nvSpPr>
        <p:spPr>
          <a:xfrm>
            <a:off x="4305300" y="5319550"/>
            <a:ext cx="685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1..*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3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Multiplicity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1" name="Google Shape;401;p39"/>
          <p:cNvSpPr txBox="1"/>
          <p:nvPr>
            <p:ph idx="1" type="body"/>
          </p:nvPr>
        </p:nvSpPr>
        <p:spPr>
          <a:xfrm>
            <a:off x="838200" y="1825625"/>
            <a:ext cx="10515600" cy="3652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following d</a:t>
            </a:r>
            <a:r>
              <a:rPr lang="en-US"/>
              <a:t>enotes the minimum number.. maximum number of instances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/>
              <a:t>Exactly one					1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/>
              <a:t>Zero or more				0..*     or	0..m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/>
              <a:t>One or more				1..*	 or	1..m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/>
              <a:t>Zero or one					0..1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/>
              <a:t>Specified range				2..4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/>
              <a:t>Multiple, disjoint ranges	1..3, 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Class Task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7" name="Google Shape;407;p40"/>
          <p:cNvSpPr txBox="1"/>
          <p:nvPr>
            <p:ph idx="1" type="body"/>
          </p:nvPr>
        </p:nvSpPr>
        <p:spPr>
          <a:xfrm>
            <a:off x="838200" y="1825625"/>
            <a:ext cx="10515600" cy="3652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Question to be added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Class Task - Solve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3" name="Google Shape;413;p41"/>
          <p:cNvSpPr txBox="1"/>
          <p:nvPr>
            <p:ph idx="1" type="body"/>
          </p:nvPr>
        </p:nvSpPr>
        <p:spPr>
          <a:xfrm>
            <a:off x="838200" y="1825625"/>
            <a:ext cx="10515600" cy="3652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Solution to be added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