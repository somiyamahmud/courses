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2886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lMwfDqGMCI/xI5LbjjJaYAzWh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2D02D3-6F64-46B9-9DEC-8F8F993C0CBF}">
  <a:tblStyle styleId="{FA2D02D3-6F64-46B9-9DEC-8F8F993C0CB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28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92b631edf_1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892b631edf_1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892b631edf_1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892b631edf_1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892b631edf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3892b631edf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892b631edf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892b631edf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3892b631edf_1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892b631edf_1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892b631edf_1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892b631edf_1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892b631edf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892b631edf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g3892b631edf_1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2f2e0f6241_0_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g32f2e0f6241_0_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g32f2e0f6241_0_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g32f2e0f6241_0_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g32f2e0f6241_0_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21" name="Google Shape;21;g32f2e0f6241_0_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2f2e0f6241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2f2e0f6241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2f2e0f6241_0_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g32f2e0f6241_0_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2f2e0f6241_0_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g32f2e0f6241_0_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g32f2e0f6241_0_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30" name="Google Shape;30;g32f2e0f6241_0_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32f2e0f6241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g32f2e0f6241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2f2e0f6241_0_2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g32f2e0f6241_0_2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g32f2e0f6241_0_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g32f2e0f6241_0_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g32f2e0f6241_0_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39" name="Google Shape;39;g32f2e0f6241_0_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2f2e0f6241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g32f2e0f6241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2f2e0f6241_0_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g32f2e0f6241_0_3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g32f2e0f6241_0_3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g32f2e0f6241_0_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g32f2e0f6241_0_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g32f2e0f6241_0_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49" name="Google Shape;49;g32f2e0f6241_0_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g32f2e0f6241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2f2e0f6241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2f2e0f6241_0_4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g32f2e0f6241_0_43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5" name="Google Shape;55;g32f2e0f6241_0_43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" name="Google Shape;56;g32f2e0f6241_0_4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7" name="Google Shape;57;g32f2e0f6241_0_43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g32f2e0f6241_0_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g32f2e0f6241_0_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32f2e0f6241_0_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61" name="Google Shape;61;g32f2e0f6241_0_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2f2e0f6241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2f2e0f6241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2f2e0f6241_0_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32f2e0f6241_0_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g32f2e0f6241_0_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32f2e0f6241_0_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69" name="Google Shape;69;g32f2e0f6241_0_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2f2e0f6241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2f2e0f6241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f2e0f6241_0_6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32f2e0f6241_0_6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32f2e0f6241_0_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76" name="Google Shape;76;g32f2e0f6241_0_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2f2e0f6241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2f2e0f6241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f2e0f6241_0_7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2f2e0f6241_0_7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82" name="Google Shape;82;g32f2e0f6241_0_70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g32f2e0f6241_0_7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g32f2e0f6241_0_7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2f2e0f6241_0_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86" name="Google Shape;86;g32f2e0f6241_0_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2f2e0f6241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2f2e0f6241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f2e0f6241_0_8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32f2e0f6241_0_8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g32f2e0f6241_0_8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3" name="Google Shape;93;g32f2e0f6241_0_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32f2e0f6241_0_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32f2e0f6241_0_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96" name="Google Shape;96;g32f2e0f6241_0_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2f2e0f6241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2f2e0f6241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f2e0f6241_0_9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g32f2e0f6241_0_90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g32f2e0f6241_0_9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2f2e0f6241_0_9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g32f2e0f6241_0_9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105" name="Google Shape;105;g32f2e0f6241_0_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2f2e0f6241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2f2e0f6241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f2e0f6241_0_99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2f2e0f6241_0_99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g32f2e0f6241_0_9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g32f2e0f6241_0_9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2f2e0f6241_0_9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114" name="Google Shape;114;g32f2e0f6241_0_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2f2e0f6241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2f2e0f6241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2f2e0f6241_0_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g32f2e0f6241_0_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2f2e0f6241_0_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2f2e0f6241_0_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2f2e0f6241_0_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Computer Graphics: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Scan Conversion Algorithms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IE" sz="2400"/>
              <a:t>Line Drawing Algorithm - DDA</a:t>
            </a:r>
            <a:endParaRPr b="1" sz="24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3"/>
          <p:cNvCxnSpPr/>
          <p:nvPr/>
        </p:nvCxnSpPr>
        <p:spPr>
          <a:xfrm>
            <a:off x="2163100" y="3692050"/>
            <a:ext cx="48498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92b631edf_1_1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Scan Conversion</a:t>
            </a:r>
            <a:endParaRPr/>
          </a:p>
        </p:txBody>
      </p:sp>
      <p:sp>
        <p:nvSpPr>
          <p:cNvPr id="129" name="Google Shape;129;g3892b631edf_1_1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line segment in a scene is defined by the coordinate positions of the line end-points</a:t>
            </a:r>
            <a:endParaRPr/>
          </a:p>
        </p:txBody>
      </p:sp>
      <p:grpSp>
        <p:nvGrpSpPr>
          <p:cNvPr id="130" name="Google Shape;130;g3892b631edf_1_139"/>
          <p:cNvGrpSpPr/>
          <p:nvPr/>
        </p:nvGrpSpPr>
        <p:grpSpPr>
          <a:xfrm>
            <a:off x="2601913" y="1991916"/>
            <a:ext cx="3795712" cy="2725341"/>
            <a:chOff x="1499" y="1653"/>
            <a:chExt cx="2391" cy="2289"/>
          </a:xfrm>
        </p:grpSpPr>
        <p:cxnSp>
          <p:nvCxnSpPr>
            <p:cNvPr id="131" name="Google Shape;131;g3892b631edf_1_139"/>
            <p:cNvCxnSpPr/>
            <p:nvPr/>
          </p:nvCxnSpPr>
          <p:spPr>
            <a:xfrm rot="10800000">
              <a:off x="1727" y="1653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2" name="Google Shape;132;g3892b631edf_1_139"/>
            <p:cNvCxnSpPr/>
            <p:nvPr/>
          </p:nvCxnSpPr>
          <p:spPr>
            <a:xfrm rot="10800000">
              <a:off x="2707" y="2623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3" name="Google Shape;133;g3892b631edf_1_139"/>
            <p:cNvSpPr txBox="1"/>
            <p:nvPr/>
          </p:nvSpPr>
          <p:spPr>
            <a:xfrm>
              <a:off x="3590" y="36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g3892b631edf_1_139"/>
            <p:cNvSpPr txBox="1"/>
            <p:nvPr/>
          </p:nvSpPr>
          <p:spPr>
            <a:xfrm>
              <a:off x="1499" y="166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35" name="Google Shape;135;g3892b631edf_1_139"/>
          <p:cNvCxnSpPr/>
          <p:nvPr/>
        </p:nvCxnSpPr>
        <p:spPr>
          <a:xfrm flipH="1" rot="10800000">
            <a:off x="3738563" y="2914772"/>
            <a:ext cx="1906500" cy="9369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36" name="Google Shape;136;g3892b631edf_1_139"/>
          <p:cNvSpPr txBox="1"/>
          <p:nvPr/>
        </p:nvSpPr>
        <p:spPr>
          <a:xfrm>
            <a:off x="3214706" y="3867150"/>
            <a:ext cx="11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(2, 2)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892b631edf_1_139"/>
          <p:cNvSpPr txBox="1"/>
          <p:nvPr/>
        </p:nvSpPr>
        <p:spPr>
          <a:xfrm>
            <a:off x="5611831" y="2624150"/>
            <a:ext cx="11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(7, 5)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892b631edf_1_1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>
            <p:ph type="title"/>
          </p:nvPr>
        </p:nvSpPr>
        <p:spPr>
          <a:xfrm>
            <a:off x="628650" y="273848"/>
            <a:ext cx="7886700" cy="5679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E"/>
              <a:t>The Problem Of Scan Conversion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 txBox="1"/>
          <p:nvPr>
            <p:ph idx="1" type="body"/>
          </p:nvPr>
        </p:nvSpPr>
        <p:spPr>
          <a:xfrm>
            <a:off x="466725" y="1328125"/>
            <a:ext cx="8229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But what happens when we try to draw this on a pixel based display?</a:t>
            </a:r>
            <a:endParaRPr/>
          </a:p>
        </p:txBody>
      </p:sp>
      <p:cxnSp>
        <p:nvCxnSpPr>
          <p:cNvPr id="145" name="Google Shape;145;p4"/>
          <p:cNvCxnSpPr/>
          <p:nvPr/>
        </p:nvCxnSpPr>
        <p:spPr>
          <a:xfrm rot="10800000">
            <a:off x="3351213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4"/>
          <p:cNvCxnSpPr/>
          <p:nvPr/>
        </p:nvCxnSpPr>
        <p:spPr>
          <a:xfrm rot="10800000">
            <a:off x="3736975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4"/>
          <p:cNvCxnSpPr/>
          <p:nvPr/>
        </p:nvCxnSpPr>
        <p:spPr>
          <a:xfrm rot="10800000">
            <a:off x="4121150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4"/>
          <p:cNvCxnSpPr/>
          <p:nvPr/>
        </p:nvCxnSpPr>
        <p:spPr>
          <a:xfrm rot="10800000">
            <a:off x="4500563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4"/>
          <p:cNvCxnSpPr/>
          <p:nvPr/>
        </p:nvCxnSpPr>
        <p:spPr>
          <a:xfrm rot="10800000">
            <a:off x="4884738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4"/>
          <p:cNvCxnSpPr/>
          <p:nvPr/>
        </p:nvCxnSpPr>
        <p:spPr>
          <a:xfrm rot="10800000">
            <a:off x="5264150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4"/>
          <p:cNvCxnSpPr/>
          <p:nvPr/>
        </p:nvCxnSpPr>
        <p:spPr>
          <a:xfrm rot="10800000">
            <a:off x="5648325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4"/>
          <p:cNvCxnSpPr/>
          <p:nvPr/>
        </p:nvCxnSpPr>
        <p:spPr>
          <a:xfrm rot="10800000">
            <a:off x="6027738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4"/>
          <p:cNvCxnSpPr/>
          <p:nvPr/>
        </p:nvCxnSpPr>
        <p:spPr>
          <a:xfrm rot="10800000">
            <a:off x="4499700" y="309235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4"/>
          <p:cNvCxnSpPr/>
          <p:nvPr/>
        </p:nvCxnSpPr>
        <p:spPr>
          <a:xfrm rot="10800000">
            <a:off x="4499700" y="598556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4"/>
          <p:cNvCxnSpPr/>
          <p:nvPr/>
        </p:nvCxnSpPr>
        <p:spPr>
          <a:xfrm rot="10800000">
            <a:off x="4499700" y="88668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4"/>
          <p:cNvCxnSpPr/>
          <p:nvPr/>
        </p:nvCxnSpPr>
        <p:spPr>
          <a:xfrm rot="10800000">
            <a:off x="4499700" y="1171247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4"/>
          <p:cNvCxnSpPr/>
          <p:nvPr/>
        </p:nvCxnSpPr>
        <p:spPr>
          <a:xfrm rot="10800000">
            <a:off x="4499700" y="145937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4"/>
          <p:cNvCxnSpPr/>
          <p:nvPr/>
        </p:nvCxnSpPr>
        <p:spPr>
          <a:xfrm rot="10800000">
            <a:off x="4499700" y="174393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4"/>
          <p:cNvCxnSpPr/>
          <p:nvPr/>
        </p:nvCxnSpPr>
        <p:spPr>
          <a:xfrm rot="10800000">
            <a:off x="4499700" y="203206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4"/>
          <p:cNvCxnSpPr/>
          <p:nvPr/>
        </p:nvCxnSpPr>
        <p:spPr>
          <a:xfrm rot="10800000">
            <a:off x="4499700" y="231662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4"/>
          <p:cNvSpPr/>
          <p:nvPr/>
        </p:nvSpPr>
        <p:spPr>
          <a:xfrm>
            <a:off x="3559175" y="343733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957638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854700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176588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324350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722813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105400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487988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3567113" y="315277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965575" y="315277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862638" y="315277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3184525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332288" y="315277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730750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113338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5495925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3562350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960813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5857875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3179763" y="28670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4327525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725988" y="286702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108575" y="286702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5491163" y="28670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3570288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3968750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865813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187700" y="258246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335463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4733925" y="258246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5116513" y="258246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5499100" y="2582466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3582988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981450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878513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200400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4348163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4746625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129213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511800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590925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3989388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886450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3208338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4356100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4754563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5137150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5519738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3551238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949700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5846763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3168650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4316413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4714875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5097463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5480050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3559175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3957638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5854700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3176588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4324350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4722813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105400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5487988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457200" y="4477941"/>
            <a:ext cx="8229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choose which pixels to turn on?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4"/>
          <p:cNvCxnSpPr/>
          <p:nvPr/>
        </p:nvCxnSpPr>
        <p:spPr>
          <a:xfrm rot="10800000">
            <a:off x="2973388" y="1875169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4"/>
          <p:cNvSpPr/>
          <p:nvPr/>
        </p:nvSpPr>
        <p:spPr>
          <a:xfrm>
            <a:off x="2798763" y="34278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2806700" y="31432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2801938" y="285869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2809875" y="25741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2822575" y="227409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2830513" y="19895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2790825" y="40040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2798763" y="3719513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4"/>
          <p:cNvCxnSpPr/>
          <p:nvPr/>
        </p:nvCxnSpPr>
        <p:spPr>
          <a:xfrm flipH="1" rot="10800000">
            <a:off x="3721100" y="2451506"/>
            <a:ext cx="1879500" cy="11037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36" name="Google Shape;23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Considerations</a:t>
            </a:r>
            <a:endParaRPr/>
          </a:p>
        </p:txBody>
      </p:sp>
      <p:sp>
        <p:nvSpPr>
          <p:cNvPr id="242" name="Google Shape;242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Considerations to keep in mind: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E"/>
              <a:t>The line has to look good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E"/>
              <a:t>Avoid </a:t>
            </a:r>
            <a:r>
              <a:rPr i="1" lang="en-IE"/>
              <a:t>jaggies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E"/>
              <a:t>It has to be lightening fast!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E"/>
              <a:t>How many lines need to be drawn in a typical scene?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E"/>
              <a:t>This is going to come back to bite us again and again</a:t>
            </a:r>
            <a:endParaRPr/>
          </a:p>
        </p:txBody>
      </p:sp>
      <p:sp>
        <p:nvSpPr>
          <p:cNvPr id="243" name="Google Shape;243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Line Equations</a:t>
            </a:r>
            <a:endParaRPr/>
          </a:p>
        </p:txBody>
      </p:sp>
      <p:sp>
        <p:nvSpPr>
          <p:cNvPr id="249" name="Google Shape;249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quickly review the equations involved in drawing lines</a:t>
            </a:r>
            <a:endParaRPr/>
          </a:p>
        </p:txBody>
      </p:sp>
      <p:grpSp>
        <p:nvGrpSpPr>
          <p:cNvPr id="250" name="Google Shape;250;p6"/>
          <p:cNvGrpSpPr/>
          <p:nvPr/>
        </p:nvGrpSpPr>
        <p:grpSpPr>
          <a:xfrm>
            <a:off x="530225" y="1953816"/>
            <a:ext cx="4138613" cy="2796778"/>
            <a:chOff x="484" y="1611"/>
            <a:chExt cx="2607" cy="2349"/>
          </a:xfrm>
        </p:grpSpPr>
        <p:grpSp>
          <p:nvGrpSpPr>
            <p:cNvPr id="251" name="Google Shape;251;p6"/>
            <p:cNvGrpSpPr/>
            <p:nvPr/>
          </p:nvGrpSpPr>
          <p:grpSpPr>
            <a:xfrm>
              <a:off x="700" y="1611"/>
              <a:ext cx="2391" cy="2276"/>
              <a:chOff x="1499" y="1666"/>
              <a:chExt cx="2391" cy="2276"/>
            </a:xfrm>
          </p:grpSpPr>
          <p:cxnSp>
            <p:nvCxnSpPr>
              <p:cNvPr id="252" name="Google Shape;252;p6"/>
              <p:cNvCxnSpPr/>
              <p:nvPr/>
            </p:nvCxnSpPr>
            <p:spPr>
              <a:xfrm rot="10800000">
                <a:off x="1727" y="1727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53" name="Google Shape;253;p6"/>
              <p:cNvCxnSpPr/>
              <p:nvPr/>
            </p:nvCxnSpPr>
            <p:spPr>
              <a:xfrm rot="10800000">
                <a:off x="2670" y="2660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54" name="Google Shape;254;p6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5" name="Google Shape;255;p6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56" name="Google Shape;256;p6"/>
            <p:cNvCxnSpPr/>
            <p:nvPr/>
          </p:nvCxnSpPr>
          <p:spPr>
            <a:xfrm>
              <a:off x="800" y="3149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6"/>
            <p:cNvCxnSpPr/>
            <p:nvPr/>
          </p:nvCxnSpPr>
          <p:spPr>
            <a:xfrm>
              <a:off x="800" y="2371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6"/>
            <p:cNvCxnSpPr/>
            <p:nvPr/>
          </p:nvCxnSpPr>
          <p:spPr>
            <a:xfrm rot="5400000">
              <a:off x="701" y="2994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6"/>
            <p:cNvCxnSpPr/>
            <p:nvPr/>
          </p:nvCxnSpPr>
          <p:spPr>
            <a:xfrm rot="5400000">
              <a:off x="1891" y="2986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6"/>
            <p:cNvSpPr txBox="1"/>
            <p:nvPr/>
          </p:nvSpPr>
          <p:spPr>
            <a:xfrm>
              <a:off x="558" y="299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6"/>
            <p:cNvSpPr txBox="1"/>
            <p:nvPr/>
          </p:nvSpPr>
          <p:spPr>
            <a:xfrm>
              <a:off x="484" y="223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" name="Google Shape;262;p6"/>
            <p:cNvSpPr txBox="1"/>
            <p:nvPr/>
          </p:nvSpPr>
          <p:spPr>
            <a:xfrm>
              <a:off x="2424" y="365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" name="Google Shape;263;p6"/>
            <p:cNvSpPr txBox="1"/>
            <p:nvPr/>
          </p:nvSpPr>
          <p:spPr>
            <a:xfrm>
              <a:off x="1306" y="366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4" name="Google Shape;264;p6"/>
            <p:cNvCxnSpPr/>
            <p:nvPr/>
          </p:nvCxnSpPr>
          <p:spPr>
            <a:xfrm flipH="1" rot="10800000">
              <a:off x="1416" y="2373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265" name="Google Shape;265;p6"/>
          <p:cNvSpPr/>
          <p:nvPr/>
        </p:nvSpPr>
        <p:spPr>
          <a:xfrm>
            <a:off x="4643438" y="1801416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125" y="2587229"/>
            <a:ext cx="1727599" cy="4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6"/>
          <p:cNvSpPr/>
          <p:nvPr/>
        </p:nvSpPr>
        <p:spPr>
          <a:xfrm>
            <a:off x="4643438" y="3003947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8613" y="3342085"/>
            <a:ext cx="1699022" cy="978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5750" y="4345781"/>
            <a:ext cx="1958580" cy="51792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4625" y="3342085"/>
            <a:ext cx="2563416" cy="89296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Line Equations</a:t>
            </a:r>
            <a:endParaRPr/>
          </a:p>
        </p:txBody>
      </p:sp>
      <p:sp>
        <p:nvSpPr>
          <p:cNvPr id="277" name="Google Shape;277;p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quickly review the equations involved in drawing lines</a:t>
            </a:r>
            <a:endParaRPr/>
          </a:p>
        </p:txBody>
      </p:sp>
      <p:grpSp>
        <p:nvGrpSpPr>
          <p:cNvPr id="278" name="Google Shape;278;p7"/>
          <p:cNvGrpSpPr/>
          <p:nvPr/>
        </p:nvGrpSpPr>
        <p:grpSpPr>
          <a:xfrm>
            <a:off x="647700" y="1953816"/>
            <a:ext cx="4021138" cy="2796778"/>
            <a:chOff x="558" y="1611"/>
            <a:chExt cx="2533" cy="2349"/>
          </a:xfrm>
        </p:grpSpPr>
        <p:grpSp>
          <p:nvGrpSpPr>
            <p:cNvPr id="279" name="Google Shape;279;p7"/>
            <p:cNvGrpSpPr/>
            <p:nvPr/>
          </p:nvGrpSpPr>
          <p:grpSpPr>
            <a:xfrm>
              <a:off x="700" y="1611"/>
              <a:ext cx="2391" cy="2276"/>
              <a:chOff x="1499" y="1666"/>
              <a:chExt cx="2391" cy="2276"/>
            </a:xfrm>
          </p:grpSpPr>
          <p:cxnSp>
            <p:nvCxnSpPr>
              <p:cNvPr id="280" name="Google Shape;280;p7"/>
              <p:cNvCxnSpPr/>
              <p:nvPr/>
            </p:nvCxnSpPr>
            <p:spPr>
              <a:xfrm rot="10800000">
                <a:off x="1727" y="1727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81" name="Google Shape;281;p7"/>
              <p:cNvCxnSpPr/>
              <p:nvPr/>
            </p:nvCxnSpPr>
            <p:spPr>
              <a:xfrm rot="10800000">
                <a:off x="2670" y="2660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82" name="Google Shape;282;p7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84" name="Google Shape;284;p7"/>
            <p:cNvCxnSpPr/>
            <p:nvPr/>
          </p:nvCxnSpPr>
          <p:spPr>
            <a:xfrm>
              <a:off x="800" y="3149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7"/>
            <p:cNvCxnSpPr/>
            <p:nvPr/>
          </p:nvCxnSpPr>
          <p:spPr>
            <a:xfrm>
              <a:off x="800" y="2371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6" name="Google Shape;286;p7"/>
            <p:cNvCxnSpPr/>
            <p:nvPr/>
          </p:nvCxnSpPr>
          <p:spPr>
            <a:xfrm rot="5400000">
              <a:off x="701" y="2994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p7"/>
            <p:cNvCxnSpPr/>
            <p:nvPr/>
          </p:nvCxnSpPr>
          <p:spPr>
            <a:xfrm rot="5400000">
              <a:off x="1891" y="2986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88" name="Google Shape;288;p7"/>
            <p:cNvSpPr txBox="1"/>
            <p:nvPr/>
          </p:nvSpPr>
          <p:spPr>
            <a:xfrm>
              <a:off x="558" y="299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" name="Google Shape;289;p7"/>
            <p:cNvSpPr txBox="1"/>
            <p:nvPr/>
          </p:nvSpPr>
          <p:spPr>
            <a:xfrm>
              <a:off x="1306" y="366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0" name="Google Shape;290;p7"/>
            <p:cNvCxnSpPr/>
            <p:nvPr/>
          </p:nvCxnSpPr>
          <p:spPr>
            <a:xfrm flipH="1" rot="10800000">
              <a:off x="1416" y="2373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291" name="Google Shape;291;p7"/>
          <p:cNvSpPr/>
          <p:nvPr/>
        </p:nvSpPr>
        <p:spPr>
          <a:xfrm>
            <a:off x="4643438" y="1801416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125" y="2587229"/>
            <a:ext cx="1727599" cy="4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/>
          <p:nvPr/>
        </p:nvSpPr>
        <p:spPr>
          <a:xfrm>
            <a:off x="4643438" y="3003947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1235075" y="3784997"/>
            <a:ext cx="9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(3, 2)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4011613" y="2540794"/>
            <a:ext cx="9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(9, 6)</a:t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530225" y="2697956"/>
            <a:ext cx="42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3609975" y="4389835"/>
            <a:ext cx="4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5254625" y="4367175"/>
            <a:ext cx="357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E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lang="en-IE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2 - (⅔).3 = 2 - 2 = 0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</a:t>
            </a:r>
            <a:endParaRPr/>
          </a:p>
        </p:txBody>
      </p:sp>
      <p:sp>
        <p:nvSpPr>
          <p:cNvPr id="305" name="Google Shape;305;p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We could simply work out the corresponding </a:t>
            </a:r>
            <a:r>
              <a:rPr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 for each unit </a:t>
            </a:r>
            <a:r>
              <a:rPr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IE"/>
              <a:t> coordinate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Let’s consider the following example:</a:t>
            </a:r>
            <a:endParaRPr/>
          </a:p>
        </p:txBody>
      </p:sp>
      <p:grpSp>
        <p:nvGrpSpPr>
          <p:cNvPr id="306" name="Google Shape;306;p9"/>
          <p:cNvGrpSpPr/>
          <p:nvPr/>
        </p:nvGrpSpPr>
        <p:grpSpPr>
          <a:xfrm>
            <a:off x="2551113" y="2333625"/>
            <a:ext cx="4087812" cy="2796778"/>
            <a:chOff x="1607" y="1960"/>
            <a:chExt cx="2575" cy="2349"/>
          </a:xfrm>
        </p:grpSpPr>
        <p:grpSp>
          <p:nvGrpSpPr>
            <p:cNvPr id="307" name="Google Shape;307;p9"/>
            <p:cNvGrpSpPr/>
            <p:nvPr/>
          </p:nvGrpSpPr>
          <p:grpSpPr>
            <a:xfrm>
              <a:off x="1664" y="1960"/>
              <a:ext cx="2391" cy="2276"/>
              <a:chOff x="1499" y="1666"/>
              <a:chExt cx="2391" cy="2276"/>
            </a:xfrm>
          </p:grpSpPr>
          <p:cxnSp>
            <p:nvCxnSpPr>
              <p:cNvPr id="308" name="Google Shape;308;p9"/>
              <p:cNvCxnSpPr/>
              <p:nvPr/>
            </p:nvCxnSpPr>
            <p:spPr>
              <a:xfrm rot="10800000">
                <a:off x="1727" y="1727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09" name="Google Shape;309;p9"/>
              <p:cNvCxnSpPr/>
              <p:nvPr/>
            </p:nvCxnSpPr>
            <p:spPr>
              <a:xfrm rot="10800000">
                <a:off x="2670" y="2660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10" name="Google Shape;310;p9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" name="Google Shape;311;p9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12" name="Google Shape;312;p9"/>
            <p:cNvCxnSpPr/>
            <p:nvPr/>
          </p:nvCxnSpPr>
          <p:spPr>
            <a:xfrm>
              <a:off x="1764" y="3498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1764" y="2720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9"/>
            <p:cNvCxnSpPr/>
            <p:nvPr/>
          </p:nvCxnSpPr>
          <p:spPr>
            <a:xfrm rot="5400000">
              <a:off x="1665" y="3325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9"/>
            <p:cNvCxnSpPr/>
            <p:nvPr/>
          </p:nvCxnSpPr>
          <p:spPr>
            <a:xfrm rot="5400000">
              <a:off x="2855" y="3335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p9"/>
            <p:cNvCxnSpPr/>
            <p:nvPr/>
          </p:nvCxnSpPr>
          <p:spPr>
            <a:xfrm flipH="1" rot="10800000">
              <a:off x="2380" y="2722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17" name="Google Shape;317;p9"/>
            <p:cNvSpPr txBox="1"/>
            <p:nvPr/>
          </p:nvSpPr>
          <p:spPr>
            <a:xfrm>
              <a:off x="1987" y="349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"/>
            <p:cNvSpPr txBox="1"/>
            <p:nvPr/>
          </p:nvSpPr>
          <p:spPr>
            <a:xfrm>
              <a:off x="3582" y="247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"/>
            <p:cNvSpPr txBox="1"/>
            <p:nvPr/>
          </p:nvSpPr>
          <p:spPr>
            <a:xfrm>
              <a:off x="2295" y="400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3492" y="400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9"/>
            <p:cNvSpPr txBox="1"/>
            <p:nvPr/>
          </p:nvSpPr>
          <p:spPr>
            <a:xfrm>
              <a:off x="1607" y="338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"/>
            <p:cNvSpPr txBox="1"/>
            <p:nvPr/>
          </p:nvSpPr>
          <p:spPr>
            <a:xfrm>
              <a:off x="1616" y="26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10"/>
          <p:cNvCxnSpPr/>
          <p:nvPr/>
        </p:nvCxnSpPr>
        <p:spPr>
          <a:xfrm>
            <a:off x="4578313" y="-18934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10"/>
          <p:cNvCxnSpPr/>
          <p:nvPr/>
        </p:nvCxnSpPr>
        <p:spPr>
          <a:xfrm>
            <a:off x="4578313" y="40715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10"/>
          <p:cNvCxnSpPr/>
          <p:nvPr/>
        </p:nvCxnSpPr>
        <p:spPr>
          <a:xfrm>
            <a:off x="4578313" y="1001278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10"/>
          <p:cNvCxnSpPr/>
          <p:nvPr/>
        </p:nvCxnSpPr>
        <p:spPr>
          <a:xfrm>
            <a:off x="4714138" y="-7326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10"/>
          <p:cNvCxnSpPr/>
          <p:nvPr/>
        </p:nvCxnSpPr>
        <p:spPr>
          <a:xfrm>
            <a:off x="1687513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10"/>
          <p:cNvCxnSpPr/>
          <p:nvPr/>
        </p:nvCxnSpPr>
        <p:spPr>
          <a:xfrm>
            <a:off x="2482850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10"/>
          <p:cNvCxnSpPr/>
          <p:nvPr/>
        </p:nvCxnSpPr>
        <p:spPr>
          <a:xfrm>
            <a:off x="32781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10"/>
          <p:cNvCxnSpPr/>
          <p:nvPr/>
        </p:nvCxnSpPr>
        <p:spPr>
          <a:xfrm>
            <a:off x="40703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10"/>
          <p:cNvCxnSpPr/>
          <p:nvPr/>
        </p:nvCxnSpPr>
        <p:spPr>
          <a:xfrm>
            <a:off x="48958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10"/>
          <p:cNvCxnSpPr/>
          <p:nvPr/>
        </p:nvCxnSpPr>
        <p:spPr>
          <a:xfrm>
            <a:off x="5691188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10"/>
          <p:cNvCxnSpPr/>
          <p:nvPr/>
        </p:nvCxnSpPr>
        <p:spPr>
          <a:xfrm>
            <a:off x="6486525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10"/>
          <p:cNvCxnSpPr/>
          <p:nvPr/>
        </p:nvCxnSpPr>
        <p:spPr>
          <a:xfrm>
            <a:off x="72786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10"/>
          <p:cNvSpPr txBox="1"/>
          <p:nvPr>
            <p:ph type="title"/>
          </p:nvPr>
        </p:nvSpPr>
        <p:spPr>
          <a:xfrm>
            <a:off x="628650" y="179919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 (cont…)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1552575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3948113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2351088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3149600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1555750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3951288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2354263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152775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1554163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949700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2352675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3151188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1560513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3956050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2359025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157538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760913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7156450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559425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6357938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4764088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159625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5562600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6361113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4762500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7158038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5561013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6359525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768850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7164388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567363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365875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10"/>
          <p:cNvCxnSpPr/>
          <p:nvPr/>
        </p:nvCxnSpPr>
        <p:spPr>
          <a:xfrm>
            <a:off x="4578313" y="-13775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10"/>
          <p:cNvCxnSpPr/>
          <p:nvPr/>
        </p:nvCxnSpPr>
        <p:spPr>
          <a:xfrm>
            <a:off x="4578313" y="-1975284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10"/>
          <p:cNvSpPr/>
          <p:nvPr/>
        </p:nvSpPr>
        <p:spPr>
          <a:xfrm>
            <a:off x="1550988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946525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2349500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3148013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1558925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954463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2357438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3155950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759325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7154863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557838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356350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4767263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7162800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565775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364288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911225" y="365641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911225" y="306347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 txBox="1"/>
          <p:nvPr/>
        </p:nvSpPr>
        <p:spPr>
          <a:xfrm>
            <a:off x="911225" y="246578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911225" y="1868091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911225" y="128111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 txBox="1"/>
          <p:nvPr/>
        </p:nvSpPr>
        <p:spPr>
          <a:xfrm>
            <a:off x="911225" y="42481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 txBox="1"/>
          <p:nvPr/>
        </p:nvSpPr>
        <p:spPr>
          <a:xfrm>
            <a:off x="23288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31226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39052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 txBox="1"/>
          <p:nvPr/>
        </p:nvSpPr>
        <p:spPr>
          <a:xfrm>
            <a:off x="4738688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5534025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63309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"/>
          <p:cNvSpPr txBox="1"/>
          <p:nvPr/>
        </p:nvSpPr>
        <p:spPr>
          <a:xfrm>
            <a:off x="15351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 txBox="1"/>
          <p:nvPr/>
        </p:nvSpPr>
        <p:spPr>
          <a:xfrm>
            <a:off x="71167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 (cont…)</a:t>
            </a:r>
            <a:endParaRPr/>
          </a:p>
        </p:txBody>
      </p:sp>
      <p:grpSp>
        <p:nvGrpSpPr>
          <p:cNvPr id="411" name="Google Shape;411;p11"/>
          <p:cNvGrpSpPr/>
          <p:nvPr/>
        </p:nvGrpSpPr>
        <p:grpSpPr>
          <a:xfrm>
            <a:off x="391725" y="1268049"/>
            <a:ext cx="4087800" cy="2177650"/>
            <a:chOff x="129" y="992"/>
            <a:chExt cx="2575" cy="1949"/>
          </a:xfrm>
        </p:grpSpPr>
        <p:cxnSp>
          <p:nvCxnSpPr>
            <p:cNvPr id="412" name="Google Shape;412;p11"/>
            <p:cNvCxnSpPr/>
            <p:nvPr/>
          </p:nvCxnSpPr>
          <p:spPr>
            <a:xfrm>
              <a:off x="286" y="1978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1"/>
            <p:cNvCxnSpPr/>
            <p:nvPr/>
          </p:nvCxnSpPr>
          <p:spPr>
            <a:xfrm>
              <a:off x="286" y="1815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1"/>
            <p:cNvCxnSpPr/>
            <p:nvPr/>
          </p:nvCxnSpPr>
          <p:spPr>
            <a:xfrm>
              <a:off x="286" y="1661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1"/>
            <p:cNvCxnSpPr/>
            <p:nvPr/>
          </p:nvCxnSpPr>
          <p:spPr>
            <a:xfrm>
              <a:off x="286" y="1517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1"/>
            <p:cNvCxnSpPr/>
            <p:nvPr/>
          </p:nvCxnSpPr>
          <p:spPr>
            <a:xfrm rot="10800000">
              <a:off x="414" y="1056"/>
              <a:ext cx="0" cy="162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7" name="Google Shape;417;p11"/>
            <p:cNvCxnSpPr/>
            <p:nvPr/>
          </p:nvCxnSpPr>
          <p:spPr>
            <a:xfrm rot="10800000">
              <a:off x="1357" y="1586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18" name="Google Shape;418;p11"/>
            <p:cNvSpPr txBox="1"/>
            <p:nvPr/>
          </p:nvSpPr>
          <p:spPr>
            <a:xfrm>
              <a:off x="2277" y="256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9" name="Google Shape;419;p11"/>
            <p:cNvSpPr txBox="1"/>
            <p:nvPr/>
          </p:nvSpPr>
          <p:spPr>
            <a:xfrm>
              <a:off x="206" y="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20" name="Google Shape;420;p11"/>
            <p:cNvCxnSpPr/>
            <p:nvPr/>
          </p:nvCxnSpPr>
          <p:spPr>
            <a:xfrm>
              <a:off x="286" y="2130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1"/>
            <p:cNvCxnSpPr/>
            <p:nvPr/>
          </p:nvCxnSpPr>
          <p:spPr>
            <a:xfrm>
              <a:off x="286" y="1352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11"/>
            <p:cNvCxnSpPr/>
            <p:nvPr/>
          </p:nvCxnSpPr>
          <p:spPr>
            <a:xfrm rot="5400000">
              <a:off x="18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11"/>
            <p:cNvCxnSpPr/>
            <p:nvPr/>
          </p:nvCxnSpPr>
          <p:spPr>
            <a:xfrm rot="5400000">
              <a:off x="1377" y="1967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11"/>
            <p:cNvCxnSpPr/>
            <p:nvPr/>
          </p:nvCxnSpPr>
          <p:spPr>
            <a:xfrm flipH="1" rot="10800000">
              <a:off x="902" y="1354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25" name="Google Shape;425;p11"/>
            <p:cNvSpPr txBox="1"/>
            <p:nvPr/>
          </p:nvSpPr>
          <p:spPr>
            <a:xfrm>
              <a:off x="509" y="212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1"/>
            <p:cNvSpPr txBox="1"/>
            <p:nvPr/>
          </p:nvSpPr>
          <p:spPr>
            <a:xfrm>
              <a:off x="2104" y="111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7" name="Google Shape;427;p11"/>
            <p:cNvCxnSpPr/>
            <p:nvPr/>
          </p:nvCxnSpPr>
          <p:spPr>
            <a:xfrm rot="5400000">
              <a:off x="42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11"/>
            <p:cNvCxnSpPr/>
            <p:nvPr/>
          </p:nvCxnSpPr>
          <p:spPr>
            <a:xfrm rot="5400000">
              <a:off x="114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11"/>
            <p:cNvCxnSpPr/>
            <p:nvPr/>
          </p:nvCxnSpPr>
          <p:spPr>
            <a:xfrm rot="5400000">
              <a:off x="66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11"/>
            <p:cNvCxnSpPr/>
            <p:nvPr/>
          </p:nvCxnSpPr>
          <p:spPr>
            <a:xfrm rot="5400000">
              <a:off x="90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431" name="Google Shape;431;p11"/>
            <p:cNvSpPr txBox="1"/>
            <p:nvPr/>
          </p:nvSpPr>
          <p:spPr>
            <a:xfrm>
              <a:off x="817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1"/>
            <p:cNvSpPr txBox="1"/>
            <p:nvPr/>
          </p:nvSpPr>
          <p:spPr>
            <a:xfrm>
              <a:off x="1056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1"/>
            <p:cNvSpPr txBox="1"/>
            <p:nvPr/>
          </p:nvSpPr>
          <p:spPr>
            <a:xfrm>
              <a:off x="1295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1"/>
            <p:cNvSpPr txBox="1"/>
            <p:nvPr/>
          </p:nvSpPr>
          <p:spPr>
            <a:xfrm>
              <a:off x="1535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1"/>
            <p:cNvSpPr txBox="1"/>
            <p:nvPr/>
          </p:nvSpPr>
          <p:spPr>
            <a:xfrm>
              <a:off x="1774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1"/>
            <p:cNvSpPr txBox="1"/>
            <p:nvPr/>
          </p:nvSpPr>
          <p:spPr>
            <a:xfrm>
              <a:off x="2014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1105" y="1937"/>
              <a:ext cx="77" cy="77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1346" y="1785"/>
              <a:ext cx="77" cy="77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1"/>
            <p:cNvSpPr/>
            <p:nvPr/>
          </p:nvSpPr>
          <p:spPr>
            <a:xfrm>
              <a:off x="1587" y="1631"/>
              <a:ext cx="77" cy="77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1"/>
            <p:cNvSpPr/>
            <p:nvPr/>
          </p:nvSpPr>
          <p:spPr>
            <a:xfrm>
              <a:off x="1827" y="1478"/>
              <a:ext cx="77" cy="77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1"/>
            <p:cNvSpPr txBox="1"/>
            <p:nvPr/>
          </p:nvSpPr>
          <p:spPr>
            <a:xfrm>
              <a:off x="129" y="201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1"/>
            <p:cNvSpPr txBox="1"/>
            <p:nvPr/>
          </p:nvSpPr>
          <p:spPr>
            <a:xfrm>
              <a:off x="138" y="123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3" name="Google Shape;4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463" y="1557338"/>
            <a:ext cx="1696639" cy="773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3063" y="2395538"/>
            <a:ext cx="1996680" cy="77390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1"/>
          <p:cNvSpPr txBox="1"/>
          <p:nvPr>
            <p:ph idx="1" type="body"/>
          </p:nvPr>
        </p:nvSpPr>
        <p:spPr>
          <a:xfrm>
            <a:off x="4407263" y="1214388"/>
            <a:ext cx="42513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First work out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E"/>
              <a:t> and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IE"/>
              <a:t>:</a:t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272250" y="3281178"/>
            <a:ext cx="85995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for each </a:t>
            </a:r>
            <a:r>
              <a:rPr b="0" i="1" lang="en-IE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IE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work out the </a:t>
            </a:r>
            <a:r>
              <a:rPr b="0" i="1" lang="en-IE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IE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6825" y="3668316"/>
            <a:ext cx="231695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1375" y="3658791"/>
            <a:ext cx="2340767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5238" y="4436269"/>
            <a:ext cx="2340767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075" y="4395788"/>
            <a:ext cx="2363391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 (cont…)</a:t>
            </a:r>
            <a:endParaRPr/>
          </a:p>
        </p:txBody>
      </p:sp>
      <p:sp>
        <p:nvSpPr>
          <p:cNvPr id="457" name="Google Shape;457;p12"/>
          <p:cNvSpPr txBox="1"/>
          <p:nvPr>
            <p:ph idx="1" type="body"/>
          </p:nvPr>
        </p:nvSpPr>
        <p:spPr>
          <a:xfrm>
            <a:off x="628650" y="1268050"/>
            <a:ext cx="78867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Now just round off the results and turn on these pixels to draw </a:t>
            </a:r>
            <a:br>
              <a:rPr lang="en-IE"/>
            </a:br>
            <a:r>
              <a:rPr lang="en-IE"/>
              <a:t>our line</a:t>
            </a:r>
            <a:endParaRPr/>
          </a:p>
        </p:txBody>
      </p:sp>
      <p:cxnSp>
        <p:nvCxnSpPr>
          <p:cNvPr id="458" name="Google Shape;458;p12"/>
          <p:cNvCxnSpPr/>
          <p:nvPr/>
        </p:nvCxnSpPr>
        <p:spPr>
          <a:xfrm rot="10800000">
            <a:off x="1612900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12"/>
          <p:cNvCxnSpPr/>
          <p:nvPr/>
        </p:nvCxnSpPr>
        <p:spPr>
          <a:xfrm rot="10800000">
            <a:off x="1998663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12"/>
          <p:cNvCxnSpPr/>
          <p:nvPr/>
        </p:nvCxnSpPr>
        <p:spPr>
          <a:xfrm rot="10800000">
            <a:off x="2382838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12"/>
          <p:cNvCxnSpPr/>
          <p:nvPr/>
        </p:nvCxnSpPr>
        <p:spPr>
          <a:xfrm rot="10800000">
            <a:off x="2762250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12"/>
          <p:cNvCxnSpPr/>
          <p:nvPr/>
        </p:nvCxnSpPr>
        <p:spPr>
          <a:xfrm rot="10800000">
            <a:off x="3146425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12"/>
          <p:cNvCxnSpPr/>
          <p:nvPr/>
        </p:nvCxnSpPr>
        <p:spPr>
          <a:xfrm rot="10800000">
            <a:off x="3525838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12"/>
          <p:cNvCxnSpPr/>
          <p:nvPr/>
        </p:nvCxnSpPr>
        <p:spPr>
          <a:xfrm rot="10800000">
            <a:off x="3910013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12"/>
          <p:cNvCxnSpPr/>
          <p:nvPr/>
        </p:nvCxnSpPr>
        <p:spPr>
          <a:xfrm rot="10800000">
            <a:off x="4289425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12"/>
          <p:cNvCxnSpPr/>
          <p:nvPr/>
        </p:nvCxnSpPr>
        <p:spPr>
          <a:xfrm rot="10800000">
            <a:off x="2761389" y="371147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12"/>
          <p:cNvCxnSpPr/>
          <p:nvPr/>
        </p:nvCxnSpPr>
        <p:spPr>
          <a:xfrm rot="10800000">
            <a:off x="2761389" y="66046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12"/>
          <p:cNvCxnSpPr/>
          <p:nvPr/>
        </p:nvCxnSpPr>
        <p:spPr>
          <a:xfrm rot="10800000">
            <a:off x="2761389" y="948600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12"/>
          <p:cNvCxnSpPr/>
          <p:nvPr/>
        </p:nvCxnSpPr>
        <p:spPr>
          <a:xfrm rot="10800000">
            <a:off x="2761389" y="123315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12"/>
          <p:cNvCxnSpPr/>
          <p:nvPr/>
        </p:nvCxnSpPr>
        <p:spPr>
          <a:xfrm rot="10800000">
            <a:off x="2761389" y="152129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12"/>
          <p:cNvCxnSpPr/>
          <p:nvPr/>
        </p:nvCxnSpPr>
        <p:spPr>
          <a:xfrm rot="10800000">
            <a:off x="2761389" y="1805850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12"/>
          <p:cNvCxnSpPr/>
          <p:nvPr/>
        </p:nvCxnSpPr>
        <p:spPr>
          <a:xfrm rot="10800000">
            <a:off x="2761389" y="209398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12"/>
          <p:cNvCxnSpPr/>
          <p:nvPr/>
        </p:nvCxnSpPr>
        <p:spPr>
          <a:xfrm rot="10800000">
            <a:off x="2761389" y="237854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12"/>
          <p:cNvSpPr/>
          <p:nvPr/>
        </p:nvSpPr>
        <p:spPr>
          <a:xfrm>
            <a:off x="1820863" y="3499247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2219325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4116388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1438275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2586038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2984500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3367088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3749675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1828800" y="321468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2227263" y="321468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124325" y="321468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1446213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2593975" y="321468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2992438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3375025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3757613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824038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2222500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4119563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1441450" y="29289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2589213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2987675" y="292893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370263" y="292893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752850" y="29289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1831975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2230438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4127500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1449388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2597150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2995613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3378200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3760788" y="2644379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1844675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2243138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4140200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1462088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2609850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3008313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3390900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3773488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1852613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2251075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4148138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1470025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2617788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3016250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3398838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3781425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1812925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2211388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4108450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1430338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2578100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2976563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3359150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3741738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1820863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2219325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4116388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1438275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2586038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2984500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3367088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3749675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12"/>
          <p:cNvCxnSpPr/>
          <p:nvPr/>
        </p:nvCxnSpPr>
        <p:spPr>
          <a:xfrm rot="10800000">
            <a:off x="1235075" y="1937081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12"/>
          <p:cNvSpPr/>
          <p:nvPr/>
        </p:nvSpPr>
        <p:spPr>
          <a:xfrm>
            <a:off x="1060450" y="348972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1068388" y="3205163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1063625" y="292060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1071563" y="26360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1084263" y="23360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1092200" y="20514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1052513" y="40659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1060450" y="37814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12"/>
          <p:cNvCxnSpPr/>
          <p:nvPr/>
        </p:nvCxnSpPr>
        <p:spPr>
          <a:xfrm flipH="1" rot="10800000">
            <a:off x="1985963" y="2760919"/>
            <a:ext cx="1938300" cy="8562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548" name="Google Shape;5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1829991"/>
            <a:ext cx="2225280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675" y="2541985"/>
            <a:ext cx="220146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800" y="3252788"/>
            <a:ext cx="2225280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800" y="3963591"/>
            <a:ext cx="2249090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2"/>
          <p:cNvSpPr txBox="1"/>
          <p:nvPr/>
        </p:nvSpPr>
        <p:spPr>
          <a:xfrm>
            <a:off x="108267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2"/>
          <p:cNvSpPr txBox="1"/>
          <p:nvPr/>
        </p:nvSpPr>
        <p:spPr>
          <a:xfrm>
            <a:off x="146367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2"/>
          <p:cNvSpPr txBox="1"/>
          <p:nvPr/>
        </p:nvSpPr>
        <p:spPr>
          <a:xfrm>
            <a:off x="1846263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2"/>
          <p:cNvSpPr txBox="1"/>
          <p:nvPr/>
        </p:nvSpPr>
        <p:spPr>
          <a:xfrm>
            <a:off x="2228850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2"/>
          <p:cNvSpPr txBox="1"/>
          <p:nvPr/>
        </p:nvSpPr>
        <p:spPr>
          <a:xfrm>
            <a:off x="2611438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2"/>
          <p:cNvSpPr txBox="1"/>
          <p:nvPr/>
        </p:nvSpPr>
        <p:spPr>
          <a:xfrm>
            <a:off x="299402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2"/>
          <p:cNvSpPr txBox="1"/>
          <p:nvPr/>
        </p:nvSpPr>
        <p:spPr>
          <a:xfrm>
            <a:off x="3376613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2"/>
          <p:cNvSpPr txBox="1"/>
          <p:nvPr/>
        </p:nvSpPr>
        <p:spPr>
          <a:xfrm>
            <a:off x="3759200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2"/>
          <p:cNvSpPr txBox="1"/>
          <p:nvPr/>
        </p:nvSpPr>
        <p:spPr>
          <a:xfrm>
            <a:off x="4141788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2"/>
          <p:cNvSpPr txBox="1"/>
          <p:nvPr/>
        </p:nvSpPr>
        <p:spPr>
          <a:xfrm>
            <a:off x="674688" y="4061222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2"/>
          <p:cNvSpPr txBox="1"/>
          <p:nvPr/>
        </p:nvSpPr>
        <p:spPr>
          <a:xfrm>
            <a:off x="674688" y="376951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 txBox="1"/>
          <p:nvPr/>
        </p:nvSpPr>
        <p:spPr>
          <a:xfrm>
            <a:off x="674688" y="347424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2"/>
          <p:cNvSpPr txBox="1"/>
          <p:nvPr/>
        </p:nvSpPr>
        <p:spPr>
          <a:xfrm>
            <a:off x="674688" y="320516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2"/>
          <p:cNvSpPr txBox="1"/>
          <p:nvPr/>
        </p:nvSpPr>
        <p:spPr>
          <a:xfrm>
            <a:off x="674688" y="290631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2"/>
          <p:cNvSpPr txBox="1"/>
          <p:nvPr/>
        </p:nvSpPr>
        <p:spPr>
          <a:xfrm>
            <a:off x="674688" y="261937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2"/>
          <p:cNvSpPr txBox="1"/>
          <p:nvPr/>
        </p:nvSpPr>
        <p:spPr>
          <a:xfrm>
            <a:off x="674688" y="233838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2"/>
          <p:cNvSpPr txBox="1"/>
          <p:nvPr/>
        </p:nvSpPr>
        <p:spPr>
          <a:xfrm>
            <a:off x="674688" y="203358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2322513" y="3380185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0" name="Google Shape;570;p12"/>
          <p:cNvGraphicFramePr/>
          <p:nvPr/>
        </p:nvGraphicFramePr>
        <p:xfrm>
          <a:off x="7932388" y="1394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{FA2D02D3-6F64-46B9-9DEC-8F8F993C0CBF}</a:tableStyleId>
              </a:tblPr>
              <a:tblGrid>
                <a:gridCol w="1108075"/>
              </a:tblGrid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 u="none" cap="none" strike="noStrike"/>
                        <a:t>Pixel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 u="none" cap="none" strike="noStrike"/>
                        <a:t>(3, 3)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 u="none" cap="none" strike="noStrike"/>
                        <a:t>(4,3)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 u="none" cap="none" strike="noStrike"/>
                        <a:t>(5,4)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 u="none" cap="none" strike="noStrike"/>
                        <a:t>(6,4)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</a:tbl>
          </a:graphicData>
        </a:graphic>
      </p:graphicFrame>
      <p:sp>
        <p:nvSpPr>
          <p:cNvPr id="571" name="Google Shape;571;p12"/>
          <p:cNvSpPr/>
          <p:nvPr/>
        </p:nvSpPr>
        <p:spPr>
          <a:xfrm>
            <a:off x="2678113" y="3232547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3078163" y="3042047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 (cont…)</a:t>
            </a:r>
            <a:endParaRPr/>
          </a:p>
        </p:txBody>
      </p:sp>
      <p:sp>
        <p:nvSpPr>
          <p:cNvPr id="579" name="Google Shape;579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However, this approach is just way too slow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In particular look out for:</a:t>
            </a:r>
            <a:endParaRPr/>
          </a:p>
          <a:p>
            <a:pPr indent="-285750" lvl="1" marL="827088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E"/>
              <a:t>The equation</a:t>
            </a:r>
            <a:r>
              <a:rPr lang="en-IE" sz="700"/>
              <a:t> </a:t>
            </a:r>
            <a:r>
              <a:rPr i="1" lang="en-IE" sz="2100">
                <a:latin typeface="Times New Roman"/>
                <a:ea typeface="Times New Roman"/>
                <a:cs typeface="Times New Roman"/>
                <a:sym typeface="Times New Roman"/>
              </a:rPr>
              <a:t>y = mx + b</a:t>
            </a:r>
            <a:r>
              <a:rPr lang="en-IE"/>
              <a:t> requires the multiplication of </a:t>
            </a:r>
            <a:r>
              <a:rPr i="1" lang="en-IE" sz="2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E"/>
              <a:t> by </a:t>
            </a:r>
            <a:r>
              <a:rPr i="1" lang="en-IE" sz="3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indent="-285750" lvl="1" marL="827088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E"/>
              <a:t>Rounding off the resulting </a:t>
            </a:r>
            <a:r>
              <a:rPr i="1" lang="en-IE" sz="3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We need a faster solution</a:t>
            </a:r>
            <a:endParaRPr/>
          </a:p>
        </p:txBody>
      </p:sp>
      <p:sp>
        <p:nvSpPr>
          <p:cNvPr id="580" name="Google Shape;580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</a:t>
            </a:r>
            <a:endParaRPr/>
          </a:p>
        </p:txBody>
      </p:sp>
      <p:sp>
        <p:nvSpPr>
          <p:cNvPr id="586" name="Google Shape;586;p14"/>
          <p:cNvSpPr txBox="1"/>
          <p:nvPr>
            <p:ph idx="1" type="body"/>
          </p:nvPr>
        </p:nvSpPr>
        <p:spPr>
          <a:xfrm>
            <a:off x="574925" y="1561550"/>
            <a:ext cx="49212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</a:t>
            </a:r>
            <a:r>
              <a:rPr i="1" lang="en-IE"/>
              <a:t>digital differential analyzer</a:t>
            </a:r>
            <a:r>
              <a:rPr lang="en-IE"/>
              <a:t> (DDA) algorithm takes an incremental approach in order to speed up scan conversion</a:t>
            </a:r>
            <a:endParaRPr/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IE"/>
              <a:t>Simply calculate </a:t>
            </a:r>
            <a:r>
              <a:rPr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k+1</a:t>
            </a:r>
            <a:r>
              <a:rPr lang="en-IE"/>
              <a:t> based on </a:t>
            </a:r>
            <a:r>
              <a:rPr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7" name="Google Shape;587;p14"/>
          <p:cNvPicPr preferRelativeResize="0"/>
          <p:nvPr/>
        </p:nvPicPr>
        <p:blipFill rotWithShape="1">
          <a:blip r:embed="rId3">
            <a:alphaModFix/>
          </a:blip>
          <a:srcRect b="20028" l="8097" r="18456" t="6345"/>
          <a:stretch/>
        </p:blipFill>
        <p:spPr>
          <a:xfrm>
            <a:off x="5863775" y="1319116"/>
            <a:ext cx="2591991" cy="1851421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14"/>
          <p:cNvSpPr txBox="1"/>
          <p:nvPr/>
        </p:nvSpPr>
        <p:spPr>
          <a:xfrm>
            <a:off x="5548188" y="3221600"/>
            <a:ext cx="3595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original differential analyzer was a physical machine developed by Vannevar Bush at MIT in the 1930’s in order to solve ordinary differential equations.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sp>
        <p:nvSpPr>
          <p:cNvPr id="595" name="Google Shape;595;p15"/>
          <p:cNvSpPr txBox="1"/>
          <p:nvPr>
            <p:ph idx="1" type="body"/>
          </p:nvPr>
        </p:nvSpPr>
        <p:spPr>
          <a:xfrm>
            <a:off x="628650" y="2032450"/>
            <a:ext cx="82755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Consider the list of points that we determined for the line in our previous example: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	</a:t>
            </a:r>
            <a:r>
              <a:rPr lang="en-IE" sz="2800"/>
              <a:t>(2, 2), (3, 2</a:t>
            </a:r>
            <a:r>
              <a:rPr baseline="30000" lang="en-IE" sz="2800"/>
              <a:t>3</a:t>
            </a:r>
            <a:r>
              <a:rPr lang="en-IE" sz="2800"/>
              <a:t>/</a:t>
            </a:r>
            <a:r>
              <a:rPr baseline="-25000" lang="en-IE" sz="2800"/>
              <a:t>5</a:t>
            </a:r>
            <a:r>
              <a:rPr lang="en-IE" sz="2800"/>
              <a:t>), (4, 3</a:t>
            </a:r>
            <a:r>
              <a:rPr baseline="30000" lang="en-IE" sz="2800"/>
              <a:t>1</a:t>
            </a:r>
            <a:r>
              <a:rPr lang="en-IE" sz="2800"/>
              <a:t>/</a:t>
            </a:r>
            <a:r>
              <a:rPr baseline="-25000" lang="en-IE" sz="2800"/>
              <a:t>5</a:t>
            </a:r>
            <a:r>
              <a:rPr lang="en-IE" sz="2800"/>
              <a:t>), (5, 3</a:t>
            </a:r>
            <a:r>
              <a:rPr baseline="30000" lang="en-IE" sz="2800"/>
              <a:t>4</a:t>
            </a:r>
            <a:r>
              <a:rPr lang="en-IE" sz="2800"/>
              <a:t>/</a:t>
            </a:r>
            <a:r>
              <a:rPr baseline="-25000" lang="en-IE" sz="2800"/>
              <a:t>5</a:t>
            </a:r>
            <a:r>
              <a:rPr lang="en-IE" sz="2800"/>
              <a:t>), (6, 4</a:t>
            </a:r>
            <a:r>
              <a:rPr baseline="30000" lang="en-IE" sz="2800"/>
              <a:t>2</a:t>
            </a:r>
            <a:r>
              <a:rPr lang="en-IE" sz="2800"/>
              <a:t>/</a:t>
            </a:r>
            <a:r>
              <a:rPr baseline="-25000" lang="en-IE" sz="2800"/>
              <a:t>5</a:t>
            </a:r>
            <a:r>
              <a:rPr lang="en-IE" sz="2800"/>
              <a:t>), (7, 5)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Notice that as the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IE"/>
              <a:t> coordinates go up by one, the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coordinates simply go up by the slope of the line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This is the key insight in the DDA algorithm</a:t>
            </a:r>
            <a:endParaRPr/>
          </a:p>
        </p:txBody>
      </p:sp>
      <p:sp>
        <p:nvSpPr>
          <p:cNvPr id="596" name="Google Shape;59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sp>
        <p:nvSpPr>
          <p:cNvPr id="602" name="Google Shape;602;p16"/>
          <p:cNvSpPr txBox="1"/>
          <p:nvPr>
            <p:ph idx="1" type="body"/>
          </p:nvPr>
        </p:nvSpPr>
        <p:spPr>
          <a:xfrm>
            <a:off x="529650" y="1443825"/>
            <a:ext cx="86868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When the slope of the line is between -1 and 1 begin at the first point in the line and, by incrementing the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IE"/>
              <a:t> coordinate by 1, calculate the corresponding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coordinates as follows: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When the slope is outside these limits, increment the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 by 1 and calculate the corresponding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IE"/>
              <a:t> coordinates as follows:</a:t>
            </a:r>
            <a:endParaRPr/>
          </a:p>
        </p:txBody>
      </p:sp>
      <p:pic>
        <p:nvPicPr>
          <p:cNvPr id="603" name="Google Shape;6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6500" y="2289566"/>
            <a:ext cx="2070498" cy="56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950" y="3785406"/>
            <a:ext cx="2070496" cy="9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sp>
        <p:nvSpPr>
          <p:cNvPr id="611" name="Google Shape;611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try out the following examples:</a:t>
            </a:r>
            <a:endParaRPr/>
          </a:p>
        </p:txBody>
      </p:sp>
      <p:grpSp>
        <p:nvGrpSpPr>
          <p:cNvPr id="612" name="Google Shape;612;p17"/>
          <p:cNvGrpSpPr/>
          <p:nvPr/>
        </p:nvGrpSpPr>
        <p:grpSpPr>
          <a:xfrm>
            <a:off x="673100" y="1597819"/>
            <a:ext cx="4087813" cy="3018234"/>
            <a:chOff x="424" y="1342"/>
            <a:chExt cx="2575" cy="2535"/>
          </a:xfrm>
        </p:grpSpPr>
        <p:cxnSp>
          <p:nvCxnSpPr>
            <p:cNvPr id="613" name="Google Shape;613;p17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4" name="Google Shape;614;p17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15" name="Google Shape;615;p17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6" name="Google Shape;616;p17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17" name="Google Shape;617;p17"/>
            <p:cNvCxnSpPr/>
            <p:nvPr/>
          </p:nvCxnSpPr>
          <p:spPr>
            <a:xfrm>
              <a:off x="581" y="3066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17"/>
            <p:cNvCxnSpPr/>
            <p:nvPr/>
          </p:nvCxnSpPr>
          <p:spPr>
            <a:xfrm>
              <a:off x="581" y="2288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19" name="Google Shape;619;p17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20" name="Google Shape;620;p17"/>
            <p:cNvCxnSpPr/>
            <p:nvPr/>
          </p:nvCxnSpPr>
          <p:spPr>
            <a:xfrm rot="5400000">
              <a:off x="1322" y="2552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21" name="Google Shape;621;p17"/>
            <p:cNvCxnSpPr/>
            <p:nvPr/>
          </p:nvCxnSpPr>
          <p:spPr>
            <a:xfrm flipH="1" rot="10800000">
              <a:off x="1197" y="2290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622" name="Google Shape;622;p17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7"/>
            <p:cNvSpPr txBox="1"/>
            <p:nvPr/>
          </p:nvSpPr>
          <p:spPr>
            <a:xfrm>
              <a:off x="2399" y="204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7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7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7"/>
            <p:cNvSpPr txBox="1"/>
            <p:nvPr/>
          </p:nvSpPr>
          <p:spPr>
            <a:xfrm>
              <a:off x="424" y="295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7"/>
            <p:cNvSpPr txBox="1"/>
            <p:nvPr/>
          </p:nvSpPr>
          <p:spPr>
            <a:xfrm>
              <a:off x="433" y="217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628" name="Google Shape;628;p17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{FA2D02D3-6F64-46B9-9DEC-8F8F993C0CBF}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 u="none" cap="none" strike="noStrike"/>
                        <a:t>x(+1)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y(+m)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y(roundoff)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2.6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(3, 3)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(4, 3)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(5, 4)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(6, 4)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629" name="Google Shape;6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" y="4381500"/>
            <a:ext cx="2128840" cy="69413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5" name="Google Shape;635;p19"/>
          <p:cNvCxnSpPr/>
          <p:nvPr/>
        </p:nvCxnSpPr>
        <p:spPr>
          <a:xfrm>
            <a:off x="4578313" y="-18934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19"/>
          <p:cNvCxnSpPr/>
          <p:nvPr/>
        </p:nvCxnSpPr>
        <p:spPr>
          <a:xfrm>
            <a:off x="4578313" y="40715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19"/>
          <p:cNvCxnSpPr/>
          <p:nvPr/>
        </p:nvCxnSpPr>
        <p:spPr>
          <a:xfrm>
            <a:off x="4578313" y="1001278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19"/>
          <p:cNvCxnSpPr/>
          <p:nvPr/>
        </p:nvCxnSpPr>
        <p:spPr>
          <a:xfrm>
            <a:off x="4578313" y="-78704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19"/>
          <p:cNvCxnSpPr/>
          <p:nvPr/>
        </p:nvCxnSpPr>
        <p:spPr>
          <a:xfrm>
            <a:off x="1687513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19"/>
          <p:cNvCxnSpPr/>
          <p:nvPr/>
        </p:nvCxnSpPr>
        <p:spPr>
          <a:xfrm>
            <a:off x="2482850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19"/>
          <p:cNvCxnSpPr/>
          <p:nvPr/>
        </p:nvCxnSpPr>
        <p:spPr>
          <a:xfrm>
            <a:off x="32781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19"/>
          <p:cNvCxnSpPr/>
          <p:nvPr/>
        </p:nvCxnSpPr>
        <p:spPr>
          <a:xfrm>
            <a:off x="40703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19"/>
          <p:cNvCxnSpPr/>
          <p:nvPr/>
        </p:nvCxnSpPr>
        <p:spPr>
          <a:xfrm>
            <a:off x="48958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19"/>
          <p:cNvCxnSpPr/>
          <p:nvPr/>
        </p:nvCxnSpPr>
        <p:spPr>
          <a:xfrm>
            <a:off x="5691188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19"/>
          <p:cNvCxnSpPr/>
          <p:nvPr/>
        </p:nvCxnSpPr>
        <p:spPr>
          <a:xfrm>
            <a:off x="6486525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19"/>
          <p:cNvCxnSpPr/>
          <p:nvPr/>
        </p:nvCxnSpPr>
        <p:spPr>
          <a:xfrm>
            <a:off x="72786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 (cont…)</a:t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1552575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9"/>
          <p:cNvSpPr/>
          <p:nvPr/>
        </p:nvSpPr>
        <p:spPr>
          <a:xfrm>
            <a:off x="3948113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2351088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9"/>
          <p:cNvSpPr/>
          <p:nvPr/>
        </p:nvSpPr>
        <p:spPr>
          <a:xfrm>
            <a:off x="3149600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1555750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3951288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9"/>
          <p:cNvSpPr/>
          <p:nvPr/>
        </p:nvSpPr>
        <p:spPr>
          <a:xfrm>
            <a:off x="2354263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9"/>
          <p:cNvSpPr/>
          <p:nvPr/>
        </p:nvSpPr>
        <p:spPr>
          <a:xfrm>
            <a:off x="3152775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9"/>
          <p:cNvSpPr/>
          <p:nvPr/>
        </p:nvSpPr>
        <p:spPr>
          <a:xfrm>
            <a:off x="1554163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9"/>
          <p:cNvSpPr/>
          <p:nvPr/>
        </p:nvSpPr>
        <p:spPr>
          <a:xfrm>
            <a:off x="3949700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9"/>
          <p:cNvSpPr/>
          <p:nvPr/>
        </p:nvSpPr>
        <p:spPr>
          <a:xfrm>
            <a:off x="2352675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3151188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9"/>
          <p:cNvSpPr/>
          <p:nvPr/>
        </p:nvSpPr>
        <p:spPr>
          <a:xfrm>
            <a:off x="1560513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3956050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9"/>
          <p:cNvSpPr/>
          <p:nvPr/>
        </p:nvSpPr>
        <p:spPr>
          <a:xfrm>
            <a:off x="2359025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9"/>
          <p:cNvSpPr/>
          <p:nvPr/>
        </p:nvSpPr>
        <p:spPr>
          <a:xfrm>
            <a:off x="3157538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4760913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9"/>
          <p:cNvSpPr/>
          <p:nvPr/>
        </p:nvSpPr>
        <p:spPr>
          <a:xfrm>
            <a:off x="7156450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9"/>
          <p:cNvSpPr/>
          <p:nvPr/>
        </p:nvSpPr>
        <p:spPr>
          <a:xfrm>
            <a:off x="5559425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6357938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9"/>
          <p:cNvSpPr/>
          <p:nvPr/>
        </p:nvSpPr>
        <p:spPr>
          <a:xfrm>
            <a:off x="4764088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9"/>
          <p:cNvSpPr/>
          <p:nvPr/>
        </p:nvSpPr>
        <p:spPr>
          <a:xfrm>
            <a:off x="7159625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9"/>
          <p:cNvSpPr/>
          <p:nvPr/>
        </p:nvSpPr>
        <p:spPr>
          <a:xfrm>
            <a:off x="5562600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9"/>
          <p:cNvSpPr/>
          <p:nvPr/>
        </p:nvSpPr>
        <p:spPr>
          <a:xfrm>
            <a:off x="6361113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9"/>
          <p:cNvSpPr/>
          <p:nvPr/>
        </p:nvSpPr>
        <p:spPr>
          <a:xfrm>
            <a:off x="4762500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9"/>
          <p:cNvSpPr/>
          <p:nvPr/>
        </p:nvSpPr>
        <p:spPr>
          <a:xfrm>
            <a:off x="7158038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9"/>
          <p:cNvSpPr/>
          <p:nvPr/>
        </p:nvSpPr>
        <p:spPr>
          <a:xfrm>
            <a:off x="5561013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9"/>
          <p:cNvSpPr/>
          <p:nvPr/>
        </p:nvSpPr>
        <p:spPr>
          <a:xfrm>
            <a:off x="6359525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9"/>
          <p:cNvSpPr/>
          <p:nvPr/>
        </p:nvSpPr>
        <p:spPr>
          <a:xfrm>
            <a:off x="4768850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9"/>
          <p:cNvSpPr/>
          <p:nvPr/>
        </p:nvSpPr>
        <p:spPr>
          <a:xfrm>
            <a:off x="7164388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9"/>
          <p:cNvSpPr/>
          <p:nvPr/>
        </p:nvSpPr>
        <p:spPr>
          <a:xfrm>
            <a:off x="5567363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9"/>
          <p:cNvSpPr/>
          <p:nvPr/>
        </p:nvSpPr>
        <p:spPr>
          <a:xfrm>
            <a:off x="6365875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0" name="Google Shape;680;p19"/>
          <p:cNvCxnSpPr/>
          <p:nvPr/>
        </p:nvCxnSpPr>
        <p:spPr>
          <a:xfrm>
            <a:off x="4578313" y="-13775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19"/>
          <p:cNvCxnSpPr/>
          <p:nvPr/>
        </p:nvCxnSpPr>
        <p:spPr>
          <a:xfrm>
            <a:off x="4578313" y="-1975284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19"/>
          <p:cNvSpPr/>
          <p:nvPr/>
        </p:nvSpPr>
        <p:spPr>
          <a:xfrm>
            <a:off x="1550988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9"/>
          <p:cNvSpPr/>
          <p:nvPr/>
        </p:nvSpPr>
        <p:spPr>
          <a:xfrm>
            <a:off x="3946525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9"/>
          <p:cNvSpPr/>
          <p:nvPr/>
        </p:nvSpPr>
        <p:spPr>
          <a:xfrm>
            <a:off x="2349500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9"/>
          <p:cNvSpPr/>
          <p:nvPr/>
        </p:nvSpPr>
        <p:spPr>
          <a:xfrm>
            <a:off x="3148013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9"/>
          <p:cNvSpPr/>
          <p:nvPr/>
        </p:nvSpPr>
        <p:spPr>
          <a:xfrm>
            <a:off x="1558925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3954463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2357438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3155950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4759325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7154863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5557838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6356350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4767263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9"/>
          <p:cNvSpPr/>
          <p:nvPr/>
        </p:nvSpPr>
        <p:spPr>
          <a:xfrm>
            <a:off x="7162800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9"/>
          <p:cNvSpPr/>
          <p:nvPr/>
        </p:nvSpPr>
        <p:spPr>
          <a:xfrm>
            <a:off x="5565775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6364288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9"/>
          <p:cNvSpPr txBox="1"/>
          <p:nvPr/>
        </p:nvSpPr>
        <p:spPr>
          <a:xfrm>
            <a:off x="911225" y="127277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9"/>
          <p:cNvSpPr txBox="1"/>
          <p:nvPr/>
        </p:nvSpPr>
        <p:spPr>
          <a:xfrm>
            <a:off x="911225" y="42481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9"/>
          <p:cNvSpPr txBox="1"/>
          <p:nvPr/>
        </p:nvSpPr>
        <p:spPr>
          <a:xfrm>
            <a:off x="911225" y="365045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9"/>
          <p:cNvSpPr txBox="1"/>
          <p:nvPr/>
        </p:nvSpPr>
        <p:spPr>
          <a:xfrm>
            <a:off x="911225" y="305276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9"/>
          <p:cNvSpPr txBox="1"/>
          <p:nvPr/>
        </p:nvSpPr>
        <p:spPr>
          <a:xfrm>
            <a:off x="911225" y="246578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9"/>
          <p:cNvSpPr txBox="1"/>
          <p:nvPr/>
        </p:nvSpPr>
        <p:spPr>
          <a:xfrm>
            <a:off x="911225" y="186451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9"/>
          <p:cNvSpPr txBox="1"/>
          <p:nvPr/>
        </p:nvSpPr>
        <p:spPr>
          <a:xfrm>
            <a:off x="23288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9"/>
          <p:cNvSpPr txBox="1"/>
          <p:nvPr/>
        </p:nvSpPr>
        <p:spPr>
          <a:xfrm>
            <a:off x="31226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9"/>
          <p:cNvSpPr txBox="1"/>
          <p:nvPr/>
        </p:nvSpPr>
        <p:spPr>
          <a:xfrm>
            <a:off x="39052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9"/>
          <p:cNvSpPr txBox="1"/>
          <p:nvPr/>
        </p:nvSpPr>
        <p:spPr>
          <a:xfrm>
            <a:off x="4738688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9"/>
          <p:cNvSpPr txBox="1"/>
          <p:nvPr/>
        </p:nvSpPr>
        <p:spPr>
          <a:xfrm>
            <a:off x="5534025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9"/>
          <p:cNvSpPr txBox="1"/>
          <p:nvPr/>
        </p:nvSpPr>
        <p:spPr>
          <a:xfrm>
            <a:off x="63309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9"/>
          <p:cNvSpPr txBox="1"/>
          <p:nvPr/>
        </p:nvSpPr>
        <p:spPr>
          <a:xfrm>
            <a:off x="15351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9"/>
          <p:cNvSpPr txBox="1"/>
          <p:nvPr/>
        </p:nvSpPr>
        <p:spPr>
          <a:xfrm>
            <a:off x="71167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p19"/>
          <p:cNvCxnSpPr/>
          <p:nvPr/>
        </p:nvCxnSpPr>
        <p:spPr>
          <a:xfrm flipH="1" rot="10800000">
            <a:off x="3278188" y="1420379"/>
            <a:ext cx="2412900" cy="2976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0"/>
          <p:cNvSpPr/>
          <p:nvPr/>
        </p:nvSpPr>
        <p:spPr>
          <a:xfrm>
            <a:off x="6432550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9" name="Google Shape;719;p20"/>
          <p:cNvCxnSpPr/>
          <p:nvPr/>
        </p:nvCxnSpPr>
        <p:spPr>
          <a:xfrm>
            <a:off x="7080988" y="804806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sp>
        <p:nvSpPr>
          <p:cNvPr id="721" name="Google Shape;721;p20"/>
          <p:cNvSpPr txBox="1"/>
          <p:nvPr>
            <p:ph idx="1" type="body"/>
          </p:nvPr>
        </p:nvSpPr>
        <p:spPr>
          <a:xfrm>
            <a:off x="595200" y="1537000"/>
            <a:ext cx="8229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Again the values calculated by the equations used by the DDA algorithm must be rounded to match pixel values</a:t>
            </a:r>
            <a:endParaRPr/>
          </a:p>
        </p:txBody>
      </p:sp>
      <p:cxnSp>
        <p:nvCxnSpPr>
          <p:cNvPr id="722" name="Google Shape;722;p20"/>
          <p:cNvCxnSpPr/>
          <p:nvPr/>
        </p:nvCxnSpPr>
        <p:spPr>
          <a:xfrm>
            <a:off x="1155700" y="2290763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20"/>
          <p:cNvCxnSpPr/>
          <p:nvPr/>
        </p:nvCxnSpPr>
        <p:spPr>
          <a:xfrm>
            <a:off x="1951038" y="2307431"/>
            <a:ext cx="0" cy="247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20"/>
          <p:cNvCxnSpPr/>
          <p:nvPr/>
        </p:nvCxnSpPr>
        <p:spPr>
          <a:xfrm>
            <a:off x="2746375" y="2321719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20"/>
          <p:cNvCxnSpPr/>
          <p:nvPr/>
        </p:nvCxnSpPr>
        <p:spPr>
          <a:xfrm>
            <a:off x="3538538" y="2334816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20"/>
          <p:cNvCxnSpPr/>
          <p:nvPr/>
        </p:nvCxnSpPr>
        <p:spPr>
          <a:xfrm>
            <a:off x="2453425" y="1406072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20"/>
          <p:cNvCxnSpPr/>
          <p:nvPr/>
        </p:nvCxnSpPr>
        <p:spPr>
          <a:xfrm>
            <a:off x="2431200" y="2002575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20"/>
          <p:cNvCxnSpPr/>
          <p:nvPr/>
        </p:nvCxnSpPr>
        <p:spPr>
          <a:xfrm>
            <a:off x="2412150" y="2596697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9" name="Google Shape;729;p20"/>
          <p:cNvSpPr/>
          <p:nvPr/>
        </p:nvSpPr>
        <p:spPr>
          <a:xfrm>
            <a:off x="1020763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0"/>
          <p:cNvSpPr/>
          <p:nvPr/>
        </p:nvSpPr>
        <p:spPr>
          <a:xfrm>
            <a:off x="3416300" y="3132535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1819275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2617788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1023938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3419475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1822450" y="3718322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0"/>
          <p:cNvSpPr/>
          <p:nvPr/>
        </p:nvSpPr>
        <p:spPr>
          <a:xfrm>
            <a:off x="2620963" y="3718322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1022350" y="4324350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0"/>
          <p:cNvSpPr/>
          <p:nvPr/>
        </p:nvSpPr>
        <p:spPr>
          <a:xfrm>
            <a:off x="3417888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1820863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0"/>
          <p:cNvSpPr/>
          <p:nvPr/>
        </p:nvSpPr>
        <p:spPr>
          <a:xfrm>
            <a:off x="2619375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1" name="Google Shape;741;p20"/>
          <p:cNvCxnSpPr/>
          <p:nvPr/>
        </p:nvCxnSpPr>
        <p:spPr>
          <a:xfrm flipH="1" rot="10800000">
            <a:off x="411163" y="3128991"/>
            <a:ext cx="3992700" cy="13680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20"/>
          <p:cNvSpPr/>
          <p:nvPr/>
        </p:nvSpPr>
        <p:spPr>
          <a:xfrm>
            <a:off x="1081088" y="4181475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0"/>
          <p:cNvSpPr/>
          <p:nvPr/>
        </p:nvSpPr>
        <p:spPr>
          <a:xfrm>
            <a:off x="1892300" y="3921919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0"/>
          <p:cNvSpPr txBox="1"/>
          <p:nvPr/>
        </p:nvSpPr>
        <p:spPr>
          <a:xfrm>
            <a:off x="134938" y="3860006"/>
            <a:ext cx="90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5" name="Google Shape;745;p20"/>
          <p:cNvCxnSpPr/>
          <p:nvPr/>
        </p:nvCxnSpPr>
        <p:spPr>
          <a:xfrm>
            <a:off x="911225" y="4096941"/>
            <a:ext cx="168300" cy="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20"/>
          <p:cNvSpPr txBox="1"/>
          <p:nvPr/>
        </p:nvSpPr>
        <p:spPr>
          <a:xfrm>
            <a:off x="2274888" y="4012406"/>
            <a:ext cx="13461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+m)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7" name="Google Shape;747;p20"/>
          <p:cNvCxnSpPr/>
          <p:nvPr/>
        </p:nvCxnSpPr>
        <p:spPr>
          <a:xfrm rot="10800000">
            <a:off x="2038225" y="4011104"/>
            <a:ext cx="231900" cy="9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8" name="Google Shape;748;p20"/>
          <p:cNvSpPr txBox="1"/>
          <p:nvPr/>
        </p:nvSpPr>
        <p:spPr>
          <a:xfrm>
            <a:off x="1430338" y="4650581"/>
            <a:ext cx="1551000" cy="4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round(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9" name="Google Shape;749;p20"/>
          <p:cNvCxnSpPr/>
          <p:nvPr/>
        </p:nvCxnSpPr>
        <p:spPr>
          <a:xfrm rot="10800000">
            <a:off x="1231875" y="4515966"/>
            <a:ext cx="206400" cy="200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20"/>
          <p:cNvSpPr txBox="1"/>
          <p:nvPr/>
        </p:nvSpPr>
        <p:spPr>
          <a:xfrm>
            <a:off x="280988" y="3398044"/>
            <a:ext cx="2178000" cy="3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round(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+m))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1" name="Google Shape;751;p20"/>
          <p:cNvCxnSpPr/>
          <p:nvPr/>
        </p:nvCxnSpPr>
        <p:spPr>
          <a:xfrm>
            <a:off x="1768475" y="3625454"/>
            <a:ext cx="98400" cy="9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20"/>
          <p:cNvCxnSpPr/>
          <p:nvPr/>
        </p:nvCxnSpPr>
        <p:spPr>
          <a:xfrm>
            <a:off x="2461363" y="808379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" name="Google Shape;753;p20"/>
          <p:cNvSpPr/>
          <p:nvPr/>
        </p:nvSpPr>
        <p:spPr>
          <a:xfrm>
            <a:off x="1028700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0"/>
          <p:cNvSpPr/>
          <p:nvPr/>
        </p:nvSpPr>
        <p:spPr>
          <a:xfrm>
            <a:off x="3424238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0"/>
          <p:cNvSpPr/>
          <p:nvPr/>
        </p:nvSpPr>
        <p:spPr>
          <a:xfrm>
            <a:off x="1827213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2625725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7" name="Google Shape;757;p20"/>
          <p:cNvCxnSpPr/>
          <p:nvPr/>
        </p:nvCxnSpPr>
        <p:spPr>
          <a:xfrm>
            <a:off x="5775325" y="2287191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20"/>
          <p:cNvCxnSpPr/>
          <p:nvPr/>
        </p:nvCxnSpPr>
        <p:spPr>
          <a:xfrm>
            <a:off x="6570663" y="2303860"/>
            <a:ext cx="0" cy="247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20"/>
          <p:cNvCxnSpPr/>
          <p:nvPr/>
        </p:nvCxnSpPr>
        <p:spPr>
          <a:xfrm>
            <a:off x="7366000" y="2318147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20"/>
          <p:cNvCxnSpPr/>
          <p:nvPr/>
        </p:nvCxnSpPr>
        <p:spPr>
          <a:xfrm>
            <a:off x="8158163" y="2331244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20"/>
          <p:cNvCxnSpPr/>
          <p:nvPr/>
        </p:nvCxnSpPr>
        <p:spPr>
          <a:xfrm>
            <a:off x="7073051" y="1402500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20"/>
          <p:cNvCxnSpPr/>
          <p:nvPr/>
        </p:nvCxnSpPr>
        <p:spPr>
          <a:xfrm>
            <a:off x="7050826" y="1999003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20"/>
          <p:cNvCxnSpPr/>
          <p:nvPr/>
        </p:nvCxnSpPr>
        <p:spPr>
          <a:xfrm>
            <a:off x="7031776" y="2593125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20"/>
          <p:cNvSpPr/>
          <p:nvPr/>
        </p:nvSpPr>
        <p:spPr>
          <a:xfrm>
            <a:off x="5640388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8035925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6438900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0"/>
          <p:cNvSpPr/>
          <p:nvPr/>
        </p:nvSpPr>
        <p:spPr>
          <a:xfrm>
            <a:off x="7237413" y="3128963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5643563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8039100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6426200" y="3725466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7240588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5641975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8037513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6440488" y="4320779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7239000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6" name="Google Shape;776;p20"/>
          <p:cNvCxnSpPr/>
          <p:nvPr/>
        </p:nvCxnSpPr>
        <p:spPr>
          <a:xfrm flipH="1">
            <a:off x="6211750" y="2231231"/>
            <a:ext cx="1630500" cy="24204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7" name="Google Shape;777;p20"/>
          <p:cNvSpPr/>
          <p:nvPr/>
        </p:nvSpPr>
        <p:spPr>
          <a:xfrm>
            <a:off x="6302375" y="4358879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6700838" y="3767138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0"/>
          <p:cNvSpPr txBox="1"/>
          <p:nvPr/>
        </p:nvSpPr>
        <p:spPr>
          <a:xfrm>
            <a:off x="5437188" y="4006454"/>
            <a:ext cx="7191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0" name="Google Shape;780;p20"/>
          <p:cNvCxnSpPr/>
          <p:nvPr/>
        </p:nvCxnSpPr>
        <p:spPr>
          <a:xfrm rot="10800000">
            <a:off x="6816600" y="3862256"/>
            <a:ext cx="155700" cy="16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1" name="Google Shape;781;p20"/>
          <p:cNvSpPr txBox="1"/>
          <p:nvPr/>
        </p:nvSpPr>
        <p:spPr>
          <a:xfrm>
            <a:off x="6951663" y="3951685"/>
            <a:ext cx="14892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baseline="30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2" name="Google Shape;782;p20"/>
          <p:cNvCxnSpPr/>
          <p:nvPr/>
        </p:nvCxnSpPr>
        <p:spPr>
          <a:xfrm rot="10800000">
            <a:off x="6648475" y="4500469"/>
            <a:ext cx="98400" cy="12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" name="Google Shape;783;p20"/>
          <p:cNvCxnSpPr/>
          <p:nvPr/>
        </p:nvCxnSpPr>
        <p:spPr>
          <a:xfrm>
            <a:off x="6153150" y="4248150"/>
            <a:ext cx="146100" cy="10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4" name="Google Shape;784;p20"/>
          <p:cNvCxnSpPr/>
          <p:nvPr/>
        </p:nvCxnSpPr>
        <p:spPr>
          <a:xfrm>
            <a:off x="6388100" y="3621881"/>
            <a:ext cx="98400" cy="9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5" name="Google Shape;785;p20"/>
          <p:cNvSpPr/>
          <p:nvPr/>
        </p:nvSpPr>
        <p:spPr>
          <a:xfrm>
            <a:off x="5648325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8043863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6446838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0"/>
          <p:cNvSpPr/>
          <p:nvPr/>
        </p:nvSpPr>
        <p:spPr>
          <a:xfrm>
            <a:off x="7245350" y="2531269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0"/>
          <p:cNvSpPr txBox="1"/>
          <p:nvPr/>
        </p:nvSpPr>
        <p:spPr>
          <a:xfrm>
            <a:off x="6738938" y="4561285"/>
            <a:ext cx="1551000" cy="3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(round(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0" name="Google Shape;790;p20"/>
          <p:cNvSpPr txBox="1"/>
          <p:nvPr/>
        </p:nvSpPr>
        <p:spPr>
          <a:xfrm>
            <a:off x="4548188" y="3363516"/>
            <a:ext cx="23208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(round(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baseline="30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1"/>
          <p:cNvSpPr txBox="1"/>
          <p:nvPr>
            <p:ph idx="1" type="body"/>
          </p:nvPr>
        </p:nvSpPr>
        <p:spPr>
          <a:xfrm>
            <a:off x="493425" y="1338275"/>
            <a:ext cx="86868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2814"/>
              <a:t>If -1&lt;m&lt;1 then</a:t>
            </a:r>
            <a:endParaRPr sz="2814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	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Then roundoff y.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Otherwise,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Then roundoff x.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97" name="Google Shape;797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pic>
        <p:nvPicPr>
          <p:cNvPr id="798" name="Google Shape;7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2000" y="3681576"/>
            <a:ext cx="1776227" cy="749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0960" y="1752600"/>
            <a:ext cx="1587261" cy="4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5200" y="2178275"/>
            <a:ext cx="1776225" cy="4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0989" y="3315975"/>
            <a:ext cx="1641399" cy="435414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2"/>
          <p:cNvSpPr txBox="1"/>
          <p:nvPr>
            <p:ph type="title"/>
          </p:nvPr>
        </p:nvSpPr>
        <p:spPr>
          <a:xfrm>
            <a:off x="556200" y="237619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sp>
        <p:nvSpPr>
          <p:cNvPr id="808" name="Google Shape;808;p2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try out the following examples:</a:t>
            </a:r>
            <a:endParaRPr/>
          </a:p>
        </p:txBody>
      </p:sp>
      <p:grpSp>
        <p:nvGrpSpPr>
          <p:cNvPr id="809" name="Google Shape;809;p22"/>
          <p:cNvGrpSpPr/>
          <p:nvPr/>
        </p:nvGrpSpPr>
        <p:grpSpPr>
          <a:xfrm>
            <a:off x="673100" y="1597819"/>
            <a:ext cx="3886200" cy="3018234"/>
            <a:chOff x="424" y="1342"/>
            <a:chExt cx="2448" cy="2535"/>
          </a:xfrm>
        </p:grpSpPr>
        <p:cxnSp>
          <p:nvCxnSpPr>
            <p:cNvPr id="810" name="Google Shape;810;p22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11" name="Google Shape;811;p22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12" name="Google Shape;812;p22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3" name="Google Shape;813;p22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14" name="Google Shape;814;p22"/>
            <p:cNvCxnSpPr/>
            <p:nvPr/>
          </p:nvCxnSpPr>
          <p:spPr>
            <a:xfrm>
              <a:off x="581" y="3066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5" name="Google Shape;815;p22"/>
            <p:cNvCxnSpPr/>
            <p:nvPr/>
          </p:nvCxnSpPr>
          <p:spPr>
            <a:xfrm>
              <a:off x="581" y="1804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22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7" name="Google Shape;817;p22"/>
            <p:cNvCxnSpPr/>
            <p:nvPr/>
          </p:nvCxnSpPr>
          <p:spPr>
            <a:xfrm rot="5400000">
              <a:off x="761" y="2497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22"/>
            <p:cNvCxnSpPr/>
            <p:nvPr/>
          </p:nvCxnSpPr>
          <p:spPr>
            <a:xfrm flipH="1" rot="10800000">
              <a:off x="1197" y="1804"/>
              <a:ext cx="633" cy="1273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19" name="Google Shape;819;p22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2"/>
            <p:cNvSpPr txBox="1"/>
            <p:nvPr/>
          </p:nvSpPr>
          <p:spPr>
            <a:xfrm>
              <a:off x="1841" y="154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(5, 7)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2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2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2"/>
            <p:cNvSpPr txBox="1"/>
            <p:nvPr/>
          </p:nvSpPr>
          <p:spPr>
            <a:xfrm>
              <a:off x="424" y="295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2"/>
            <p:cNvSpPr txBox="1"/>
            <p:nvPr/>
          </p:nvSpPr>
          <p:spPr>
            <a:xfrm>
              <a:off x="433" y="217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25" name="Google Shape;825;p22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{FA2D02D3-6F64-46B9-9DEC-8F8F993C0CBF}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y(+1)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x(+1/m)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x(roundoff)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2.6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(3, 3)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(3,</a:t>
                      </a:r>
                      <a:r>
                        <a:rPr lang="en-IE" sz="1400"/>
                        <a:t> 4</a:t>
                      </a:r>
                      <a:r>
                        <a:rPr lang="en-IE" sz="1400"/>
                        <a:t>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(4, 5)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(4, 6)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826" name="Google Shape;8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175" y="4381500"/>
            <a:ext cx="1524001" cy="694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5525" y="1257063"/>
            <a:ext cx="1105484" cy="561974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sp>
        <p:nvSpPr>
          <p:cNvPr id="834" name="Google Shape;834;p2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try out the following examples:</a:t>
            </a:r>
            <a:endParaRPr/>
          </a:p>
        </p:txBody>
      </p:sp>
      <p:grpSp>
        <p:nvGrpSpPr>
          <p:cNvPr id="835" name="Google Shape;835;p23"/>
          <p:cNvGrpSpPr/>
          <p:nvPr/>
        </p:nvGrpSpPr>
        <p:grpSpPr>
          <a:xfrm>
            <a:off x="192088" y="1597819"/>
            <a:ext cx="4367212" cy="3018234"/>
            <a:chOff x="121" y="1342"/>
            <a:chExt cx="2751" cy="2535"/>
          </a:xfrm>
        </p:grpSpPr>
        <p:cxnSp>
          <p:nvCxnSpPr>
            <p:cNvPr id="836" name="Google Shape;836;p23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37" name="Google Shape;837;p23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8" name="Google Shape;838;p23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9" name="Google Shape;839;p23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40" name="Google Shape;840;p23"/>
            <p:cNvCxnSpPr/>
            <p:nvPr/>
          </p:nvCxnSpPr>
          <p:spPr>
            <a:xfrm>
              <a:off x="505" y="3058"/>
              <a:ext cx="2101" cy="8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23"/>
            <p:cNvCxnSpPr/>
            <p:nvPr/>
          </p:nvCxnSpPr>
          <p:spPr>
            <a:xfrm>
              <a:off x="581" y="1804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23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23"/>
            <p:cNvCxnSpPr/>
            <p:nvPr/>
          </p:nvCxnSpPr>
          <p:spPr>
            <a:xfrm rot="5400000">
              <a:off x="-575" y="2497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23"/>
            <p:cNvCxnSpPr/>
            <p:nvPr/>
          </p:nvCxnSpPr>
          <p:spPr>
            <a:xfrm rot="10800000">
              <a:off x="509" y="1804"/>
              <a:ext cx="688" cy="1273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45" name="Google Shape;845;p23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3"/>
            <p:cNvSpPr txBox="1"/>
            <p:nvPr/>
          </p:nvSpPr>
          <p:spPr>
            <a:xfrm>
              <a:off x="121" y="156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(-1, 7)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3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3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49" name="Google Shape;849;p23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{FA2D02D3-6F64-46B9-9DEC-8F8F993C0CBF}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y(+1)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x(+1/m)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x(roundoff)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1.4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1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(1, 3)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0.8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1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(1,</a:t>
                      </a:r>
                      <a:r>
                        <a:rPr lang="en-IE" sz="1400"/>
                        <a:t> 4</a:t>
                      </a:r>
                      <a:r>
                        <a:rPr lang="en-IE" sz="1400"/>
                        <a:t>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0.2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0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(0, 5)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-0.4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0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400"/>
                        <a:t>(0, 6)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850" name="Google Shape;8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338" y="4381500"/>
            <a:ext cx="1860948" cy="69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474" y="1289075"/>
            <a:ext cx="1361649" cy="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4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Summary</a:t>
            </a:r>
            <a:endParaRPr/>
          </a:p>
        </p:txBody>
      </p:sp>
      <p:sp>
        <p:nvSpPr>
          <p:cNvPr id="858" name="Google Shape;858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is much faster than our previous attempt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E"/>
              <a:t>In particular, there are no longer any multiplications involved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However, there are still two big issues: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E"/>
              <a:t>Accumulation of round-off errors can make the pixelated line drift away from what was intended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E"/>
              <a:t>The rounding operations and floating point arithmetic involved are time consuming</a:t>
            </a:r>
            <a:endParaRPr/>
          </a:p>
        </p:txBody>
      </p:sp>
      <p:sp>
        <p:nvSpPr>
          <p:cNvPr id="859" name="Google Shape;859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892b631edf_1_53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Look Closely — Can DDA solve this?</a:t>
            </a:r>
            <a:endParaRPr/>
          </a:p>
        </p:txBody>
      </p:sp>
      <p:sp>
        <p:nvSpPr>
          <p:cNvPr id="865" name="Google Shape;865;g3892b631edf_1_53"/>
          <p:cNvSpPr txBox="1"/>
          <p:nvPr>
            <p:ph idx="1" type="body"/>
          </p:nvPr>
        </p:nvSpPr>
        <p:spPr>
          <a:xfrm>
            <a:off x="628650" y="1369225"/>
            <a:ext cx="788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6" name="Google Shape;866;g3892b631edf_1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69225"/>
            <a:ext cx="6910400" cy="314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892b631edf_1_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892b631edf_1_60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Look Closely — Can DDA solve this?</a:t>
            </a:r>
            <a:endParaRPr/>
          </a:p>
        </p:txBody>
      </p:sp>
      <p:sp>
        <p:nvSpPr>
          <p:cNvPr id="873" name="Google Shape;873;g3892b631edf_1_60"/>
          <p:cNvSpPr txBox="1"/>
          <p:nvPr>
            <p:ph idx="1" type="body"/>
          </p:nvPr>
        </p:nvSpPr>
        <p:spPr>
          <a:xfrm>
            <a:off x="628650" y="1369225"/>
            <a:ext cx="788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E" sz="2300">
                <a:latin typeface="Arial"/>
                <a:ea typeface="Arial"/>
                <a:cs typeface="Arial"/>
                <a:sym typeface="Arial"/>
              </a:rPr>
              <a:t>(8, 1), (9, 1) these points are outside the line segment, so unacceptable.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E" sz="2300">
                <a:latin typeface="Arial"/>
                <a:ea typeface="Arial"/>
                <a:cs typeface="Arial"/>
                <a:sym typeface="Arial"/>
              </a:rPr>
              <a:t>So, we must decrement here. So we need to update our DDA algorithm for these cases.</a:t>
            </a:r>
            <a:endParaRPr sz="1200"/>
          </a:p>
        </p:txBody>
      </p:sp>
      <p:sp>
        <p:nvSpPr>
          <p:cNvPr id="874" name="Google Shape;874;g3892b631edf_1_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892b631edf_1_6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(Revised Version)</a:t>
            </a:r>
            <a:endParaRPr/>
          </a:p>
        </p:txBody>
      </p:sp>
      <p:pic>
        <p:nvPicPr>
          <p:cNvPr id="881" name="Google Shape;881;g3892b631edf_1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69225"/>
            <a:ext cx="6490050" cy="35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g3892b631edf_1_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892b631edf_1_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Now Run the Previous Simulation Again!</a:t>
            </a:r>
            <a:endParaRPr/>
          </a:p>
        </p:txBody>
      </p:sp>
      <p:pic>
        <p:nvPicPr>
          <p:cNvPr id="889" name="Google Shape;889;g3892b631edf_1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300" y="1366175"/>
            <a:ext cx="6203001" cy="357065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g3892b631edf_1_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892b631edf_1_47"/>
          <p:cNvSpPr txBox="1"/>
          <p:nvPr>
            <p:ph type="title"/>
          </p:nvPr>
        </p:nvSpPr>
        <p:spPr>
          <a:xfrm>
            <a:off x="628650" y="273850"/>
            <a:ext cx="7644900" cy="9942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Simulation Exercise</a:t>
            </a:r>
            <a:endParaRPr/>
          </a:p>
        </p:txBody>
      </p:sp>
      <p:sp>
        <p:nvSpPr>
          <p:cNvPr id="897" name="Google Shape;897;g3892b631edf_1_4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Using DDA algorithm find out the first 10 pixels of the lines whose endpoints are given: (</a:t>
            </a:r>
            <a:r>
              <a:rPr lang="en-IE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Always use the </a:t>
            </a:r>
            <a:r>
              <a:rPr b="1" lang="en-IE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Revised DDA</a:t>
            </a:r>
            <a:r>
              <a:rPr lang="en-IE" sz="1800"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10527" lvl="0" marL="9144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ct val="100000"/>
              <a:buAutoNum type="alphaLcParenBoth"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(20, 5), (15, 50)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10527" lvl="0" marL="9144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ct val="100000"/>
              <a:buAutoNum type="alphaLcParenBoth"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(-5, 50), (-15,0)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10527" lvl="0" marL="9144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ct val="100000"/>
              <a:buAutoNum type="alphaLcParenBoth"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(-10, -10), (48, 24)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10527" lvl="0" marL="9144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Arial"/>
              <a:buAutoNum type="alphaLcParenBoth"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(48, 24), (-10, -10)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10527" lvl="0" marL="9144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Arial"/>
              <a:buAutoNum type="alphaLcParenBoth"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(-1011, -2022), (-2022, -1011)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E" sz="1800">
                <a:latin typeface="Arial"/>
                <a:ea typeface="Arial"/>
                <a:cs typeface="Arial"/>
                <a:sym typeface="Arial"/>
              </a:rPr>
              <a:t>Note</a:t>
            </a:r>
            <a:r>
              <a:rPr lang="en-IE" sz="18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IE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Order of endpoints can affect the </a:t>
            </a:r>
            <a:r>
              <a:rPr b="1" i="1" lang="en-IE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r>
              <a:rPr i="1" lang="en-IE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IE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selected</a:t>
            </a:r>
            <a:r>
              <a:rPr i="1" lang="en-IE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from the DDA Algorithm (Check c and d). But the pixels will be </a:t>
            </a:r>
            <a:r>
              <a:rPr b="1" i="1" lang="en-IE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same.</a:t>
            </a:r>
            <a:endParaRPr b="1" i="1" sz="16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892b631edf_1_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2006-08-11T09:25:18Z</dcterms:created>
  <dc:creator>Brian Mac Namee</dc:creator>
</cp:coreProperties>
</file>