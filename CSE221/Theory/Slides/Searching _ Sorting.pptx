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Economica"/>
      <p:regular r:id="rId64"/>
      <p:bold r:id="rId65"/>
      <p:italic r:id="rId66"/>
      <p:boldItalic r:id="rId67"/>
    </p:embeddedFont>
    <p:embeddedFont>
      <p:font typeface="Proxima Nova"/>
      <p:regular r:id="rId68"/>
      <p:bold r:id="rId69"/>
      <p:italic r:id="rId70"/>
      <p:boldItalic r:id="rId71"/>
    </p:embeddedFont>
    <p:embeddedFont>
      <p:font typeface="Open Sans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6" roundtripDataSignature="AMtx7miz0zm87ssrX83q5aYh7+mWx16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.fntdata"/><Relationship Id="rId72" Type="http://schemas.openxmlformats.org/officeDocument/2006/relationships/font" Target="fonts/OpenSans-regular.fntdata"/><Relationship Id="rId31" Type="http://schemas.openxmlformats.org/officeDocument/2006/relationships/slide" Target="slides/slide25.xml"/><Relationship Id="rId75" Type="http://schemas.openxmlformats.org/officeDocument/2006/relationships/font" Target="fonts/OpenSans-boldItalic.fntdata"/><Relationship Id="rId30" Type="http://schemas.openxmlformats.org/officeDocument/2006/relationships/slide" Target="slides/slide24.xml"/><Relationship Id="rId74" Type="http://schemas.openxmlformats.org/officeDocument/2006/relationships/font" Target="fonts/OpenSans-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customschemas.google.com/relationships/presentationmetadata" Target="meta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ProximaNova-boldItalic.fntdata"/><Relationship Id="rId70" Type="http://schemas.openxmlformats.org/officeDocument/2006/relationships/font" Target="fonts/ProximaNova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Economica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Economica-italic.fntdata"/><Relationship Id="rId21" Type="http://schemas.openxmlformats.org/officeDocument/2006/relationships/slide" Target="slides/slide15.xml"/><Relationship Id="rId65" Type="http://schemas.openxmlformats.org/officeDocument/2006/relationships/font" Target="fonts/Economica-bold.fntdata"/><Relationship Id="rId24" Type="http://schemas.openxmlformats.org/officeDocument/2006/relationships/slide" Target="slides/slide18.xml"/><Relationship Id="rId68" Type="http://schemas.openxmlformats.org/officeDocument/2006/relationships/font" Target="fonts/ProximaNova-regular.fntdata"/><Relationship Id="rId23" Type="http://schemas.openxmlformats.org/officeDocument/2006/relationships/slide" Target="slides/slide17.xml"/><Relationship Id="rId67" Type="http://schemas.openxmlformats.org/officeDocument/2006/relationships/font" Target="fonts/Economica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ProximaNova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77c46578b_2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77c46578b_2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77c46578b_2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77c46578b_2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77c46578b_2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b77c46578b_2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77c46578b_2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b77c46578b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77c46578b_2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77c46578b_2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77c46578b_2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b77c46578b_2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b77c46578b_2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b77c46578b_2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77c46578b_2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b77c46578b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77c46578b_2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77c46578b_2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77c46578b_2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b77c46578b_2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b77c46578b_2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b77c46578b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77c46578b_2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b77c46578b_2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77c46578b_2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77c46578b_2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77c46578b_2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b77c46578b_2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77c46578b_2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77c46578b_2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b77c46578b_2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b77c46578b_2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b77c46578b_2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b77c46578b_2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b77c46578b_2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b77c46578b_2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b77c46578b_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b77c46578b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b77c46578b_2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b77c46578b_2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b77c46578b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b77c46578b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77c46578b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b77c46578b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77c46578b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2b77c46578b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b77c46578b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b77c46578b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b77c46578b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2b77c46578b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b77c46578b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2b77c46578b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b77c46578b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2b77c46578b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b77c46578b_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2b77c46578b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b77c46578b_2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2b77c46578b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b77c46578b_2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2b77c46578b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b77c46578b_2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2b77c46578b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b77c46578b_2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2b77c46578b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b77c46578b_2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2b77c46578b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b77c46578b_2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2b77c46578b_2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b77c46578b_2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b77c46578b_2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b77c46578b_2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b77c46578b_2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b77c46578b_2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b77c46578b_2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b77c46578b_2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b77c46578b_2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b77c46578b_2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b77c46578b_2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b77c46578b_2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2b77c46578b_2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b77c46578b_2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2b77c46578b_2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18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18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20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2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1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5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25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77c46578b_2_269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g2b77c46578b_2_269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g2b77c46578b_2_26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g2b77c46578b_2_269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g2b77c46578b_2_2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77c46578b_2_27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g2b77c46578b_2_27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g2b77c46578b_2_27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g2b77c46578b_2_2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77c46578b_2_28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2b77c46578b_2_2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g2b77c46578b_2_28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g2b77c46578b_2_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77c46578b_2_2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g2b77c46578b_2_28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g2b77c46578b_2_28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g2b77c46578b_2_2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77c46578b_2_2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g2b77c46578b_2_2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77c46578b_2_29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g2b77c46578b_2_29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g2b77c46578b_2_2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77c46578b_2_29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2b77c46578b_2_297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g2b77c46578b_2_2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77c46578b_2_30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g2b77c46578b_2_30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g2b77c46578b_2_30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g2b77c46578b_2_30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g2b77c46578b_2_30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g2b77c46578b_2_3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77c46578b_2_30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g2b77c46578b_2_3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77c46578b_2_3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2b77c46578b_2_3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g2b77c46578b_2_3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g2b77c46578b_2_3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77c46578b_2_3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77c46578b_2_2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g2b77c46578b_2_26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g2b77c46578b_2_2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yongdanielliang.github.io/animation/web/LinearSearchNew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yongdanielliang.github.io/animation/web/BinarySearchNew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visualgo.net/en/sorting" TargetMode="External"/><Relationship Id="rId4" Type="http://schemas.openxmlformats.org/officeDocument/2006/relationships/hyperlink" Target="https://www.hackerearth.com/practice/algorithms/sorting/merge-sort/visualize/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GB" sz="4755"/>
              <a:t>Algorithms</a:t>
            </a:r>
            <a:endParaRPr sz="3622"/>
          </a:p>
        </p:txBody>
      </p:sp>
      <p:sp>
        <p:nvSpPr>
          <p:cNvPr id="116" name="Google Shape;116;p1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Mushtari Sadia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>
            <p:ph type="ctrTitle"/>
          </p:nvPr>
        </p:nvSpPr>
        <p:spPr>
          <a:xfrm>
            <a:off x="2885850" y="1989025"/>
            <a:ext cx="33723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8142"/>
              <a:buNone/>
            </a:pPr>
            <a:r>
              <a:rPr lang="en-GB" sz="4755"/>
              <a:t>Searching and Sorting</a:t>
            </a:r>
            <a:endParaRPr sz="362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Linear Search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480700" y="1538250"/>
            <a:ext cx="71679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GB" sz="18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8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linear_search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8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8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8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n-GB" sz="18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8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GB" sz="18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)):</a:t>
            </a:r>
            <a:endParaRPr b="0" i="0" sz="18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8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GB" sz="18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 </a:t>
            </a:r>
            <a:r>
              <a:rPr b="0" i="1" lang="en-GB" sz="18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Return the index if the target is found</a:t>
            </a:r>
            <a:endParaRPr b="0" i="1" sz="18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8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8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8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8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-GB" sz="18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Return -1 if the target is not found</a:t>
            </a:r>
            <a:endParaRPr b="0" i="1" sz="18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Linear Search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480700" y="1538250"/>
            <a:ext cx="71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Linear Search Animation by Y. Daniel Liang (yongdanielliang.github.io)</a:t>
            </a:r>
            <a:endParaRPr b="0" i="1" sz="23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Binary Search</a:t>
            </a:r>
            <a:endParaRPr/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3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binary_search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3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low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350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high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3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350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3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low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high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mid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low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high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50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3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GB" sz="13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  </a:t>
            </a:r>
            <a:r>
              <a:rPr i="1" lang="en-GB" sz="1350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Return the index if the target is found</a:t>
            </a:r>
            <a:endParaRPr i="1" sz="1350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3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low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en-GB" sz="1350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Discard the left half</a:t>
            </a:r>
            <a:endParaRPr i="1" sz="1350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3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high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en-GB" sz="1350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Discard the right half</a:t>
            </a:r>
            <a:endParaRPr i="1" sz="1350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3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13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3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en-GB" sz="1350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Return -1 if the target is not found</a:t>
            </a:r>
            <a:endParaRPr i="1" sz="1350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Binary Search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Binary Search Animation by Y. Daniel Liang (yongdanielliang.github.io)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Ternary Search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311700" y="1192200"/>
            <a:ext cx="4003800" cy="29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3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ternary_search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3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left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3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right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3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3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left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right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partition_size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right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left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3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mid1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left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partition_size</a:t>
            </a:r>
            <a:endParaRPr b="0" i="0" sz="13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mid2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right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partition_size</a:t>
            </a:r>
            <a:endParaRPr b="0" i="0" sz="13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1" sz="13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4572000" y="347175"/>
            <a:ext cx="3669300" cy="4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mid1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mid1  </a:t>
            </a:r>
            <a:endParaRPr b="0" i="1" sz="13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mid2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mid2  </a:t>
            </a:r>
            <a:endParaRPr b="0" i="1" sz="13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mid1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right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mid1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1" sz="13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target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mid2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left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mid2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1" sz="13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3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left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mid1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3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right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mid2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3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3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3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3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3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Selection Sort</a:t>
            </a:r>
            <a:endParaRPr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selection_sort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6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n 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6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6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min_idx 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</a:t>
            </a:r>
            <a:endParaRPr sz="16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16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GB" sz="16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6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n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GB" sz="16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min_idx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16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min_idx 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</a:t>
            </a:r>
            <a:endParaRPr sz="16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min_idx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min_idx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6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16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Bubble Sort</a:t>
            </a:r>
            <a:endParaRPr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bubble_sort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20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n 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20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20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20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GB" sz="20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GB" sz="20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GB" sz="20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GB" sz="20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20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temp = 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20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20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20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20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 = temp</a:t>
            </a:r>
            <a:endParaRPr sz="20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Merge Sort</a:t>
            </a:r>
            <a:endParaRPr/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5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merge_sort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550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5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550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5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mid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550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50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left_half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[: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right_half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:]</a:t>
            </a:r>
            <a:endParaRPr sz="15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merge_sort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left_half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merge_sort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right_half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50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i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k </a:t>
            </a:r>
            <a:r>
              <a:rPr lang="en-GB" sz="1550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550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550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550">
              <a:solidFill>
                <a:srgbClr val="7A3E9D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4395750" y="287850"/>
            <a:ext cx="4182000" cy="4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0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left_half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0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right_half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left_half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right_half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left_half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right_half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j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k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0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left_half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left_half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k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0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right_half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right_half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j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k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b77c46578b_2_3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Quick Sort</a:t>
            </a:r>
            <a:endParaRPr/>
          </a:p>
        </p:txBody>
      </p:sp>
      <p:pic>
        <p:nvPicPr>
          <p:cNvPr id="177" name="Google Shape;177;g2b77c46578b_2_3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50" y="1985425"/>
            <a:ext cx="8839204" cy="691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2b77c46578b_2_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4925"/>
            <a:ext cx="8839202" cy="314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2b77c46578b_2_3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475" y="2416451"/>
            <a:ext cx="6841773" cy="218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2b77c46578b_2_3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2b77c46578b_2_4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2b77c46578b_2_400"/>
          <p:cNvPicPr preferRelativeResize="0"/>
          <p:nvPr/>
        </p:nvPicPr>
        <p:blipFill rotWithShape="1">
          <a:blip r:embed="rId3">
            <a:alphaModFix/>
          </a:blip>
          <a:srcRect b="3800" l="7732" r="84028" t="38352"/>
          <a:stretch/>
        </p:blipFill>
        <p:spPr>
          <a:xfrm>
            <a:off x="2433101" y="1074675"/>
            <a:ext cx="536724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2b77c46578b_2_400"/>
          <p:cNvSpPr/>
          <p:nvPr/>
        </p:nvSpPr>
        <p:spPr>
          <a:xfrm>
            <a:off x="1866575" y="1049575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2b77c46578b_2_4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b77c46578b_2_424"/>
          <p:cNvPicPr preferRelativeResize="0"/>
          <p:nvPr/>
        </p:nvPicPr>
        <p:blipFill rotWithShape="1">
          <a:blip r:embed="rId3">
            <a:alphaModFix/>
          </a:blip>
          <a:srcRect b="3800" l="7732" r="84028" t="38352"/>
          <a:stretch/>
        </p:blipFill>
        <p:spPr>
          <a:xfrm>
            <a:off x="2433101" y="1074675"/>
            <a:ext cx="536724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b77c46578b_2_424"/>
          <p:cNvSpPr/>
          <p:nvPr/>
        </p:nvSpPr>
        <p:spPr>
          <a:xfrm>
            <a:off x="1866575" y="1049575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3" name="Google Shape;203;g2b77c46578b_2_4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963" y="2416449"/>
            <a:ext cx="7594083" cy="242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b77c46578b_2_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b77c46578b_2_407"/>
          <p:cNvPicPr preferRelativeResize="0"/>
          <p:nvPr/>
        </p:nvPicPr>
        <p:blipFill rotWithShape="1">
          <a:blip r:embed="rId3">
            <a:alphaModFix/>
          </a:blip>
          <a:srcRect b="3800" l="7732" r="84028" t="38352"/>
          <a:stretch/>
        </p:blipFill>
        <p:spPr>
          <a:xfrm>
            <a:off x="3044351" y="1049575"/>
            <a:ext cx="536724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b77c46578b_2_407"/>
          <p:cNvSpPr/>
          <p:nvPr/>
        </p:nvSpPr>
        <p:spPr>
          <a:xfrm>
            <a:off x="1866575" y="1049575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2b77c46578b_2_4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2b77c46578b_2_415"/>
          <p:cNvPicPr preferRelativeResize="0"/>
          <p:nvPr/>
        </p:nvPicPr>
        <p:blipFill rotWithShape="1">
          <a:blip r:embed="rId3">
            <a:alphaModFix/>
          </a:blip>
          <a:srcRect b="3800" l="7732" r="84028" t="38352"/>
          <a:stretch/>
        </p:blipFill>
        <p:spPr>
          <a:xfrm>
            <a:off x="3044351" y="1049575"/>
            <a:ext cx="536724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2b77c46578b_2_415"/>
          <p:cNvSpPr/>
          <p:nvPr/>
        </p:nvSpPr>
        <p:spPr>
          <a:xfrm>
            <a:off x="1866575" y="1049575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8" name="Google Shape;218;g2b77c46578b_2_4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075" y="2416449"/>
            <a:ext cx="5131983" cy="24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2b77c46578b_2_4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b77c46578b_2_431"/>
          <p:cNvPicPr preferRelativeResize="0"/>
          <p:nvPr/>
        </p:nvPicPr>
        <p:blipFill rotWithShape="1">
          <a:blip r:embed="rId3">
            <a:alphaModFix/>
          </a:blip>
          <a:srcRect b="3800" l="7732" r="84028" t="38352"/>
          <a:stretch/>
        </p:blipFill>
        <p:spPr>
          <a:xfrm>
            <a:off x="3044351" y="1049575"/>
            <a:ext cx="536724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2b77c46578b_2_431"/>
          <p:cNvSpPr/>
          <p:nvPr/>
        </p:nvSpPr>
        <p:spPr>
          <a:xfrm>
            <a:off x="1866575" y="1049575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6" name="Google Shape;226;g2b77c46578b_2_4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075" y="2416449"/>
            <a:ext cx="5131983" cy="24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b77c46578b_2_431"/>
          <p:cNvPicPr preferRelativeResize="0"/>
          <p:nvPr/>
        </p:nvPicPr>
        <p:blipFill rotWithShape="1">
          <a:blip r:embed="rId3">
            <a:alphaModFix/>
          </a:blip>
          <a:srcRect b="0" l="0" r="91761" t="37067"/>
          <a:stretch/>
        </p:blipFill>
        <p:spPr>
          <a:xfrm>
            <a:off x="1806863" y="945850"/>
            <a:ext cx="536724" cy="145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b77c46578b_2_431"/>
          <p:cNvSpPr/>
          <p:nvPr/>
        </p:nvSpPr>
        <p:spPr>
          <a:xfrm>
            <a:off x="1240400" y="855750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g2b77c46578b_2_431"/>
          <p:cNvSpPr/>
          <p:nvPr/>
        </p:nvSpPr>
        <p:spPr>
          <a:xfrm>
            <a:off x="1806925" y="3434975"/>
            <a:ext cx="2310900" cy="4623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2b77c46578b_2_4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613" y="97000"/>
            <a:ext cx="6514775" cy="23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2b77c46578b_2_454"/>
          <p:cNvPicPr preferRelativeResize="0"/>
          <p:nvPr/>
        </p:nvPicPr>
        <p:blipFill rotWithShape="1">
          <a:blip r:embed="rId3">
            <a:alphaModFix/>
          </a:blip>
          <a:srcRect b="3800" l="7732" r="84028" t="38352"/>
          <a:stretch/>
        </p:blipFill>
        <p:spPr>
          <a:xfrm>
            <a:off x="3044351" y="1049575"/>
            <a:ext cx="536724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2b77c46578b_2_454"/>
          <p:cNvSpPr/>
          <p:nvPr/>
        </p:nvSpPr>
        <p:spPr>
          <a:xfrm>
            <a:off x="1866575" y="1049575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7" name="Google Shape;237;g2b77c46578b_2_4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075" y="2416449"/>
            <a:ext cx="5131983" cy="24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2b77c46578b_2_454"/>
          <p:cNvPicPr preferRelativeResize="0"/>
          <p:nvPr/>
        </p:nvPicPr>
        <p:blipFill rotWithShape="1">
          <a:blip r:embed="rId3">
            <a:alphaModFix/>
          </a:blip>
          <a:srcRect b="0" l="0" r="91761" t="37067"/>
          <a:stretch/>
        </p:blipFill>
        <p:spPr>
          <a:xfrm>
            <a:off x="1806863" y="945850"/>
            <a:ext cx="536724" cy="145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b77c46578b_2_454"/>
          <p:cNvSpPr/>
          <p:nvPr/>
        </p:nvSpPr>
        <p:spPr>
          <a:xfrm>
            <a:off x="1240400" y="855750"/>
            <a:ext cx="417300" cy="125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g2b77c46578b_2_454"/>
          <p:cNvSpPr/>
          <p:nvPr/>
        </p:nvSpPr>
        <p:spPr>
          <a:xfrm>
            <a:off x="2157275" y="3792775"/>
            <a:ext cx="4569600" cy="5070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g2b77c46578b_2_454"/>
          <p:cNvSpPr/>
          <p:nvPr/>
        </p:nvSpPr>
        <p:spPr>
          <a:xfrm>
            <a:off x="1657700" y="542575"/>
            <a:ext cx="760500" cy="5070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g2b77c46578b_2_454"/>
          <p:cNvSpPr/>
          <p:nvPr/>
        </p:nvSpPr>
        <p:spPr>
          <a:xfrm>
            <a:off x="2932463" y="517475"/>
            <a:ext cx="760500" cy="5070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2b77c46578b_2_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075" y="2416449"/>
            <a:ext cx="5131983" cy="24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b77c46578b_2_443"/>
          <p:cNvSpPr/>
          <p:nvPr/>
        </p:nvSpPr>
        <p:spPr>
          <a:xfrm>
            <a:off x="2105100" y="4331700"/>
            <a:ext cx="4569600" cy="5070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9" name="Google Shape;249;g2b77c46578b_2_4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650" y="212025"/>
            <a:ext cx="5858824" cy="20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2b77c46578b_2_4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075" y="2416449"/>
            <a:ext cx="5131983" cy="24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2b77c46578b_2_4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650" y="212025"/>
            <a:ext cx="5858824" cy="20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2b77c46578b_2_469"/>
          <p:cNvPicPr preferRelativeResize="0"/>
          <p:nvPr/>
        </p:nvPicPr>
        <p:blipFill rotWithShape="1">
          <a:blip r:embed="rId5">
            <a:alphaModFix/>
          </a:blip>
          <a:srcRect b="21877" l="0" r="0" t="15614"/>
          <a:stretch/>
        </p:blipFill>
        <p:spPr>
          <a:xfrm>
            <a:off x="2099675" y="2823725"/>
            <a:ext cx="3950774" cy="5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2b77c46578b_2_4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25" y="107675"/>
            <a:ext cx="6520713" cy="21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2b77c46578b_2_3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25" y="107675"/>
            <a:ext cx="6520713" cy="21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b77c46578b_2_382"/>
          <p:cNvSpPr txBox="1"/>
          <p:nvPr/>
        </p:nvSpPr>
        <p:spPr>
          <a:xfrm>
            <a:off x="1255300" y="2659700"/>
            <a:ext cx="57249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arr[j] &lt; arr[pivot] 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2b77c46578b_2_4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25" y="107675"/>
            <a:ext cx="6520713" cy="21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b77c46578b_2_485"/>
          <p:cNvSpPr txBox="1"/>
          <p:nvPr/>
        </p:nvSpPr>
        <p:spPr>
          <a:xfrm>
            <a:off x="1255300" y="2659700"/>
            <a:ext cx="57249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arr[j] &lt; arr[pivot] 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g2b77c46578b_2_485"/>
          <p:cNvSpPr txBox="1"/>
          <p:nvPr/>
        </p:nvSpPr>
        <p:spPr>
          <a:xfrm>
            <a:off x="1270225" y="3270975"/>
            <a:ext cx="3995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No,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ncrease j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2b77c46578b_2_4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25" y="107675"/>
            <a:ext cx="6520713" cy="21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b77c46578b_2_491"/>
          <p:cNvSpPr txBox="1"/>
          <p:nvPr/>
        </p:nvSpPr>
        <p:spPr>
          <a:xfrm>
            <a:off x="1255300" y="2659700"/>
            <a:ext cx="57249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arr[j] &lt; arr[pivot] 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g2b77c46578b_2_491"/>
          <p:cNvSpPr txBox="1"/>
          <p:nvPr/>
        </p:nvSpPr>
        <p:spPr>
          <a:xfrm>
            <a:off x="1270225" y="3270975"/>
            <a:ext cx="3995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No,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increase j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g2b77c46578b_2_491"/>
          <p:cNvSpPr/>
          <p:nvPr/>
        </p:nvSpPr>
        <p:spPr>
          <a:xfrm>
            <a:off x="4669400" y="960125"/>
            <a:ext cx="5217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3" name="Google Shape;283;g2b77c46578b_2_491"/>
          <p:cNvPicPr preferRelativeResize="0"/>
          <p:nvPr/>
        </p:nvPicPr>
        <p:blipFill rotWithShape="1">
          <a:blip r:embed="rId3">
            <a:alphaModFix/>
          </a:blip>
          <a:srcRect b="0" l="49328" r="40840" t="40212"/>
          <a:stretch/>
        </p:blipFill>
        <p:spPr>
          <a:xfrm>
            <a:off x="5399925" y="855750"/>
            <a:ext cx="641074" cy="12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g2b77c46578b_2_5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25" y="107675"/>
            <a:ext cx="6520713" cy="21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2b77c46578b_2_500"/>
          <p:cNvSpPr txBox="1"/>
          <p:nvPr/>
        </p:nvSpPr>
        <p:spPr>
          <a:xfrm>
            <a:off x="1255300" y="2659700"/>
            <a:ext cx="57249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arr[j] &lt; arr[pivot] 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g2b77c46578b_2_500"/>
          <p:cNvSpPr txBox="1"/>
          <p:nvPr/>
        </p:nvSpPr>
        <p:spPr>
          <a:xfrm>
            <a:off x="1270225" y="3270975"/>
            <a:ext cx="3995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No,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increase j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g2b77c46578b_2_500"/>
          <p:cNvSpPr/>
          <p:nvPr/>
        </p:nvSpPr>
        <p:spPr>
          <a:xfrm>
            <a:off x="4669400" y="960125"/>
            <a:ext cx="5217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2" name="Google Shape;292;g2b77c46578b_2_500"/>
          <p:cNvPicPr preferRelativeResize="0"/>
          <p:nvPr/>
        </p:nvPicPr>
        <p:blipFill rotWithShape="1">
          <a:blip r:embed="rId3">
            <a:alphaModFix/>
          </a:blip>
          <a:srcRect b="0" l="49328" r="40840" t="40212"/>
          <a:stretch/>
        </p:blipFill>
        <p:spPr>
          <a:xfrm>
            <a:off x="6026100" y="870650"/>
            <a:ext cx="641074" cy="12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g2b77c46578b_2_5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25" y="107675"/>
            <a:ext cx="6520713" cy="21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2b77c46578b_2_508"/>
          <p:cNvSpPr txBox="1"/>
          <p:nvPr/>
        </p:nvSpPr>
        <p:spPr>
          <a:xfrm>
            <a:off x="1255300" y="2659700"/>
            <a:ext cx="57249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arr[j] &lt; arr[pivot] ?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g2b77c46578b_2_508"/>
          <p:cNvSpPr txBox="1"/>
          <p:nvPr/>
        </p:nvSpPr>
        <p:spPr>
          <a:xfrm>
            <a:off x="1270225" y="3270975"/>
            <a:ext cx="3995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No,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increase j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g2b77c46578b_2_508"/>
          <p:cNvSpPr/>
          <p:nvPr/>
        </p:nvSpPr>
        <p:spPr>
          <a:xfrm>
            <a:off x="4669400" y="960125"/>
            <a:ext cx="5217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1" name="Google Shape;301;g2b77c46578b_2_508"/>
          <p:cNvPicPr preferRelativeResize="0"/>
          <p:nvPr/>
        </p:nvPicPr>
        <p:blipFill rotWithShape="1">
          <a:blip r:embed="rId3">
            <a:alphaModFix/>
          </a:blip>
          <a:srcRect b="0" l="49328" r="40840" t="40212"/>
          <a:stretch/>
        </p:blipFill>
        <p:spPr>
          <a:xfrm>
            <a:off x="6726800" y="2008450"/>
            <a:ext cx="641074" cy="12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2b77c46578b_2_3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88" y="152400"/>
            <a:ext cx="866103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2b77c46578b_2_3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4175"/>
            <a:ext cx="8839201" cy="1540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2b77c46578b_2_5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4175"/>
            <a:ext cx="8839201" cy="154008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b77c46578b_2_518"/>
          <p:cNvSpPr/>
          <p:nvPr/>
        </p:nvSpPr>
        <p:spPr>
          <a:xfrm>
            <a:off x="286250" y="1645925"/>
            <a:ext cx="2117100" cy="1388400"/>
          </a:xfrm>
          <a:prstGeom prst="rect">
            <a:avLst/>
          </a:prstGeom>
          <a:noFill/>
          <a:ln cap="flat" cmpd="sng" w="28575">
            <a:solidFill>
              <a:srgbClr val="1C3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g2b77c46578b_2_518"/>
          <p:cNvSpPr/>
          <p:nvPr/>
        </p:nvSpPr>
        <p:spPr>
          <a:xfrm>
            <a:off x="3435300" y="1494175"/>
            <a:ext cx="4961400" cy="1388400"/>
          </a:xfrm>
          <a:prstGeom prst="rect">
            <a:avLst/>
          </a:prstGeom>
          <a:noFill/>
          <a:ln cap="flat" cmpd="sng" w="28575">
            <a:solidFill>
              <a:srgbClr val="1C3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g2b77c46578b_2_518"/>
          <p:cNvSpPr txBox="1"/>
          <p:nvPr/>
        </p:nvSpPr>
        <p:spPr>
          <a:xfrm>
            <a:off x="390600" y="840850"/>
            <a:ext cx="26985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Repeat for low..pivot-1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g2b77c46578b_2_518"/>
          <p:cNvSpPr txBox="1"/>
          <p:nvPr/>
        </p:nvSpPr>
        <p:spPr>
          <a:xfrm>
            <a:off x="4210550" y="840850"/>
            <a:ext cx="33213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Repeat for pivot+1..high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g2b77c46578b_2_518"/>
          <p:cNvSpPr txBox="1"/>
          <p:nvPr/>
        </p:nvSpPr>
        <p:spPr>
          <a:xfrm>
            <a:off x="1780425" y="3468075"/>
            <a:ext cx="42606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Pivot is in the correct position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2" name="Google Shape;322;g2b77c46578b_2_518"/>
          <p:cNvCxnSpPr/>
          <p:nvPr/>
        </p:nvCxnSpPr>
        <p:spPr>
          <a:xfrm rot="10800000">
            <a:off x="2925000" y="2779100"/>
            <a:ext cx="15000" cy="715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Quick Sort</a:t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135900" y="1230375"/>
            <a:ext cx="5840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0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partition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0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Choose the rightmost element as the pivot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pivot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the index of the smaller element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low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Iterate through the array from low to high-1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0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high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If the current element is smaller than or equal to the pivot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pivot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Swap arr[i+1] and arr[j]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5940550" y="1201150"/>
            <a:ext cx="3017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Swap the pivot (arr[high]) with the element at the partition index (arr[i+1])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0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0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0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Return the partition index</a:t>
            </a:r>
            <a:endParaRPr b="0" i="1" sz="10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0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n-GB" sz="10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0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0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Quick Sort</a:t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427650" y="1192200"/>
            <a:ext cx="7710600" cy="26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5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quicksort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5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5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5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high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5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5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low 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high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5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1" lang="en-GB" sz="15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Partition the array</a:t>
            </a:r>
            <a:endParaRPr b="0" i="1" sz="15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pivot_index 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partition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low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high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5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0" i="0" sz="15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1" lang="en-GB" sz="15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Recursively sort the left and right subarrays</a:t>
            </a:r>
            <a:endParaRPr b="0" i="1" sz="15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quicksort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low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pivot_index 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5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5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quicksort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pivot_index 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5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5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high</a:t>
            </a:r>
            <a:r>
              <a:rPr b="0" i="0" lang="en-GB" sz="15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5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77c46578b_2_15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Heaps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b77c46578b_2_1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Special Binary Tree</a:t>
            </a:r>
            <a:endParaRPr sz="2700"/>
          </a:p>
        </p:txBody>
      </p:sp>
      <p:pic>
        <p:nvPicPr>
          <p:cNvPr id="346" name="Google Shape;346;g2b77c46578b_2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613" y="1170125"/>
            <a:ext cx="6962775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77c46578b_2_1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Properties</a:t>
            </a:r>
            <a:endParaRPr sz="2700"/>
          </a:p>
        </p:txBody>
      </p:sp>
      <p:pic>
        <p:nvPicPr>
          <p:cNvPr id="352" name="Google Shape;352;g2b77c46578b_2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0919" y="1061525"/>
            <a:ext cx="3481375" cy="177164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2b77c46578b_2_168"/>
          <p:cNvSpPr txBox="1"/>
          <p:nvPr/>
        </p:nvSpPr>
        <p:spPr>
          <a:xfrm>
            <a:off x="311700" y="1211925"/>
            <a:ext cx="22374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Complete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4" name="Google Shape;354;g2b77c46578b_2_168"/>
          <p:cNvSpPr txBox="1"/>
          <p:nvPr/>
        </p:nvSpPr>
        <p:spPr>
          <a:xfrm>
            <a:off x="311700" y="2114625"/>
            <a:ext cx="43599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Satisfy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Heap Property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5" name="Google Shape;355;g2b77c46578b_2_168"/>
          <p:cNvSpPr txBox="1"/>
          <p:nvPr/>
        </p:nvSpPr>
        <p:spPr>
          <a:xfrm>
            <a:off x="311700" y="3195025"/>
            <a:ext cx="85206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Value of Parent &gt;= Value of Children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MaxHeap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6" name="Google Shape;356;g2b77c46578b_2_168"/>
          <p:cNvSpPr txBox="1"/>
          <p:nvPr/>
        </p:nvSpPr>
        <p:spPr>
          <a:xfrm>
            <a:off x="311700" y="4097725"/>
            <a:ext cx="85206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Value of Parent &lt;= Value of Children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MinHeap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b77c46578b_2_1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Representation</a:t>
            </a:r>
            <a:endParaRPr sz="2700"/>
          </a:p>
        </p:txBody>
      </p:sp>
      <p:pic>
        <p:nvPicPr>
          <p:cNvPr id="362" name="Google Shape;362;g2b77c46578b_2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3402" y="1189875"/>
            <a:ext cx="4582601" cy="23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2b77c46578b_2_177"/>
          <p:cNvPicPr preferRelativeResize="0"/>
          <p:nvPr/>
        </p:nvPicPr>
        <p:blipFill rotWithShape="1">
          <a:blip r:embed="rId4">
            <a:alphaModFix/>
          </a:blip>
          <a:srcRect b="0" l="2661" r="2290" t="0"/>
          <a:stretch/>
        </p:blipFill>
        <p:spPr>
          <a:xfrm>
            <a:off x="193488" y="3852450"/>
            <a:ext cx="8757001" cy="752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b77c46578b_2_1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Insert</a:t>
            </a:r>
            <a:endParaRPr sz="2700"/>
          </a:p>
        </p:txBody>
      </p:sp>
      <p:pic>
        <p:nvPicPr>
          <p:cNvPr id="369" name="Google Shape;369;g2b77c46578b_2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150375"/>
            <a:ext cx="744855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2b77c46578b_2_183"/>
          <p:cNvSpPr txBox="1"/>
          <p:nvPr/>
        </p:nvSpPr>
        <p:spPr>
          <a:xfrm>
            <a:off x="311700" y="1211925"/>
            <a:ext cx="15069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2b77c46578b_2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700" y="1150375"/>
            <a:ext cx="7020599" cy="375315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2b77c46578b_2_1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Insert</a:t>
            </a:r>
            <a:endParaRPr sz="2700"/>
          </a:p>
        </p:txBody>
      </p:sp>
      <p:sp>
        <p:nvSpPr>
          <p:cNvPr id="377" name="Google Shape;377;g2b77c46578b_2_189"/>
          <p:cNvSpPr txBox="1"/>
          <p:nvPr/>
        </p:nvSpPr>
        <p:spPr>
          <a:xfrm>
            <a:off x="311700" y="1211925"/>
            <a:ext cx="15069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b77c46578b_2_1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Insert</a:t>
            </a:r>
            <a:endParaRPr sz="2700"/>
          </a:p>
        </p:txBody>
      </p:sp>
      <p:pic>
        <p:nvPicPr>
          <p:cNvPr id="383" name="Google Shape;383;g2b77c46578b_2_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150375"/>
            <a:ext cx="744855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2b77c46578b_2_195"/>
          <p:cNvSpPr txBox="1"/>
          <p:nvPr/>
        </p:nvSpPr>
        <p:spPr>
          <a:xfrm>
            <a:off x="311700" y="1211925"/>
            <a:ext cx="19512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102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g2b77c46578b_2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450" y="1211925"/>
            <a:ext cx="7167101" cy="36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2b77c46578b_2_2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Insert</a:t>
            </a:r>
            <a:endParaRPr sz="2700"/>
          </a:p>
        </p:txBody>
      </p:sp>
      <p:sp>
        <p:nvSpPr>
          <p:cNvPr id="391" name="Google Shape;391;g2b77c46578b_2_201"/>
          <p:cNvSpPr txBox="1"/>
          <p:nvPr/>
        </p:nvSpPr>
        <p:spPr>
          <a:xfrm>
            <a:off x="311700" y="1211925"/>
            <a:ext cx="19512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102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g2b77c46578b_2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600" y="1290150"/>
            <a:ext cx="7504800" cy="33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2b77c46578b_2_2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Insert</a:t>
            </a:r>
            <a:endParaRPr sz="2700"/>
          </a:p>
        </p:txBody>
      </p:sp>
      <p:sp>
        <p:nvSpPr>
          <p:cNvPr id="398" name="Google Shape;398;g2b77c46578b_2_208"/>
          <p:cNvSpPr txBox="1"/>
          <p:nvPr/>
        </p:nvSpPr>
        <p:spPr>
          <a:xfrm>
            <a:off x="311700" y="1211925"/>
            <a:ext cx="19512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102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77c46578b_2_2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Delete</a:t>
            </a:r>
            <a:endParaRPr sz="2700"/>
          </a:p>
        </p:txBody>
      </p:sp>
      <p:pic>
        <p:nvPicPr>
          <p:cNvPr id="404" name="Google Shape;404;g2b77c46578b_2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500" y="1140475"/>
            <a:ext cx="3901000" cy="33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2b77c46578b_2_224"/>
          <p:cNvSpPr txBox="1"/>
          <p:nvPr/>
        </p:nvSpPr>
        <p:spPr>
          <a:xfrm>
            <a:off x="311700" y="1211925"/>
            <a:ext cx="2309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GB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b77c46578b_2_2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Delete</a:t>
            </a:r>
            <a:endParaRPr sz="2700"/>
          </a:p>
        </p:txBody>
      </p:sp>
      <p:pic>
        <p:nvPicPr>
          <p:cNvPr id="411" name="Google Shape;411;g2b77c46578b_2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9425" y="1902225"/>
            <a:ext cx="3285150" cy="28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2b77c46578b_2_230"/>
          <p:cNvSpPr txBox="1"/>
          <p:nvPr/>
        </p:nvSpPr>
        <p:spPr>
          <a:xfrm>
            <a:off x="311700" y="1211925"/>
            <a:ext cx="2309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GB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g2b77c46578b_2_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3675" y="1499775"/>
            <a:ext cx="4065075" cy="24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2b77c46578b_2_2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Delete</a:t>
            </a:r>
            <a:endParaRPr sz="2700"/>
          </a:p>
        </p:txBody>
      </p:sp>
      <p:sp>
        <p:nvSpPr>
          <p:cNvPr id="419" name="Google Shape;419;g2b77c46578b_2_236"/>
          <p:cNvSpPr txBox="1"/>
          <p:nvPr/>
        </p:nvSpPr>
        <p:spPr>
          <a:xfrm>
            <a:off x="311700" y="1211925"/>
            <a:ext cx="2309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GB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</a:t>
            </a:r>
            <a:r>
              <a:rPr b="1" i="0" lang="en-GB" sz="30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b77c46578b_2_2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Sort</a:t>
            </a:r>
            <a:endParaRPr sz="2700"/>
          </a:p>
        </p:txBody>
      </p:sp>
      <p:pic>
        <p:nvPicPr>
          <p:cNvPr id="425" name="Google Shape;425;g2b77c46578b_2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550" y="1584775"/>
            <a:ext cx="2840900" cy="25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2b77c46578b_2_253"/>
          <p:cNvSpPr txBox="1"/>
          <p:nvPr/>
        </p:nvSpPr>
        <p:spPr>
          <a:xfrm>
            <a:off x="311700" y="1366350"/>
            <a:ext cx="3169200" cy="94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All Nodes</a:t>
            </a:r>
            <a:endParaRPr b="1" i="0" sz="30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b77c46578b_2_2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Sort</a:t>
            </a:r>
            <a:endParaRPr sz="2700"/>
          </a:p>
        </p:txBody>
      </p:sp>
      <p:pic>
        <p:nvPicPr>
          <p:cNvPr id="432" name="Google Shape;432;g2b77c46578b_2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584775"/>
            <a:ext cx="2840900" cy="25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2b77c46578b_2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9425" y="2143125"/>
            <a:ext cx="32099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2b77c46578b_2_259"/>
          <p:cNvSpPr txBox="1"/>
          <p:nvPr/>
        </p:nvSpPr>
        <p:spPr>
          <a:xfrm>
            <a:off x="2746175" y="3792775"/>
            <a:ext cx="54864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Time complexity: O(nlogn)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2b77c46578b_2_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425" y="0"/>
            <a:ext cx="2622881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2b77c46578b_2_327"/>
          <p:cNvSpPr txBox="1"/>
          <p:nvPr>
            <p:ph type="title"/>
          </p:nvPr>
        </p:nvSpPr>
        <p:spPr>
          <a:xfrm>
            <a:off x="311700" y="315925"/>
            <a:ext cx="18978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Another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Example:</a:t>
            </a:r>
            <a:endParaRPr sz="2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g2b77c46578b_2_3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425" y="152400"/>
            <a:ext cx="34192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g2b77c46578b_2_3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500" y="77850"/>
            <a:ext cx="34192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g2b77c46578b_2_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425" y="152400"/>
            <a:ext cx="34192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g2b77c46578b_2_3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50" y="152400"/>
            <a:ext cx="684737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b77c46578b_2_3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Delete (Pseudocode)</a:t>
            </a:r>
            <a:endParaRPr sz="2700"/>
          </a:p>
        </p:txBody>
      </p:sp>
      <p:pic>
        <p:nvPicPr>
          <p:cNvPr id="466" name="Google Shape;466;g2b77c46578b_2_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375" y="1229350"/>
            <a:ext cx="5289250" cy="3078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b77c46578b_2_3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00"/>
              <a:t>Heap - maxHeapify (Pseudocode)</a:t>
            </a:r>
            <a:endParaRPr sz="2700"/>
          </a:p>
        </p:txBody>
      </p:sp>
      <p:pic>
        <p:nvPicPr>
          <p:cNvPr id="472" name="Google Shape;472;g2b77c46578b_2_3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650" y="1180000"/>
            <a:ext cx="5600700" cy="3609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Count Sort</a:t>
            </a:r>
            <a:endParaRPr/>
          </a:p>
        </p:txBody>
      </p:sp>
      <p:sp>
        <p:nvSpPr>
          <p:cNvPr id="478" name="Google Shape;478;p13"/>
          <p:cNvSpPr txBox="1"/>
          <p:nvPr/>
        </p:nvSpPr>
        <p:spPr>
          <a:xfrm>
            <a:off x="396000" y="1045350"/>
            <a:ext cx="83520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2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count_sort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250" u="none" cap="none" strike="noStrike">
                <a:solidFill>
                  <a:srgbClr val="7A3E9D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2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2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Find the maximum element in the input array</a:t>
            </a:r>
            <a:endParaRPr b="0" i="1" sz="12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max_element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2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2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2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Create a count array to store the count of each element</a:t>
            </a:r>
            <a:endParaRPr b="0" i="1" sz="12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count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2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max_element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2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2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Calculate the count of each element in the input array</a:t>
            </a:r>
            <a:endParaRPr b="0" i="1" sz="12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2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b="0" i="0" lang="en-GB" sz="12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count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2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2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Calculate the cumulative count of elements</a:t>
            </a:r>
            <a:endParaRPr b="0" i="1" sz="12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2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n-GB" sz="12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2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2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2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)):</a:t>
            </a:r>
            <a:endParaRPr b="0" i="0" sz="12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count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count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2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2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2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2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Count Sort</a:t>
            </a:r>
            <a:endParaRPr/>
          </a:p>
        </p:txBody>
      </p:sp>
      <p:sp>
        <p:nvSpPr>
          <p:cNvPr id="484" name="Google Shape;484;p14"/>
          <p:cNvSpPr txBox="1"/>
          <p:nvPr/>
        </p:nvSpPr>
        <p:spPr>
          <a:xfrm>
            <a:off x="396000" y="1045350"/>
            <a:ext cx="8352000" cy="3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4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Create an output array</a:t>
            </a:r>
            <a:endParaRPr b="0" i="1" sz="14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output 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4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GB" sz="1450" u="none" cap="none" strike="noStrike">
                <a:solidFill>
                  <a:srgbClr val="AA373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4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GB" sz="1450" u="none" cap="none" strike="noStrike">
                <a:solidFill>
                  <a:srgbClr val="AAAAAA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# Place the elements in sorted order</a:t>
            </a:r>
            <a:endParaRPr b="0" i="1" sz="1450" u="none" cap="none" strike="noStrike">
              <a:solidFill>
                <a:srgbClr val="AAAAAA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4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b="0" i="0" lang="en-GB" sz="14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arr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450" u="none" cap="none" strike="noStrike">
              <a:solidFill>
                <a:srgbClr val="77777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output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num</a:t>
            </a:r>
            <a:endParaRPr b="0" i="0" sz="14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count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77777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-=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GB" sz="1450" u="none" cap="none" strike="noStrike">
                <a:solidFill>
                  <a:srgbClr val="9C5D27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50" u="none" cap="none" strike="noStrike">
              <a:solidFill>
                <a:srgbClr val="9C5D27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4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1450" u="none" cap="none" strike="noStrike">
                <a:solidFill>
                  <a:srgbClr val="4B69C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output</a:t>
            </a:r>
            <a:endParaRPr b="0" i="0" sz="1450" u="none" cap="none" strike="noStrike">
              <a:solidFill>
                <a:srgbClr val="7A3E9D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GB" sz="1450" u="none" cap="none" strike="noStrike">
                <a:solidFill>
                  <a:srgbClr val="333333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450" u="none" cap="none" strike="noStrike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Sorting</a:t>
            </a:r>
            <a:endParaRPr/>
          </a:p>
        </p:txBody>
      </p:sp>
      <p:sp>
        <p:nvSpPr>
          <p:cNvPr id="490" name="Google Shape;490;p15"/>
          <p:cNvSpPr txBox="1"/>
          <p:nvPr/>
        </p:nvSpPr>
        <p:spPr>
          <a:xfrm>
            <a:off x="544775" y="1714500"/>
            <a:ext cx="8129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0" i="0" lang="en-GB" sz="17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Sorting (Bubble, Selection, Insertion, Merge, Quick, Counting, Radix) - VisuAlgo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GB" sz="18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Merge Sort visualize | Algorithms | HackerEarth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Time Complexity</a:t>
            </a:r>
            <a:endParaRPr/>
          </a:p>
        </p:txBody>
      </p:sp>
      <p:pic>
        <p:nvPicPr>
          <p:cNvPr id="496" name="Google Shape;4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99625"/>
            <a:ext cx="8839200" cy="338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