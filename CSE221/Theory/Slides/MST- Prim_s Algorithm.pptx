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5143500" cx="9144000"/>
  <p:notesSz cx="6858000" cy="9144000"/>
  <p:embeddedFontLst>
    <p:embeddedFont>
      <p:font typeface="Economica"/>
      <p:regular r:id="rId39"/>
      <p:bold r:id="rId40"/>
      <p:italic r:id="rId41"/>
      <p:boldItalic r:id="rId42"/>
    </p:embeddedFont>
    <p:embeddedFont>
      <p:font typeface="Nunito"/>
      <p:regular r:id="rId43"/>
      <p:bold r:id="rId44"/>
      <p:italic r:id="rId45"/>
      <p:boldItalic r:id="rId46"/>
    </p:embeddedFont>
    <p:embeddedFont>
      <p:font typeface="Open Sans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51" roundtripDataSignature="AMtx7mj00RB3JWKP7BIr48KE1FfPoA7E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Economica-bold.fntdata"/><Relationship Id="rId42" Type="http://schemas.openxmlformats.org/officeDocument/2006/relationships/font" Target="fonts/Economica-boldItalic.fntdata"/><Relationship Id="rId41" Type="http://schemas.openxmlformats.org/officeDocument/2006/relationships/font" Target="fonts/Economica-italic.fntdata"/><Relationship Id="rId44" Type="http://schemas.openxmlformats.org/officeDocument/2006/relationships/font" Target="fonts/Nunito-bold.fntdata"/><Relationship Id="rId43" Type="http://schemas.openxmlformats.org/officeDocument/2006/relationships/font" Target="fonts/Nunito-regular.fntdata"/><Relationship Id="rId46" Type="http://schemas.openxmlformats.org/officeDocument/2006/relationships/font" Target="fonts/Nunito-boldItalic.fntdata"/><Relationship Id="rId45" Type="http://schemas.openxmlformats.org/officeDocument/2006/relationships/font" Target="fonts/Nuni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OpenSans-bold.fntdata"/><Relationship Id="rId47" Type="http://schemas.openxmlformats.org/officeDocument/2006/relationships/font" Target="fonts/OpenSans-regular.fntdata"/><Relationship Id="rId49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font" Target="fonts/Economica-regular.fntdata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customschemas.google.com/relationships/presentationmetadata" Target="metadata"/><Relationship Id="rId50" Type="http://schemas.openxmlformats.org/officeDocument/2006/relationships/font" Target="fonts/Open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35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35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35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8" name="Google Shape;18;p3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8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4" name="Google Shape;24;p38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5" name="Google Shape;25;p38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6" name="Google Shape;26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9" name="Google Shape;29;p39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39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4" name="Google Shape;34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7" name="Google Shape;37;p41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2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2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2" name="Google Shape;42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3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" name="Google Shape;45;p43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43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7" name="Google Shape;47;p43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8" name="Google Shape;48;p43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" name="Google Shape;49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4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2" name="Google Shape;52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5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5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45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3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-GB" sz="4755"/>
              <a:t>Algorithms</a:t>
            </a:r>
            <a:endParaRPr sz="3622"/>
          </a:p>
        </p:txBody>
      </p:sp>
      <p:sp>
        <p:nvSpPr>
          <p:cNvPr id="63" name="Google Shape;63;p1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GB"/>
              <a:t>Mushtari Sadia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8142"/>
              <a:buNone/>
            </a:pPr>
            <a:r>
              <a:rPr lang="en-GB" sz="4755"/>
              <a:t>Minimum Spanning Tree</a:t>
            </a:r>
            <a:endParaRPr sz="3622"/>
          </a:p>
        </p:txBody>
      </p:sp>
      <p:sp>
        <p:nvSpPr>
          <p:cNvPr id="69" name="Google Shape;69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GB"/>
              <a:t>Prim’s and Kruskal’s Algorithm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4700" y="57375"/>
            <a:ext cx="6447406" cy="4838703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3"/>
          <p:cNvSpPr txBox="1"/>
          <p:nvPr>
            <p:ph type="title"/>
          </p:nvPr>
        </p:nvSpPr>
        <p:spPr>
          <a:xfrm rot="-5400000">
            <a:off x="-1725950" y="2081225"/>
            <a:ext cx="4993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GB"/>
              <a:t>Recall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GB"/>
              <a:t>Difference Between Tree and Spanning Tree</a:t>
            </a:r>
            <a:endParaRPr/>
          </a:p>
        </p:txBody>
      </p:sp>
      <p:sp>
        <p:nvSpPr>
          <p:cNvPr id="81" name="Google Shape;81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 tree is a type of graph. A spanning tree is a subgraph of the graph that is a tree and hits every vertex.</a:t>
            </a:r>
            <a:endParaRPr/>
          </a:p>
        </p:txBody>
      </p:sp>
      <p:pic>
        <p:nvPicPr>
          <p:cNvPr id="82" name="Google Shape;82;p4"/>
          <p:cNvPicPr preferRelativeResize="0"/>
          <p:nvPr/>
        </p:nvPicPr>
        <p:blipFill rotWithShape="1">
          <a:blip r:embed="rId3">
            <a:alphaModFix/>
          </a:blip>
          <a:srcRect b="53018" l="0" r="64023" t="0"/>
          <a:stretch/>
        </p:blipFill>
        <p:spPr>
          <a:xfrm>
            <a:off x="1808425" y="2207500"/>
            <a:ext cx="1590025" cy="23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4"/>
          <p:cNvPicPr preferRelativeResize="0"/>
          <p:nvPr/>
        </p:nvPicPr>
        <p:blipFill rotWithShape="1">
          <a:blip r:embed="rId3">
            <a:alphaModFix/>
          </a:blip>
          <a:srcRect b="0" l="0" r="0" t="46979"/>
          <a:stretch/>
        </p:blipFill>
        <p:spPr>
          <a:xfrm>
            <a:off x="4412700" y="2207500"/>
            <a:ext cx="4419600" cy="267652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"/>
          <p:cNvSpPr txBox="1"/>
          <p:nvPr/>
        </p:nvSpPr>
        <p:spPr>
          <a:xfrm>
            <a:off x="987050" y="2116875"/>
            <a:ext cx="11046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This graph: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GB"/>
              <a:t>Minimum Spanning Tree (MST)</a:t>
            </a:r>
            <a:endParaRPr/>
          </a:p>
        </p:txBody>
      </p:sp>
      <p:sp>
        <p:nvSpPr>
          <p:cNvPr id="90" name="Google Shape;90;p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Minimum spanning tree is the spanning tree where the cost is minimum among all the spanning trees.</a:t>
            </a:r>
            <a:endParaRPr/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 b="56303" l="0" r="66588" t="0"/>
          <a:stretch/>
        </p:blipFill>
        <p:spPr>
          <a:xfrm>
            <a:off x="311697" y="2411375"/>
            <a:ext cx="1861200" cy="224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5"/>
          <p:cNvPicPr preferRelativeResize="0"/>
          <p:nvPr/>
        </p:nvPicPr>
        <p:blipFill rotWithShape="1">
          <a:blip r:embed="rId3">
            <a:alphaModFix/>
          </a:blip>
          <a:srcRect b="0" l="65008" r="0" t="55169"/>
          <a:stretch/>
        </p:blipFill>
        <p:spPr>
          <a:xfrm>
            <a:off x="6522628" y="2224201"/>
            <a:ext cx="1949224" cy="230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5"/>
          <p:cNvPicPr preferRelativeResize="0"/>
          <p:nvPr/>
        </p:nvPicPr>
        <p:blipFill rotWithShape="1">
          <a:blip r:embed="rId3">
            <a:alphaModFix/>
          </a:blip>
          <a:srcRect b="57735" l="59926" r="0" t="0"/>
          <a:stretch/>
        </p:blipFill>
        <p:spPr>
          <a:xfrm>
            <a:off x="2103700" y="2448250"/>
            <a:ext cx="2232276" cy="217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5"/>
          <p:cNvPicPr preferRelativeResize="0"/>
          <p:nvPr/>
        </p:nvPicPr>
        <p:blipFill rotWithShape="1">
          <a:blip r:embed="rId3">
            <a:alphaModFix/>
          </a:blip>
          <a:srcRect b="0" l="0" r="65008" t="53180"/>
          <a:stretch/>
        </p:blipFill>
        <p:spPr>
          <a:xfrm>
            <a:off x="4277250" y="2331088"/>
            <a:ext cx="1949224" cy="240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9963" y="0"/>
            <a:ext cx="6264081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9963" y="0"/>
            <a:ext cx="6264081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9950" y="59400"/>
            <a:ext cx="6264081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9963" y="57375"/>
            <a:ext cx="6264081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199" cy="46827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9963" y="152400"/>
            <a:ext cx="6264081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9963" y="152400"/>
            <a:ext cx="6264081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9963" y="152400"/>
            <a:ext cx="6264081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9963" y="152400"/>
            <a:ext cx="6264081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9963" y="152400"/>
            <a:ext cx="6264081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9963" y="152400"/>
            <a:ext cx="6264081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9963" y="152400"/>
            <a:ext cx="6264081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9963" y="152400"/>
            <a:ext cx="6264081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9963" y="152400"/>
            <a:ext cx="6264081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9963" y="152400"/>
            <a:ext cx="6264081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9963" y="152400"/>
            <a:ext cx="6264081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9963" y="152400"/>
            <a:ext cx="6264081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9963" y="152400"/>
            <a:ext cx="6264081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9963" y="152400"/>
            <a:ext cx="6264081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9963" y="152400"/>
            <a:ext cx="6264081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9963" y="152400"/>
            <a:ext cx="6264081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9963" y="152400"/>
            <a:ext cx="6264081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9963" y="152400"/>
            <a:ext cx="6264081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9963" y="152400"/>
            <a:ext cx="6264081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9963" y="152400"/>
            <a:ext cx="6264081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9963" y="152400"/>
            <a:ext cx="6264081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2"/>
          <p:cNvSpPr txBox="1"/>
          <p:nvPr/>
        </p:nvSpPr>
        <p:spPr>
          <a:xfrm>
            <a:off x="0" y="0"/>
            <a:ext cx="9144000" cy="5264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import heapq</a:t>
            </a:r>
            <a:endParaRPr b="0" i="0" sz="11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def prim(graph):</a:t>
            </a:r>
            <a:endParaRPr b="0" i="0" sz="11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# Select any starting vertex. For simplicity, we choose the first vertex in the graph.</a:t>
            </a:r>
            <a:endParaRPr b="0" i="0" sz="11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start_vertex = list(graph.keys())[0]</a:t>
            </a:r>
            <a:endParaRPr b="0" i="0" sz="11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</a:t>
            </a:r>
            <a:endParaRPr b="0" i="0" sz="11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# Keep track of visited vertices and the edges in the MST.</a:t>
            </a:r>
            <a:endParaRPr b="0" i="0" sz="11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num_vertices = len(graph)</a:t>
            </a:r>
            <a:endParaRPr b="0" i="0" sz="11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visited = [False] * num_vertices</a:t>
            </a:r>
            <a:endParaRPr b="0" i="0" sz="11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mst_edges = []</a:t>
            </a:r>
            <a:endParaRPr b="0" i="0" sz="11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</a:t>
            </a:r>
            <a:endParaRPr b="0" i="0" sz="11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# Initialize the priority queue with edges from the starting vertex.</a:t>
            </a:r>
            <a:endParaRPr b="0" i="0" sz="11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priority_queue = [(weight, start_vertex, neighbor) for neighbor, weight in graph[start_vertex].items()]</a:t>
            </a:r>
            <a:endParaRPr b="0" i="0" sz="11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heapq.heapify(priority_queue)</a:t>
            </a:r>
            <a:endParaRPr b="0" i="0" sz="11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</a:t>
            </a:r>
            <a:endParaRPr b="0" i="0" sz="11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visited[start_vertex] = True</a:t>
            </a:r>
            <a:endParaRPr b="0" i="0" sz="11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</a:t>
            </a:r>
            <a:endParaRPr b="0" i="0" sz="11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while priority_queue:</a:t>
            </a:r>
            <a:endParaRPr b="0" i="0" sz="11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    weight, vertex_from, vertex_to = heapq.heappop(priority_queue)</a:t>
            </a:r>
            <a:endParaRPr b="0" i="0" sz="11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    </a:t>
            </a:r>
            <a:endParaRPr b="0" i="0" sz="11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    if not visited[vertex_to]:</a:t>
            </a:r>
            <a:endParaRPr b="0" i="0" sz="11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        visited[vertex_to] = True</a:t>
            </a:r>
            <a:endParaRPr b="0" i="0" sz="11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        mst_edges.append((vertex_from, vertex_to, weight))</a:t>
            </a:r>
            <a:endParaRPr b="0" i="0" sz="11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        </a:t>
            </a:r>
            <a:endParaRPr b="0" i="0" sz="11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        for neighbor, neighbor_weight in graph[vertex_to].items():</a:t>
            </a:r>
            <a:endParaRPr b="0" i="0" sz="11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            if not visited[neighbor]:</a:t>
            </a:r>
            <a:endParaRPr b="0" i="0" sz="11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                heapq.heappush(priority_queue, (neighbor_weight, vertex_to, neighbor))</a:t>
            </a:r>
            <a:endParaRPr b="0" i="0" sz="11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</a:t>
            </a:r>
            <a:endParaRPr b="0" i="0" sz="11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return mst_edges</a:t>
            </a:r>
            <a:endParaRPr b="0" i="0" sz="11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3"/>
          <p:cNvSpPr txBox="1"/>
          <p:nvPr/>
        </p:nvSpPr>
        <p:spPr>
          <a:xfrm>
            <a:off x="118800" y="665200"/>
            <a:ext cx="6843300" cy="2555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graph = {</a:t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'A': {'B': 1, 'C': 4},</a:t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'B': {'A': 1, 'C': 2, 'D': 5},</a:t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'C': {'A': 4, 'B': 2, 'D': 1},</a:t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'D': {'B': 5, 'C': 1}</a:t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mst = prim(graph)</a:t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print(mst)</a:t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# Output: [('A', 'B', 1), ('B', 'C', 2), ('C', 'D', 1)]</a:t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5" name="Google Shape;235;p33"/>
          <p:cNvSpPr txBox="1"/>
          <p:nvPr/>
        </p:nvSpPr>
        <p:spPr>
          <a:xfrm>
            <a:off x="118800" y="2650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 usage of Prim's algorithm: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